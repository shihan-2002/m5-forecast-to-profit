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66" r:id="rId2"/>
    <p:sldId id="267" r:id="rId3"/>
    <p:sldId id="257" r:id="rId4"/>
    <p:sldId id="258" r:id="rId5"/>
    <p:sldId id="259" r:id="rId6"/>
    <p:sldId id="260" r:id="rId7"/>
    <p:sldId id="261" r:id="rId8"/>
    <p:sldId id="262" r:id="rId9"/>
    <p:sldId id="263" r:id="rId10"/>
    <p:sldId id="264"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EAF7F357-9FC7-484A-C2C6-1003B8A4F384}">
          <p14:sldIdLst>
            <p14:sldId id="266"/>
            <p14:sldId id="267"/>
            <p14:sldId id="257"/>
          </p14:sldIdLst>
        </p14:section>
        <p14:section name="Models and results" id="{875B4557-6ECD-EE48-5C63-F9B78F9726DF}">
          <p14:sldIdLst>
            <p14:sldId id="258"/>
            <p14:sldId id="259"/>
            <p14:sldId id="260"/>
          </p14:sldIdLst>
        </p14:section>
        <p14:section name="LLM experiment" id="{D17969DE-74FC-AC83-11A5-5301CF009A46}">
          <p14:sldIdLst>
            <p14:sldId id="261"/>
            <p14:sldId id="262"/>
          </p14:sldIdLst>
        </p14:section>
        <p14:section name="Answer and demo" id="{A425C7D5-A933-40DD-0BBA-B9C262C1FCB1}">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0"/>
    <p:restoredTop sz="94610"/>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328"/>
                </a:solidFill>
                <a:latin typeface="+mn-lt"/>
              </a:defRPr>
            </a:pPr>
            <a:r>
              <a:rPr lang="en-US" sz="1400" b="0" i="0" u="none" strike="noStrike">
                <a:solidFill>
                  <a:srgbClr val="1F2328"/>
                </a:solidFill>
                <a:latin typeface="+mn-lt"/>
              </a:rPr>
              <a:t>Weekly food units sold, 4 California stores</a:t>
            </a:r>
          </a:p>
        </c:rich>
      </c:tx>
      <c:overlay val="0"/>
    </c:title>
    <c:autoTitleDeleted val="0"/>
    <c:plotArea>
      <c:layout/>
      <c:lineChart>
        <c:grouping val="standard"/>
        <c:varyColors val="0"/>
        <c:ser>
          <c:idx val="0"/>
          <c:order val="0"/>
          <c:tx>
            <c:strRef>
              <c:f>Sheet1!$B$1</c:f>
              <c:strCache>
                <c:ptCount val="1"/>
                <c:pt idx="0">
                  <c:v>Weekly units</c:v>
                </c:pt>
              </c:strCache>
            </c:strRef>
          </c:tx>
          <c:spPr>
            <a:ln w="19050" cap="flat">
              <a:solidFill>
                <a:srgbClr val="1B2A41"/>
              </a:solidFill>
              <a:prstDash val="solid"/>
              <a:round/>
            </a:ln>
            <a:effectLst/>
          </c:spPr>
          <c:marker>
            <c:symbol val="none"/>
          </c:marker>
          <c:cat>
            <c:strRef>
              <c:f>Sheet1!$A$2:$A$282</c:f>
              <c:strCache>
                <c:ptCount val="281"/>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strCache>
            </c: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extLst>
            <c:ext xmlns:c16="http://schemas.microsoft.com/office/drawing/2014/chart" uri="{C3380CC4-5D6E-409C-BE32-E72D297353CC}">
              <c16:uniqueId val="{00000000-CC70-CB4D-8261-2381B2D1038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lblOffset val="100"/>
        <c:tickLblSkip val="52"/>
        <c:noMultiLvlLbl val="1"/>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328"/>
                </a:solidFill>
                <a:latin typeface="+mn-lt"/>
              </a:defRPr>
            </a:pPr>
            <a:r>
              <a:rPr lang="en-US" sz="1400" b="0" i="0" u="none" strike="noStrike">
                <a:solidFill>
                  <a:srgbClr val="1F2328"/>
                </a:solidFill>
                <a:latin typeface="+mn-lt"/>
              </a:rPr>
              <a:t>Total daily units, all 4 stores, during the 28-day test window</a:t>
            </a:r>
          </a:p>
        </c:rich>
      </c:tx>
      <c:overlay val="0"/>
    </c:title>
    <c:autoTitleDeleted val="0"/>
    <c:plotArea>
      <c:layout/>
      <c:lineChart>
        <c:grouping val="standard"/>
        <c:varyColors val="0"/>
        <c:ser>
          <c:idx val="0"/>
          <c:order val="0"/>
          <c:tx>
            <c:strRef>
              <c:f>Sheet1!$B$1</c:f>
              <c:strCache>
                <c:ptCount val="1"/>
                <c:pt idx="0">
                  <c:v>Actual sales</c:v>
                </c:pt>
              </c:strCache>
            </c:strRef>
          </c:tx>
          <c:spPr>
            <a:ln w="28575" cap="flat">
              <a:solidFill>
                <a:srgbClr val="1F2328"/>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extLst>
            <c:ext xmlns:c16="http://schemas.microsoft.com/office/drawing/2014/chart" uri="{C3380CC4-5D6E-409C-BE32-E72D297353CC}">
              <c16:uniqueId val="{00000000-FF7A-8447-84D7-B2F6B19C22DC}"/>
            </c:ext>
          </c:extLst>
        </c:ser>
        <c:ser>
          <c:idx val="1"/>
          <c:order val="1"/>
          <c:tx>
            <c:strRef>
              <c:f>Sheet1!$C$1</c:f>
              <c:strCache>
                <c:ptCount val="1"/>
                <c:pt idx="0">
                  <c:v>Ensemble (traditional)</c:v>
                </c:pt>
              </c:strCache>
            </c:strRef>
          </c:tx>
          <c:spPr>
            <a:ln w="28575" cap="flat">
              <a:solidFill>
                <a:srgbClr val="0F5C73"/>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extLst>
            <c:ext xmlns:c16="http://schemas.microsoft.com/office/drawing/2014/chart" uri="{C3380CC4-5D6E-409C-BE32-E72D297353CC}">
              <c16:uniqueId val="{00000001-FF7A-8447-84D7-B2F6B19C22DC}"/>
            </c:ext>
          </c:extLst>
        </c:ser>
        <c:ser>
          <c:idx val="2"/>
          <c:order val="2"/>
          <c:tx>
            <c:strRef>
              <c:f>Sheet1!$D$1</c:f>
              <c:strCache>
                <c:ptCount val="1"/>
                <c:pt idx="0">
                  <c:v>AutoARIMA (traditional)</c:v>
                </c:pt>
              </c:strCache>
            </c:strRef>
          </c:tx>
          <c:spPr>
            <a:ln w="28575" cap="flat">
              <a:solidFill>
                <a:srgbClr val="1BAF7A"/>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extLst>
            <c:ext xmlns:c16="http://schemas.microsoft.com/office/drawing/2014/chart" uri="{C3380CC4-5D6E-409C-BE32-E72D297353CC}">
              <c16:uniqueId val="{00000002-FF7A-8447-84D7-B2F6B19C22DC}"/>
            </c:ext>
          </c:extLst>
        </c:ser>
        <c:ser>
          <c:idx val="3"/>
          <c:order val="3"/>
          <c:tx>
            <c:strRef>
              <c:f>Sheet1!$E$1</c:f>
              <c:strCache>
                <c:ptCount val="1"/>
                <c:pt idx="0">
                  <c:v>Chronos (AI)</c:v>
                </c:pt>
              </c:strCache>
            </c:strRef>
          </c:tx>
          <c:spPr>
            <a:ln w="28575" cap="flat">
              <a:solidFill>
                <a:srgbClr val="EB6834"/>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extLst>
            <c:ext xmlns:c16="http://schemas.microsoft.com/office/drawing/2014/chart" uri="{C3380CC4-5D6E-409C-BE32-E72D297353CC}">
              <c16:uniqueId val="{00000003-FF7A-8447-84D7-B2F6B19C22D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lblOffset val="100"/>
        <c:tickLblSkip val="7"/>
        <c:noMultiLvlLbl val="1"/>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328"/>
                </a:solidFill>
                <a:latin typeface="+mn-lt"/>
              </a:defRPr>
            </a:pPr>
            <a:r>
              <a:rPr lang="en-US" sz="1400" b="0" i="0" u="none" strike="noStrike">
                <a:solidFill>
                  <a:srgbClr val="1F2328"/>
                </a:solidFill>
                <a:latin typeface="+mn-lt"/>
              </a:rPr>
              <a:t>12 store × dept totals, WRMSSE (pale = summed item forecasts)</a:t>
            </a:r>
          </a:p>
        </c:rich>
      </c:tx>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Sheet1!$B$2:$B$12</c:f>
              <c:numCache>
                <c:formatCode>General</c:formatCode>
                <c:ptCount val="11"/>
                <c:pt idx="0">
                  <c:v>0.57899999999999996</c:v>
                </c:pt>
                <c:pt idx="1">
                  <c:v>0</c:v>
                </c:pt>
                <c:pt idx="2">
                  <c:v>0</c:v>
                </c:pt>
                <c:pt idx="3">
                  <c:v>0</c:v>
                </c:pt>
                <c:pt idx="4">
                  <c:v>0</c:v>
                </c:pt>
                <c:pt idx="5">
                  <c:v>0</c:v>
                </c:pt>
                <c:pt idx="6">
                  <c:v>0</c:v>
                </c:pt>
                <c:pt idx="7">
                  <c:v>0</c:v>
                </c:pt>
                <c:pt idx="8">
                  <c:v>0</c:v>
                </c:pt>
                <c:pt idx="9">
                  <c:v>0</c:v>
                </c:pt>
                <c:pt idx="10">
                  <c:v>0</c:v>
                </c:pt>
              </c:numCache>
            </c:numRef>
          </c:val>
          <c:extLst>
            <c:ext xmlns:c16="http://schemas.microsoft.com/office/drawing/2014/chart" uri="{C3380CC4-5D6E-409C-BE32-E72D297353CC}">
              <c16:uniqueId val="{00000000-A801-2644-95A8-3D06618D1A0E}"/>
            </c:ext>
          </c:extLst>
        </c:ser>
        <c:ser>
          <c:idx val="1"/>
          <c:order val="1"/>
          <c:tx>
            <c:strRef>
              <c:f>Sheet1!$C$1</c:f>
              <c:strCache>
                <c:ptCount val="1"/>
                <c:pt idx="0">
                  <c:v>4A3AA7</c:v>
                </c:pt>
              </c:strCache>
            </c:strRef>
          </c:tx>
          <c:spPr>
            <a:solidFill>
              <a:srgbClr val="4A3AA7"/>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Sheet1!$C$2:$C$12</c:f>
              <c:numCache>
                <c:formatCode>General</c:formatCode>
                <c:ptCount val="11"/>
                <c:pt idx="0">
                  <c:v>0</c:v>
                </c:pt>
                <c:pt idx="1">
                  <c:v>0.57899999999999996</c:v>
                </c:pt>
                <c:pt idx="2">
                  <c:v>0.58299999999999996</c:v>
                </c:pt>
                <c:pt idx="3">
                  <c:v>0</c:v>
                </c:pt>
                <c:pt idx="4">
                  <c:v>0</c:v>
                </c:pt>
                <c:pt idx="5">
                  <c:v>0</c:v>
                </c:pt>
                <c:pt idx="6">
                  <c:v>0</c:v>
                </c:pt>
                <c:pt idx="7">
                  <c:v>0</c:v>
                </c:pt>
                <c:pt idx="8">
                  <c:v>0</c:v>
                </c:pt>
                <c:pt idx="9">
                  <c:v>0</c:v>
                </c:pt>
                <c:pt idx="10">
                  <c:v>0</c:v>
                </c:pt>
              </c:numCache>
            </c:numRef>
          </c:val>
          <c:extLst>
            <c:ext xmlns:c16="http://schemas.microsoft.com/office/drawing/2014/chart" uri="{C3380CC4-5D6E-409C-BE32-E72D297353CC}">
              <c16:uniqueId val="{00000001-A801-2644-95A8-3D06618D1A0E}"/>
            </c:ext>
          </c:extLst>
        </c:ser>
        <c:ser>
          <c:idx val="2"/>
          <c:order val="2"/>
          <c:tx>
            <c:strRef>
              <c:f>Sheet1!$D$1</c:f>
              <c:strCache>
                <c:ptCount val="1"/>
                <c:pt idx="0">
                  <c:v>D55181</c:v>
                </c:pt>
              </c:strCache>
            </c:strRef>
          </c:tx>
          <c:spPr>
            <a:solidFill>
              <a:srgbClr val="D55181"/>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extLst>
            <c:ext xmlns:c16="http://schemas.microsoft.com/office/drawing/2014/chart" uri="{C3380CC4-5D6E-409C-BE32-E72D297353CC}">
              <c16:uniqueId val="{00000002-A801-2644-95A8-3D06618D1A0E}"/>
            </c:ext>
          </c:extLst>
        </c:ser>
        <c:ser>
          <c:idx val="3"/>
          <c:order val="3"/>
          <c:tx>
            <c:strRef>
              <c:f>Sheet1!$E$1</c:f>
              <c:strCache>
                <c:ptCount val="1"/>
                <c:pt idx="0">
                  <c:v>AFCDF2</c:v>
                </c:pt>
              </c:strCache>
            </c:strRef>
          </c:tx>
          <c:spPr>
            <a:solidFill>
              <a:srgbClr val="AFCDF2"/>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extLst>
            <c:ext xmlns:c16="http://schemas.microsoft.com/office/drawing/2014/chart" uri="{C3380CC4-5D6E-409C-BE32-E72D297353CC}">
              <c16:uniqueId val="{00000003-A801-2644-95A8-3D06618D1A0E}"/>
            </c:ext>
          </c:extLst>
        </c:ser>
        <c:ser>
          <c:idx val="4"/>
          <c:order val="4"/>
          <c:tx>
            <c:strRef>
              <c:f>Sheet1!$F$1</c:f>
              <c:strCache>
                <c:ptCount val="1"/>
                <c:pt idx="0">
                  <c:v>EDB9CC</c:v>
                </c:pt>
              </c:strCache>
            </c:strRef>
          </c:tx>
          <c:spPr>
            <a:solidFill>
              <a:srgbClr val="EDB9CC"/>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Sheet1!$F$2:$F$12</c:f>
              <c:numCache>
                <c:formatCode>General</c:formatCode>
                <c:ptCount val="11"/>
                <c:pt idx="0">
                  <c:v>0</c:v>
                </c:pt>
                <c:pt idx="1">
                  <c:v>0</c:v>
                </c:pt>
                <c:pt idx="2">
                  <c:v>0</c:v>
                </c:pt>
                <c:pt idx="3">
                  <c:v>0</c:v>
                </c:pt>
                <c:pt idx="4">
                  <c:v>0</c:v>
                </c:pt>
                <c:pt idx="5">
                  <c:v>0.63700000000000001</c:v>
                </c:pt>
                <c:pt idx="6">
                  <c:v>0</c:v>
                </c:pt>
                <c:pt idx="7">
                  <c:v>0</c:v>
                </c:pt>
                <c:pt idx="8">
                  <c:v>0</c:v>
                </c:pt>
                <c:pt idx="9">
                  <c:v>0</c:v>
                </c:pt>
                <c:pt idx="10">
                  <c:v>0</c:v>
                </c:pt>
              </c:numCache>
            </c:numRef>
          </c:val>
          <c:extLst>
            <c:ext xmlns:c16="http://schemas.microsoft.com/office/drawing/2014/chart" uri="{C3380CC4-5D6E-409C-BE32-E72D297353CC}">
              <c16:uniqueId val="{00000004-A801-2644-95A8-3D06618D1A0E}"/>
            </c:ext>
          </c:extLst>
        </c:ser>
        <c:ser>
          <c:idx val="5"/>
          <c:order val="5"/>
          <c:tx>
            <c:strRef>
              <c:f>Sheet1!$G$1</c:f>
              <c:strCache>
                <c:ptCount val="1"/>
                <c:pt idx="0">
                  <c:v>EB6834</c:v>
                </c:pt>
              </c:strCache>
            </c:strRef>
          </c:tx>
          <c:spPr>
            <a:solidFill>
              <a:srgbClr val="EB6834"/>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Sheet1!$G$2:$G$12</c:f>
              <c:numCache>
                <c:formatCode>General</c:formatCode>
                <c:ptCount val="11"/>
                <c:pt idx="0">
                  <c:v>0</c:v>
                </c:pt>
                <c:pt idx="1">
                  <c:v>0</c:v>
                </c:pt>
                <c:pt idx="2">
                  <c:v>0</c:v>
                </c:pt>
                <c:pt idx="3">
                  <c:v>0</c:v>
                </c:pt>
                <c:pt idx="4">
                  <c:v>0</c:v>
                </c:pt>
                <c:pt idx="5">
                  <c:v>0</c:v>
                </c:pt>
                <c:pt idx="6">
                  <c:v>0.63700000000000001</c:v>
                </c:pt>
                <c:pt idx="7">
                  <c:v>0</c:v>
                </c:pt>
                <c:pt idx="8">
                  <c:v>0</c:v>
                </c:pt>
                <c:pt idx="9">
                  <c:v>0</c:v>
                </c:pt>
                <c:pt idx="10">
                  <c:v>0</c:v>
                </c:pt>
              </c:numCache>
            </c:numRef>
          </c:val>
          <c:extLst>
            <c:ext xmlns:c16="http://schemas.microsoft.com/office/drawing/2014/chart" uri="{C3380CC4-5D6E-409C-BE32-E72D297353CC}">
              <c16:uniqueId val="{00000005-A801-2644-95A8-3D06618D1A0E}"/>
            </c:ext>
          </c:extLst>
        </c:ser>
        <c:ser>
          <c:idx val="6"/>
          <c:order val="6"/>
          <c:tx>
            <c:strRef>
              <c:f>Sheet1!$H$1</c:f>
              <c:strCache>
                <c:ptCount val="1"/>
                <c:pt idx="0">
                  <c:v>1BAF7A</c:v>
                </c:pt>
              </c:strCache>
            </c:strRef>
          </c:tx>
          <c:spPr>
            <a:solidFill>
              <a:srgbClr val="1BAF7A"/>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Sheet1!$H$2:$H$12</c:f>
              <c:numCache>
                <c:formatCode>General</c:formatCode>
                <c:ptCount val="11"/>
                <c:pt idx="0">
                  <c:v>0</c:v>
                </c:pt>
                <c:pt idx="1">
                  <c:v>0</c:v>
                </c:pt>
                <c:pt idx="2">
                  <c:v>0</c:v>
                </c:pt>
                <c:pt idx="3">
                  <c:v>0</c:v>
                </c:pt>
                <c:pt idx="4">
                  <c:v>0</c:v>
                </c:pt>
                <c:pt idx="5">
                  <c:v>0</c:v>
                </c:pt>
                <c:pt idx="6">
                  <c:v>0</c:v>
                </c:pt>
                <c:pt idx="7">
                  <c:v>0.64400000000000002</c:v>
                </c:pt>
                <c:pt idx="8">
                  <c:v>0</c:v>
                </c:pt>
                <c:pt idx="9">
                  <c:v>0</c:v>
                </c:pt>
                <c:pt idx="10">
                  <c:v>0</c:v>
                </c:pt>
              </c:numCache>
            </c:numRef>
          </c:val>
          <c:extLst>
            <c:ext xmlns:c16="http://schemas.microsoft.com/office/drawing/2014/chart" uri="{C3380CC4-5D6E-409C-BE32-E72D297353CC}">
              <c16:uniqueId val="{00000006-A801-2644-95A8-3D06618D1A0E}"/>
            </c:ext>
          </c:extLst>
        </c:ser>
        <c:ser>
          <c:idx val="7"/>
          <c:order val="7"/>
          <c:tx>
            <c:strRef>
              <c:f>Sheet1!$I$1</c:f>
              <c:strCache>
                <c:ptCount val="1"/>
                <c:pt idx="0">
                  <c:v>9A9993</c:v>
                </c:pt>
              </c:strCache>
            </c:strRef>
          </c:tx>
          <c:spPr>
            <a:solidFill>
              <a:srgbClr val="9A9993"/>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Sheet1!$I$2:$I$12</c:f>
              <c:numCache>
                <c:formatCode>General</c:formatCode>
                <c:ptCount val="11"/>
                <c:pt idx="0">
                  <c:v>0</c:v>
                </c:pt>
                <c:pt idx="1">
                  <c:v>0</c:v>
                </c:pt>
                <c:pt idx="2">
                  <c:v>0</c:v>
                </c:pt>
                <c:pt idx="3">
                  <c:v>0</c:v>
                </c:pt>
                <c:pt idx="4">
                  <c:v>0</c:v>
                </c:pt>
                <c:pt idx="5">
                  <c:v>0</c:v>
                </c:pt>
                <c:pt idx="6">
                  <c:v>0</c:v>
                </c:pt>
                <c:pt idx="7">
                  <c:v>0</c:v>
                </c:pt>
                <c:pt idx="8">
                  <c:v>0.73899999999999999</c:v>
                </c:pt>
                <c:pt idx="9">
                  <c:v>0</c:v>
                </c:pt>
                <c:pt idx="10">
                  <c:v>0</c:v>
                </c:pt>
              </c:numCache>
            </c:numRef>
          </c:val>
          <c:extLst>
            <c:ext xmlns:c16="http://schemas.microsoft.com/office/drawing/2014/chart" uri="{C3380CC4-5D6E-409C-BE32-E72D297353CC}">
              <c16:uniqueId val="{00000007-A801-2644-95A8-3D06618D1A0E}"/>
            </c:ext>
          </c:extLst>
        </c:ser>
        <c:ser>
          <c:idx val="8"/>
          <c:order val="8"/>
          <c:tx>
            <c:strRef>
              <c:f>Sheet1!$J$1</c:f>
              <c:strCache>
                <c:ptCount val="1"/>
                <c:pt idx="0">
                  <c:v>A6DCC6</c:v>
                </c:pt>
              </c:strCache>
            </c:strRef>
          </c:tx>
          <c:spPr>
            <a:solidFill>
              <a:srgbClr val="A6DCC6"/>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extLst>
            <c:ext xmlns:c16="http://schemas.microsoft.com/office/drawing/2014/chart" uri="{C3380CC4-5D6E-409C-BE32-E72D297353CC}">
              <c16:uniqueId val="{00000008-A801-2644-95A8-3D06618D1A0E}"/>
            </c:ext>
          </c:extLst>
        </c:ser>
        <c:ser>
          <c:idx val="9"/>
          <c:order val="9"/>
          <c:tx>
            <c:strRef>
              <c:f>Sheet1!$K$1</c:f>
              <c:strCache>
                <c:ptCount val="1"/>
                <c:pt idx="0">
                  <c:v>F6BFA6</c:v>
                </c:pt>
              </c:strCache>
            </c:strRef>
          </c:tx>
          <c:spPr>
            <a:solidFill>
              <a:srgbClr val="F6BFA6"/>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0.96899999999999997</c:v>
                </c:pt>
              </c:numCache>
            </c:numRef>
          </c:val>
          <c:extLst>
            <c:ext xmlns:c16="http://schemas.microsoft.com/office/drawing/2014/chart" uri="{C3380CC4-5D6E-409C-BE32-E72D297353CC}">
              <c16:uniqueId val="{00000009-A801-2644-95A8-3D06618D1A0E}"/>
            </c:ext>
          </c:extLst>
        </c:ser>
        <c:dLbls>
          <c:showLegendKey val="0"/>
          <c:showVal val="0"/>
          <c:showCatName val="0"/>
          <c:showSerName val="0"/>
          <c:showPercent val="0"/>
          <c:showBubbleSize val="0"/>
        </c:dLbls>
        <c:gapWidth val="40"/>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0"/>
        <c:axPos val="t"/>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7616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SPEAKER 1 (title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SPEAKER 1 (0:45)</a:t>
            </a:r>
          </a:p>
          <a:p>
            <a:endParaRPr/>
          </a:p>
          <a:p>
            <a:r>
              <a:t>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a:t>
            </a:r>
          </a:p>
          <a:p>
            <a:endParaRPr/>
          </a:p>
          <a:p>
            <a:r>
              <a:t>TRANSITION: Here is our data and how we tested.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 is faster but offers no clear accuracy advantage. The green cells show the winner of each column.
POINT AT: the green cells, column by column.
TRANSITION: Let's see what those forecasts actually look like.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use a traditional ensemble. LightGBM, AutoETS and their simple average were the three most accurate. AI showed no clear accuracy advantage: Chronos was fast, ten seconds with no training, but less accurate than the benchmark, and Claude only matched the best traditional approach on store totals, on a small subset. And AI lacks interpretability: Chronos is a black box, and Claude's written reasoning can't be verified.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use the traditional ensemble, an average of a statistical model like AutoETS with LightGBM, and choose models on the metric that matches the business decision. Our next step is a rolling backtest over several windows.
Let me show you the business problem in our dashboard.
TRANSITION: click the screenshot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offers no clear accuracy advantage and lacks interpretability, and the right order depends on your costs. Thank you, and we're happy to take questions.
[Press Cmd+Tab to return to the slides for Q&amp;A.]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48640"/>
            <a:ext cx="1088136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640080" y="1691640"/>
            <a:ext cx="10881360" cy="54864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hyperlink" Target="https://jing0712.github.io/shelf-signal/#planner" TargetMode="External"/><Relationship Id="rId7"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528320" y="1417320"/>
            <a:ext cx="10881360" cy="1600200"/>
          </a:xfrm>
        </p:spPr>
        <p:txBody>
          <a:bodyPr/>
          <a:lstStyle/>
          <a:p>
            <a:r>
              <a:rPr sz="4800" dirty="0"/>
              <a:t>Can AI Foundation Models Beat Traditional Statistical Models?</a:t>
            </a:r>
          </a:p>
        </p:txBody>
      </p:sp>
      <p:sp>
        <p:nvSpPr>
          <p:cNvPr id="3" name="Text Placeholder 2"/>
          <p:cNvSpPr>
            <a:spLocks noGrp="1"/>
          </p:cNvSpPr>
          <p:nvPr>
            <p:ph type="body" idx="101"/>
          </p:nvPr>
        </p:nvSpPr>
        <p:spPr>
          <a:xfrm>
            <a:off x="640080" y="3154680"/>
            <a:ext cx="10881360" cy="548640"/>
          </a:xfrm>
        </p:spPr>
        <p:txBody>
          <a:bodyPr/>
          <a:lstStyle/>
          <a:p>
            <a:r>
              <a:rPr sz="2200" dirty="0"/>
              <a:t>Forecasting daily demand for Walmart food items</a:t>
            </a:r>
          </a:p>
        </p:txBody>
      </p:sp>
      <p:sp>
        <p:nvSpPr>
          <p:cNvPr id="4" name="TextBox 3"/>
          <p:cNvSpPr txBox="1"/>
          <p:nvPr/>
        </p:nvSpPr>
        <p:spPr>
          <a:xfrm>
            <a:off x="741680" y="4709160"/>
            <a:ext cx="10881360" cy="320040"/>
          </a:xfrm>
          <a:prstGeom prst="rect">
            <a:avLst/>
          </a:prstGeom>
          <a:noFill/>
        </p:spPr>
        <p:txBody>
          <a:bodyPr wrap="square" lIns="0" tIns="0" rIns="0" bIns="0" anchor="t">
            <a:spAutoFit/>
          </a:bodyPr>
          <a:lstStyle/>
          <a:p>
            <a:pPr algn="l"/>
            <a:r>
              <a:rPr sz="1300" b="1" dirty="0">
                <a:solidFill>
                  <a:srgbClr val="F2B33D"/>
                </a:solidFill>
                <a:latin typeface="Calibri"/>
              </a:rPr>
              <a:t>GROUP 3</a:t>
            </a:r>
          </a:p>
        </p:txBody>
      </p:sp>
      <p:sp>
        <p:nvSpPr>
          <p:cNvPr id="5" name="TextBox 4"/>
          <p:cNvSpPr txBox="1"/>
          <p:nvPr/>
        </p:nvSpPr>
        <p:spPr>
          <a:xfrm>
            <a:off x="741680" y="5029200"/>
            <a:ext cx="10881360" cy="411480"/>
          </a:xfrm>
          <a:prstGeom prst="rect">
            <a:avLst/>
          </a:prstGeom>
          <a:noFill/>
        </p:spPr>
        <p:txBody>
          <a:bodyPr wrap="square" lIns="0" tIns="0" rIns="0" bIns="0" anchor="t">
            <a:spAutoFit/>
          </a:bodyPr>
          <a:lstStyle/>
          <a:p>
            <a:pPr algn="l"/>
            <a:r>
              <a:rPr sz="2000" b="1" dirty="0">
                <a:solidFill>
                  <a:srgbClr val="FFFFFF"/>
                </a:solidFill>
                <a:latin typeface="Calibri"/>
              </a:rPr>
              <a:t>Charlotte Zhu  ·  Shihan Wang  ·  Jing Chang  ·  Rachel Liu</a:t>
            </a:r>
          </a:p>
        </p:txBody>
      </p:sp>
      <p:sp>
        <p:nvSpPr>
          <p:cNvPr id="6" name="TextBox 5"/>
          <p:cNvSpPr txBox="1"/>
          <p:nvPr/>
        </p:nvSpPr>
        <p:spPr>
          <a:xfrm>
            <a:off x="741680" y="5545276"/>
            <a:ext cx="10881360" cy="215444"/>
          </a:xfrm>
          <a:prstGeom prst="rect">
            <a:avLst/>
          </a:prstGeom>
          <a:noFill/>
        </p:spPr>
        <p:txBody>
          <a:bodyPr wrap="square" lIns="0" tIns="0" rIns="0" bIns="0" anchor="t">
            <a:spAutoFit/>
          </a:bodyPr>
          <a:lstStyle/>
          <a:p>
            <a:pPr algn="l"/>
            <a:r>
              <a:rPr sz="1400" b="0" dirty="0">
                <a:solidFill>
                  <a:srgbClr val="C9D3E3"/>
                </a:solidFill>
                <a:latin typeface="Calibri"/>
              </a:rPr>
              <a:t>Time Series Analysis and Forecasting  ·  Dr. William Yu   ·  October 22,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548640" y="320040"/>
            <a:ext cx="11064240" cy="1051560"/>
          </a:xfrm>
        </p:spPr>
        <p:txBody>
          <a:bodyPr/>
          <a:lstStyle/>
          <a:p>
            <a:r>
              <a:rPr sz="3200"/>
              <a:t>Retail forecasting has to balance accuracy, efficiency and business value</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2</a:t>
            </a:fld>
            <a:endParaRPr lang="en-US"/>
          </a:p>
        </p:txBody>
      </p:sp>
      <p:sp>
        <p:nvSpPr>
          <p:cNvPr id="26" name="Rounded Rectangle 25"/>
          <p:cNvSpPr/>
          <p:nvPr/>
        </p:nvSpPr>
        <p:spPr>
          <a:xfrm>
            <a:off x="548640" y="1600200"/>
            <a:ext cx="5440680" cy="1463040"/>
          </a:xfrm>
          <a:prstGeom prst="roundRect">
            <a:avLst>
              <a:gd name="adj" fmla="val 8000"/>
            </a:avLst>
          </a:prstGeom>
          <a:solidFill>
            <a:srgbClr val="EEF1F5"/>
          </a:solidFill>
          <a:ln>
            <a:noFill/>
          </a:ln>
          <a:effectLst/>
        </p:spPr>
        <p:txBody>
          <a:bodyPr rtlCol="0" anchor="ctr"/>
          <a:lstStyle/>
          <a:p>
            <a:pPr algn="ctr"/>
            <a:endParaRPr/>
          </a:p>
        </p:txBody>
      </p:sp>
      <p:sp>
        <p:nvSpPr>
          <p:cNvPr id="27" name="TextBox 26"/>
          <p:cNvSpPr txBox="1"/>
          <p:nvPr/>
        </p:nvSpPr>
        <p:spPr>
          <a:xfrm>
            <a:off x="822959" y="1755648"/>
            <a:ext cx="4937760" cy="274320"/>
          </a:xfrm>
          <a:prstGeom prst="rect">
            <a:avLst/>
          </a:prstGeom>
          <a:noFill/>
        </p:spPr>
        <p:txBody>
          <a:bodyPr wrap="square" lIns="0" tIns="0" rIns="0" bIns="0" anchor="t">
            <a:spAutoFit/>
          </a:bodyPr>
          <a:lstStyle/>
          <a:p>
            <a:pPr algn="l">
              <a:spcAft>
                <a:spcPts val="0"/>
              </a:spcAft>
            </a:pPr>
            <a:r>
              <a:rPr sz="1200" b="1">
                <a:solidFill>
                  <a:srgbClr val="2A78D6"/>
                </a:solidFill>
                <a:latin typeface="Calibri"/>
              </a:rPr>
              <a:t>TODAY'S DEFAULT</a:t>
            </a:r>
          </a:p>
        </p:txBody>
      </p:sp>
      <p:sp>
        <p:nvSpPr>
          <p:cNvPr id="28" name="TextBox 27"/>
          <p:cNvSpPr txBox="1"/>
          <p:nvPr/>
        </p:nvSpPr>
        <p:spPr>
          <a:xfrm>
            <a:off x="822959" y="2029968"/>
            <a:ext cx="4937760" cy="384048"/>
          </a:xfrm>
          <a:prstGeom prst="rect">
            <a:avLst/>
          </a:prstGeom>
          <a:noFill/>
        </p:spPr>
        <p:txBody>
          <a:bodyPr wrap="square" lIns="0" tIns="0" rIns="0" bIns="0" anchor="t">
            <a:spAutoFit/>
          </a:bodyPr>
          <a:lstStyle/>
          <a:p>
            <a:pPr algn="l">
              <a:spcAft>
                <a:spcPts val="0"/>
              </a:spcAft>
            </a:pPr>
            <a:r>
              <a:rPr sz="2100" b="1">
                <a:solidFill>
                  <a:srgbClr val="1B2A41"/>
                </a:solidFill>
                <a:latin typeface="Cambria"/>
              </a:rPr>
              <a:t>LightGBM</a:t>
            </a:r>
          </a:p>
        </p:txBody>
      </p:sp>
      <p:sp>
        <p:nvSpPr>
          <p:cNvPr id="29" name="TextBox 28"/>
          <p:cNvSpPr txBox="1"/>
          <p:nvPr/>
        </p:nvSpPr>
        <p:spPr>
          <a:xfrm>
            <a:off x="822959" y="2432304"/>
            <a:ext cx="4937760" cy="502920"/>
          </a:xfrm>
          <a:prstGeom prst="rect">
            <a:avLst/>
          </a:prstGeom>
          <a:noFill/>
        </p:spPr>
        <p:txBody>
          <a:bodyPr wrap="square" lIns="0" tIns="0" rIns="0" bIns="0" anchor="t">
            <a:spAutoFit/>
          </a:bodyPr>
          <a:lstStyle/>
          <a:p>
            <a:pPr algn="l">
              <a:spcAft>
                <a:spcPts val="0"/>
              </a:spcAft>
            </a:pPr>
            <a:r>
              <a:rPr sz="1500" b="0" dirty="0">
                <a:solidFill>
                  <a:srgbClr val="1F2328"/>
                </a:solidFill>
                <a:latin typeface="Calibri"/>
              </a:rPr>
              <a:t>Machine learning; dominates this kind of retail data and has become the industry default</a:t>
            </a:r>
          </a:p>
        </p:txBody>
      </p:sp>
      <p:sp>
        <p:nvSpPr>
          <p:cNvPr id="30" name="Rounded Rectangle 29"/>
          <p:cNvSpPr/>
          <p:nvPr/>
        </p:nvSpPr>
        <p:spPr>
          <a:xfrm>
            <a:off x="6172200" y="1600200"/>
            <a:ext cx="5440680" cy="1463040"/>
          </a:xfrm>
          <a:prstGeom prst="roundRect">
            <a:avLst>
              <a:gd name="adj" fmla="val 8000"/>
            </a:avLst>
          </a:prstGeom>
          <a:solidFill>
            <a:srgbClr val="EEF1F5"/>
          </a:solidFill>
          <a:ln>
            <a:noFill/>
          </a:ln>
          <a:effectLst/>
        </p:spPr>
        <p:txBody>
          <a:bodyPr rtlCol="0" anchor="ctr"/>
          <a:lstStyle/>
          <a:p>
            <a:pPr algn="ctr"/>
            <a:endParaRPr/>
          </a:p>
        </p:txBody>
      </p:sp>
      <p:sp>
        <p:nvSpPr>
          <p:cNvPr id="31" name="TextBox 30"/>
          <p:cNvSpPr txBox="1"/>
          <p:nvPr/>
        </p:nvSpPr>
        <p:spPr>
          <a:xfrm>
            <a:off x="6446520" y="1755648"/>
            <a:ext cx="4937760" cy="274320"/>
          </a:xfrm>
          <a:prstGeom prst="rect">
            <a:avLst/>
          </a:prstGeom>
          <a:noFill/>
        </p:spPr>
        <p:txBody>
          <a:bodyPr wrap="square" lIns="0" tIns="0" rIns="0" bIns="0" anchor="t">
            <a:spAutoFit/>
          </a:bodyPr>
          <a:lstStyle/>
          <a:p>
            <a:pPr algn="l">
              <a:spcAft>
                <a:spcPts val="0"/>
              </a:spcAft>
            </a:pPr>
            <a:r>
              <a:rPr sz="1200" b="1">
                <a:solidFill>
                  <a:srgbClr val="EB6834"/>
                </a:solidFill>
                <a:latin typeface="Calibri"/>
              </a:rPr>
              <a:t>THE CHALLENGER</a:t>
            </a:r>
          </a:p>
        </p:txBody>
      </p:sp>
      <p:sp>
        <p:nvSpPr>
          <p:cNvPr id="32" name="TextBox 31"/>
          <p:cNvSpPr txBox="1"/>
          <p:nvPr/>
        </p:nvSpPr>
        <p:spPr>
          <a:xfrm>
            <a:off x="6446520" y="2029968"/>
            <a:ext cx="4937760" cy="384048"/>
          </a:xfrm>
          <a:prstGeom prst="rect">
            <a:avLst/>
          </a:prstGeom>
          <a:noFill/>
        </p:spPr>
        <p:txBody>
          <a:bodyPr wrap="square" lIns="0" tIns="0" rIns="0" bIns="0" anchor="t">
            <a:spAutoFit/>
          </a:bodyPr>
          <a:lstStyle/>
          <a:p>
            <a:pPr algn="l">
              <a:spcAft>
                <a:spcPts val="0"/>
              </a:spcAft>
            </a:pPr>
            <a:r>
              <a:rPr sz="2100" b="1">
                <a:solidFill>
                  <a:srgbClr val="1B2A41"/>
                </a:solidFill>
                <a:latin typeface="Cambria"/>
              </a:rPr>
              <a:t>AI foundation models</a:t>
            </a:r>
          </a:p>
        </p:txBody>
      </p:sp>
      <p:sp>
        <p:nvSpPr>
          <p:cNvPr id="33" name="TextBox 32"/>
          <p:cNvSpPr txBox="1"/>
          <p:nvPr/>
        </p:nvSpPr>
        <p:spPr>
          <a:xfrm>
            <a:off x="6446520" y="2432304"/>
            <a:ext cx="4937760" cy="502920"/>
          </a:xfrm>
          <a:prstGeom prst="rect">
            <a:avLst/>
          </a:prstGeom>
          <a:noFill/>
        </p:spPr>
        <p:txBody>
          <a:bodyPr wrap="square" lIns="0" tIns="0" rIns="0" bIns="0" anchor="t">
            <a:spAutoFit/>
          </a:bodyPr>
          <a:lstStyle/>
          <a:p>
            <a:pPr algn="l">
              <a:spcAft>
                <a:spcPts val="0"/>
              </a:spcAft>
            </a:pPr>
            <a:r>
              <a:rPr sz="1500" b="0">
                <a:solidFill>
                  <a:srgbClr val="1F2328"/>
                </a:solidFill>
                <a:latin typeface="Calibri"/>
              </a:rPr>
              <a:t>Pre-trained on huge datasets; forecast a product they have never seen, with no training at all</a:t>
            </a:r>
          </a:p>
        </p:txBody>
      </p:sp>
      <p:sp>
        <p:nvSpPr>
          <p:cNvPr id="34" name="TextBox 33"/>
          <p:cNvSpPr txBox="1"/>
          <p:nvPr/>
        </p:nvSpPr>
        <p:spPr>
          <a:xfrm>
            <a:off x="548640" y="3246120"/>
            <a:ext cx="5486400" cy="274320"/>
          </a:xfrm>
          <a:prstGeom prst="rect">
            <a:avLst/>
          </a:prstGeom>
          <a:noFill/>
        </p:spPr>
        <p:txBody>
          <a:bodyPr wrap="square" lIns="0" tIns="0" rIns="0" bIns="0" anchor="t">
            <a:spAutoFit/>
          </a:bodyPr>
          <a:lstStyle/>
          <a:p>
            <a:pPr algn="l">
              <a:spcAft>
                <a:spcPts val="0"/>
              </a:spcAft>
            </a:pPr>
            <a:r>
              <a:rPr sz="1400" b="1">
                <a:solidFill>
                  <a:srgbClr val="5F6670"/>
                </a:solidFill>
                <a:latin typeface="Calibri"/>
              </a:rPr>
              <a:t>So we ask:</a:t>
            </a:r>
          </a:p>
        </p:txBody>
      </p:sp>
      <p:sp>
        <p:nvSpPr>
          <p:cNvPr id="35" name="Rounded Rectangle 34"/>
          <p:cNvSpPr/>
          <p:nvPr/>
        </p:nvSpPr>
        <p:spPr>
          <a:xfrm>
            <a:off x="548640" y="3547872"/>
            <a:ext cx="5440680" cy="1005840"/>
          </a:xfrm>
          <a:prstGeom prst="roundRect">
            <a:avLst>
              <a:gd name="adj" fmla="val 8000"/>
            </a:avLst>
          </a:prstGeom>
          <a:solidFill>
            <a:srgbClr val="1B2A41"/>
          </a:solidFill>
          <a:ln>
            <a:noFill/>
          </a:ln>
          <a:effectLst/>
        </p:spPr>
        <p:txBody>
          <a:bodyPr rtlCol="0" anchor="ctr"/>
          <a:lstStyle/>
          <a:p>
            <a:pPr algn="ctr"/>
            <a:endParaRPr/>
          </a:p>
        </p:txBody>
      </p:sp>
      <p:sp>
        <p:nvSpPr>
          <p:cNvPr id="36" name="TextBox 35"/>
          <p:cNvSpPr txBox="1"/>
          <p:nvPr/>
        </p:nvSpPr>
        <p:spPr>
          <a:xfrm>
            <a:off x="822959" y="3547872"/>
            <a:ext cx="548640" cy="1005840"/>
          </a:xfrm>
          <a:prstGeom prst="rect">
            <a:avLst/>
          </a:prstGeom>
          <a:noFill/>
        </p:spPr>
        <p:txBody>
          <a:bodyPr wrap="square" lIns="0" tIns="0" rIns="0" bIns="0" anchor="ctr">
            <a:spAutoFit/>
          </a:bodyPr>
          <a:lstStyle/>
          <a:p>
            <a:pPr algn="l">
              <a:spcAft>
                <a:spcPts val="0"/>
              </a:spcAft>
            </a:pPr>
            <a:r>
              <a:rPr sz="3400" b="1">
                <a:solidFill>
                  <a:srgbClr val="F2B33D"/>
                </a:solidFill>
                <a:latin typeface="Cambria"/>
              </a:rPr>
              <a:t>1</a:t>
            </a:r>
          </a:p>
        </p:txBody>
      </p:sp>
      <p:sp>
        <p:nvSpPr>
          <p:cNvPr id="37" name="TextBox 36"/>
          <p:cNvSpPr txBox="1"/>
          <p:nvPr/>
        </p:nvSpPr>
        <p:spPr>
          <a:xfrm>
            <a:off x="1463040" y="3547872"/>
            <a:ext cx="4343400" cy="1005840"/>
          </a:xfrm>
          <a:prstGeom prst="rect">
            <a:avLst/>
          </a:prstGeom>
          <a:noFill/>
        </p:spPr>
        <p:txBody>
          <a:bodyPr wrap="square" lIns="0" tIns="0" rIns="0" bIns="0" anchor="ctr">
            <a:spAutoFit/>
          </a:bodyPr>
          <a:lstStyle/>
          <a:p>
            <a:pPr algn="l">
              <a:spcAft>
                <a:spcPts val="0"/>
              </a:spcAft>
            </a:pPr>
            <a:r>
              <a:rPr sz="1800" b="0" dirty="0">
                <a:solidFill>
                  <a:srgbClr val="FFFFFF"/>
                </a:solidFill>
                <a:latin typeface="Calibri"/>
              </a:rPr>
              <a:t>Can pre-trained AI forecast as well as traditional methods, and faster?</a:t>
            </a:r>
          </a:p>
        </p:txBody>
      </p:sp>
      <p:sp>
        <p:nvSpPr>
          <p:cNvPr id="38" name="Rounded Rectangle 37"/>
          <p:cNvSpPr/>
          <p:nvPr/>
        </p:nvSpPr>
        <p:spPr>
          <a:xfrm>
            <a:off x="6172200" y="3547872"/>
            <a:ext cx="5440680" cy="1005840"/>
          </a:xfrm>
          <a:prstGeom prst="roundRect">
            <a:avLst>
              <a:gd name="adj" fmla="val 8000"/>
            </a:avLst>
          </a:prstGeom>
          <a:solidFill>
            <a:srgbClr val="1B2A41"/>
          </a:solidFill>
          <a:ln>
            <a:noFill/>
          </a:ln>
          <a:effectLst/>
        </p:spPr>
        <p:txBody>
          <a:bodyPr rtlCol="0" anchor="ctr"/>
          <a:lstStyle/>
          <a:p>
            <a:pPr algn="ctr"/>
            <a:endParaRPr/>
          </a:p>
        </p:txBody>
      </p:sp>
      <p:sp>
        <p:nvSpPr>
          <p:cNvPr id="39" name="TextBox 38"/>
          <p:cNvSpPr txBox="1"/>
          <p:nvPr/>
        </p:nvSpPr>
        <p:spPr>
          <a:xfrm>
            <a:off x="6446520" y="3547872"/>
            <a:ext cx="548640" cy="1005840"/>
          </a:xfrm>
          <a:prstGeom prst="rect">
            <a:avLst/>
          </a:prstGeom>
          <a:noFill/>
        </p:spPr>
        <p:txBody>
          <a:bodyPr wrap="square" lIns="0" tIns="0" rIns="0" bIns="0" anchor="ctr">
            <a:spAutoFit/>
          </a:bodyPr>
          <a:lstStyle/>
          <a:p>
            <a:pPr algn="l">
              <a:spcAft>
                <a:spcPts val="0"/>
              </a:spcAft>
            </a:pPr>
            <a:r>
              <a:rPr sz="3400" b="1">
                <a:solidFill>
                  <a:srgbClr val="F2B33D"/>
                </a:solidFill>
                <a:latin typeface="Cambria"/>
              </a:rPr>
              <a:t>2</a:t>
            </a:r>
          </a:p>
        </p:txBody>
      </p:sp>
      <p:sp>
        <p:nvSpPr>
          <p:cNvPr id="40" name="TextBox 39"/>
          <p:cNvSpPr txBox="1"/>
          <p:nvPr/>
        </p:nvSpPr>
        <p:spPr>
          <a:xfrm>
            <a:off x="7086600" y="3547872"/>
            <a:ext cx="4343400" cy="1005840"/>
          </a:xfrm>
          <a:prstGeom prst="rect">
            <a:avLst/>
          </a:prstGeom>
          <a:noFill/>
        </p:spPr>
        <p:txBody>
          <a:bodyPr wrap="square" lIns="0" tIns="0" rIns="0" bIns="0" anchor="ctr">
            <a:spAutoFit/>
          </a:bodyPr>
          <a:lstStyle/>
          <a:p>
            <a:pPr algn="l">
              <a:spcAft>
                <a:spcPts val="0"/>
              </a:spcAft>
            </a:pPr>
            <a:r>
              <a:rPr sz="1800" b="0">
                <a:solidFill>
                  <a:srgbClr val="FFFFFF"/>
                </a:solidFill>
                <a:latin typeface="Calibri"/>
              </a:rPr>
              <a:t>Does a better forecast mean a better replenishment decision?</a:t>
            </a:r>
          </a:p>
        </p:txBody>
      </p:sp>
      <p:sp>
        <p:nvSpPr>
          <p:cNvPr id="41" name="Oval 40"/>
          <p:cNvSpPr/>
          <p:nvPr/>
        </p:nvSpPr>
        <p:spPr>
          <a:xfrm>
            <a:off x="1143000" y="4846320"/>
            <a:ext cx="685800" cy="685800"/>
          </a:xfrm>
          <a:prstGeom prst="ellipse">
            <a:avLst/>
          </a:prstGeom>
          <a:solidFill>
            <a:srgbClr val="3A4D6B"/>
          </a:solidFill>
          <a:ln>
            <a:noFill/>
          </a:ln>
          <a:effectLst/>
        </p:spPr>
        <p:txBody>
          <a:bodyPr rtlCol="0" anchor="ctr"/>
          <a:lstStyle/>
          <a:p>
            <a:pPr algn="ctr"/>
            <a:endParaRPr/>
          </a:p>
        </p:txBody>
      </p:sp>
      <p:pic>
        <p:nvPicPr>
          <p:cNvPr id="42" name="Picture 41" descr="image.png"/>
          <p:cNvPicPr>
            <a:picLocks noChangeAspect="1"/>
          </p:cNvPicPr>
          <p:nvPr/>
        </p:nvPicPr>
        <p:blipFill>
          <a:blip r:embed="rId3"/>
          <a:stretch>
            <a:fillRect/>
          </a:stretch>
        </p:blipFill>
        <p:spPr>
          <a:xfrm>
            <a:off x="1303020" y="5006340"/>
            <a:ext cx="365760" cy="365760"/>
          </a:xfrm>
          <a:prstGeom prst="rect">
            <a:avLst/>
          </a:prstGeom>
        </p:spPr>
      </p:pic>
      <p:sp>
        <p:nvSpPr>
          <p:cNvPr id="43" name="TextBox 42"/>
          <p:cNvSpPr txBox="1"/>
          <p:nvPr/>
        </p:nvSpPr>
        <p:spPr>
          <a:xfrm>
            <a:off x="5715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Sales history</a:t>
            </a:r>
          </a:p>
        </p:txBody>
      </p:sp>
      <p:sp>
        <p:nvSpPr>
          <p:cNvPr id="44" name="TextBox 43"/>
          <p:cNvSpPr txBox="1"/>
          <p:nvPr/>
        </p:nvSpPr>
        <p:spPr>
          <a:xfrm>
            <a:off x="2308860" y="4846320"/>
            <a:ext cx="1097280" cy="685800"/>
          </a:xfrm>
          <a:prstGeom prst="rect">
            <a:avLst/>
          </a:prstGeom>
          <a:noFill/>
        </p:spPr>
        <p:txBody>
          <a:bodyPr wrap="square" lIns="0" tIns="0" rIns="0" bIns="0" anchor="ctr">
            <a:spAutoFit/>
          </a:bodyPr>
          <a:lstStyle/>
          <a:p>
            <a:pPr algn="ctr">
              <a:spcAft>
                <a:spcPts val="0"/>
              </a:spcAft>
            </a:pPr>
            <a:r>
              <a:rPr sz="2600" b="0">
                <a:solidFill>
                  <a:srgbClr val="9AA3AE"/>
                </a:solidFill>
                <a:latin typeface="Calibri"/>
              </a:rPr>
              <a:t>→</a:t>
            </a:r>
          </a:p>
        </p:txBody>
      </p:sp>
      <p:sp>
        <p:nvSpPr>
          <p:cNvPr id="45" name="Oval 44"/>
          <p:cNvSpPr/>
          <p:nvPr/>
        </p:nvSpPr>
        <p:spPr>
          <a:xfrm>
            <a:off x="3886200" y="4846320"/>
            <a:ext cx="685800" cy="685800"/>
          </a:xfrm>
          <a:prstGeom prst="ellipse">
            <a:avLst/>
          </a:prstGeom>
          <a:solidFill>
            <a:srgbClr val="2A78D6"/>
          </a:solidFill>
          <a:ln>
            <a:noFill/>
          </a:ln>
          <a:effectLst/>
        </p:spPr>
        <p:txBody>
          <a:bodyPr rtlCol="0" anchor="ctr"/>
          <a:lstStyle/>
          <a:p>
            <a:pPr algn="ctr"/>
            <a:endParaRPr/>
          </a:p>
        </p:txBody>
      </p:sp>
      <p:pic>
        <p:nvPicPr>
          <p:cNvPr id="46" name="Picture 45" descr="image.png"/>
          <p:cNvPicPr>
            <a:picLocks noChangeAspect="1"/>
          </p:cNvPicPr>
          <p:nvPr/>
        </p:nvPicPr>
        <p:blipFill>
          <a:blip r:embed="rId4"/>
          <a:stretch>
            <a:fillRect/>
          </a:stretch>
        </p:blipFill>
        <p:spPr>
          <a:xfrm>
            <a:off x="4046220" y="5006340"/>
            <a:ext cx="365760" cy="365760"/>
          </a:xfrm>
          <a:prstGeom prst="rect">
            <a:avLst/>
          </a:prstGeom>
        </p:spPr>
      </p:pic>
      <p:sp>
        <p:nvSpPr>
          <p:cNvPr id="47" name="TextBox 46"/>
          <p:cNvSpPr txBox="1"/>
          <p:nvPr/>
        </p:nvSpPr>
        <p:spPr>
          <a:xfrm>
            <a:off x="33147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Forecast</a:t>
            </a:r>
          </a:p>
        </p:txBody>
      </p:sp>
      <p:sp>
        <p:nvSpPr>
          <p:cNvPr id="48" name="TextBox 47"/>
          <p:cNvSpPr txBox="1"/>
          <p:nvPr/>
        </p:nvSpPr>
        <p:spPr>
          <a:xfrm>
            <a:off x="5052060" y="4846320"/>
            <a:ext cx="1097280" cy="685800"/>
          </a:xfrm>
          <a:prstGeom prst="rect">
            <a:avLst/>
          </a:prstGeom>
          <a:noFill/>
        </p:spPr>
        <p:txBody>
          <a:bodyPr wrap="square" lIns="0" tIns="0" rIns="0" bIns="0" anchor="ctr">
            <a:spAutoFit/>
          </a:bodyPr>
          <a:lstStyle/>
          <a:p>
            <a:pPr algn="ctr">
              <a:spcAft>
                <a:spcPts val="0"/>
              </a:spcAft>
            </a:pPr>
            <a:r>
              <a:rPr sz="2600" b="0">
                <a:solidFill>
                  <a:srgbClr val="9AA3AE"/>
                </a:solidFill>
                <a:latin typeface="Calibri"/>
              </a:rPr>
              <a:t>→</a:t>
            </a:r>
          </a:p>
        </p:txBody>
      </p:sp>
      <p:sp>
        <p:nvSpPr>
          <p:cNvPr id="49" name="Oval 48"/>
          <p:cNvSpPr/>
          <p:nvPr/>
        </p:nvSpPr>
        <p:spPr>
          <a:xfrm>
            <a:off x="6629400" y="4846320"/>
            <a:ext cx="685800" cy="685800"/>
          </a:xfrm>
          <a:prstGeom prst="ellipse">
            <a:avLst/>
          </a:prstGeom>
          <a:solidFill>
            <a:srgbClr val="F2B33D"/>
          </a:solidFill>
          <a:ln>
            <a:noFill/>
          </a:ln>
          <a:effectLst/>
        </p:spPr>
        <p:txBody>
          <a:bodyPr rtlCol="0" anchor="ctr"/>
          <a:lstStyle/>
          <a:p>
            <a:pPr algn="ctr"/>
            <a:endParaRPr/>
          </a:p>
        </p:txBody>
      </p:sp>
      <p:pic>
        <p:nvPicPr>
          <p:cNvPr id="50" name="Picture 49" descr="image.png"/>
          <p:cNvPicPr>
            <a:picLocks noChangeAspect="1"/>
          </p:cNvPicPr>
          <p:nvPr/>
        </p:nvPicPr>
        <p:blipFill>
          <a:blip r:embed="rId5"/>
          <a:stretch>
            <a:fillRect/>
          </a:stretch>
        </p:blipFill>
        <p:spPr>
          <a:xfrm>
            <a:off x="6789420" y="5006340"/>
            <a:ext cx="365760" cy="365760"/>
          </a:xfrm>
          <a:prstGeom prst="rect">
            <a:avLst/>
          </a:prstGeom>
        </p:spPr>
      </p:pic>
      <p:sp>
        <p:nvSpPr>
          <p:cNvPr id="51" name="TextBox 50"/>
          <p:cNvSpPr txBox="1"/>
          <p:nvPr/>
        </p:nvSpPr>
        <p:spPr>
          <a:xfrm>
            <a:off x="60579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Order</a:t>
            </a:r>
          </a:p>
        </p:txBody>
      </p:sp>
      <p:sp>
        <p:nvSpPr>
          <p:cNvPr id="52" name="TextBox 51"/>
          <p:cNvSpPr txBox="1"/>
          <p:nvPr/>
        </p:nvSpPr>
        <p:spPr>
          <a:xfrm>
            <a:off x="7795260" y="4846320"/>
            <a:ext cx="1097280" cy="685800"/>
          </a:xfrm>
          <a:prstGeom prst="rect">
            <a:avLst/>
          </a:prstGeom>
          <a:noFill/>
        </p:spPr>
        <p:txBody>
          <a:bodyPr wrap="square" lIns="0" tIns="0" rIns="0" bIns="0" anchor="ctr">
            <a:spAutoFit/>
          </a:bodyPr>
          <a:lstStyle/>
          <a:p>
            <a:pPr algn="ctr">
              <a:spcAft>
                <a:spcPts val="0"/>
              </a:spcAft>
            </a:pPr>
            <a:r>
              <a:rPr sz="2600" b="0">
                <a:solidFill>
                  <a:srgbClr val="9AA3AE"/>
                </a:solidFill>
                <a:latin typeface="Calibri"/>
              </a:rPr>
              <a:t>→</a:t>
            </a:r>
          </a:p>
        </p:txBody>
      </p:sp>
      <p:sp>
        <p:nvSpPr>
          <p:cNvPr id="53" name="Oval 52"/>
          <p:cNvSpPr/>
          <p:nvPr/>
        </p:nvSpPr>
        <p:spPr>
          <a:xfrm>
            <a:off x="9372600" y="4846320"/>
            <a:ext cx="685800" cy="685800"/>
          </a:xfrm>
          <a:prstGeom prst="ellipse">
            <a:avLst/>
          </a:prstGeom>
          <a:solidFill>
            <a:srgbClr val="3A4D6B"/>
          </a:solidFill>
          <a:ln>
            <a:noFill/>
          </a:ln>
          <a:effectLst/>
        </p:spPr>
        <p:txBody>
          <a:bodyPr rtlCol="0" anchor="ctr"/>
          <a:lstStyle/>
          <a:p>
            <a:pPr algn="ctr"/>
            <a:endParaRPr/>
          </a:p>
        </p:txBody>
      </p:sp>
      <p:pic>
        <p:nvPicPr>
          <p:cNvPr id="54" name="Picture 53" descr="image.png"/>
          <p:cNvPicPr>
            <a:picLocks noChangeAspect="1"/>
          </p:cNvPicPr>
          <p:nvPr/>
        </p:nvPicPr>
        <p:blipFill>
          <a:blip r:embed="rId6"/>
          <a:stretch>
            <a:fillRect/>
          </a:stretch>
        </p:blipFill>
        <p:spPr>
          <a:xfrm>
            <a:off x="9532620" y="5006340"/>
            <a:ext cx="365760" cy="365760"/>
          </a:xfrm>
          <a:prstGeom prst="rect">
            <a:avLst/>
          </a:prstGeom>
        </p:spPr>
      </p:pic>
      <p:sp>
        <p:nvSpPr>
          <p:cNvPr id="55" name="TextBox 54"/>
          <p:cNvSpPr txBox="1"/>
          <p:nvPr/>
        </p:nvSpPr>
        <p:spPr>
          <a:xfrm>
            <a:off x="88011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Shelf</a:t>
            </a:r>
          </a:p>
        </p:txBody>
      </p:sp>
      <p:sp>
        <p:nvSpPr>
          <p:cNvPr id="3" name="TextBox 2">
            <a:extLst>
              <a:ext uri="{FF2B5EF4-FFF2-40B4-BE49-F238E27FC236}">
                <a16:creationId xmlns:a16="http://schemas.microsoft.com/office/drawing/2014/main" id="{7A69E06E-AA80-C606-644B-6777B4FD2913}"/>
              </a:ext>
            </a:extLst>
          </p:cNvPr>
          <p:cNvSpPr txBox="1"/>
          <p:nvPr/>
        </p:nvSpPr>
        <p:spPr>
          <a:xfrm>
            <a:off x="3637280" y="6532880"/>
            <a:ext cx="184731" cy="369332"/>
          </a:xfrm>
          <a:prstGeom prst="rect">
            <a:avLst/>
          </a:prstGeom>
          <a:noFill/>
        </p:spPr>
        <p:txBody>
          <a:bodyPr wrap="none" rtlCol="0">
            <a:spAutoFit/>
          </a:bodyPr>
          <a:lstStyle/>
          <a:p>
            <a:endParaRPr lang="en-US" dirty="0"/>
          </a:p>
        </p:txBody>
      </p:sp>
      <p:sp>
        <p:nvSpPr>
          <p:cNvPr id="4" name="TextBox 3">
            <a:extLst>
              <a:ext uri="{FF2B5EF4-FFF2-40B4-BE49-F238E27FC236}">
                <a16:creationId xmlns:a16="http://schemas.microsoft.com/office/drawing/2014/main" id="{DEB12E90-EF90-2D70-C79C-8DDD69827C80}"/>
              </a:ext>
            </a:extLst>
          </p:cNvPr>
          <p:cNvSpPr txBox="1"/>
          <p:nvPr/>
        </p:nvSpPr>
        <p:spPr>
          <a:xfrm>
            <a:off x="3362960" y="6522720"/>
            <a:ext cx="184731" cy="369332"/>
          </a:xfrm>
          <a:prstGeom prst="rect">
            <a:avLst/>
          </a:prstGeom>
          <a:noFill/>
        </p:spPr>
        <p:txBody>
          <a:bodyPr wrap="none" rtlCol="0">
            <a:spAutoFit/>
          </a:bodyPr>
          <a:lstStyle/>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txBody>
          <a:bodyPr/>
          <a:lstStyle/>
          <a:p>
            <a:endParaRPr lang="en-US"/>
          </a:p>
        </p:txBody>
      </p:sp>
      <p:sp>
        <p:nvSpPr>
          <p:cNvPr id="4" name="Text 2"/>
          <p:cNvSpPr txBox="1"/>
          <p:nvPr/>
        </p:nvSpPr>
        <p:spPr>
          <a:xfrm>
            <a:off x="777240" y="1325880"/>
            <a:ext cx="8961120" cy="685800"/>
          </a:xfrm>
          <a:prstGeom prst="rect">
            <a:avLst/>
          </a:prstGeom>
          <a:noFill/>
          <a:ln/>
        </p:spPr>
        <p:txBody>
          <a:bodyPr wrap="square" lIns="0" tIns="0" rIns="0" bIns="0" rtlCol="0" anchor="ctr"/>
          <a:lstStyle/>
          <a:p>
            <a:pPr marL="0" indent="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txBody>
          <a:bodyPr/>
          <a:lstStyle/>
          <a:p>
            <a:endParaRPr lang="en-US"/>
          </a:p>
        </p:txBody>
      </p:sp>
      <p:sp>
        <p:nvSpPr>
          <p:cNvPr id="6" name="Text 4"/>
          <p:cNvSpPr txBox="1"/>
          <p:nvPr/>
        </p:nvSpPr>
        <p:spPr>
          <a:xfrm>
            <a:off x="9966960" y="1325880"/>
            <a:ext cx="1645920" cy="685800"/>
          </a:xfrm>
          <a:prstGeom prst="rect">
            <a:avLst/>
          </a:prstGeom>
          <a:noFill/>
          <a:ln/>
        </p:spPr>
        <p:txBody>
          <a:bodyPr wrap="square" lIns="0" tIns="0" rIns="0" bIns="0" rtlCol="0" anchor="ctr"/>
          <a:lstStyle/>
          <a:p>
            <a:pPr marL="0" indent="0" algn="ctr">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marL="0" indent="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p:cNvGraphicFramePr/>
          <p:nvPr/>
        </p:nvGraphicFramePr>
        <p:xfrm>
          <a:off x="548640" y="2606040"/>
          <a:ext cx="676656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txBody>
          <a:bodyPr/>
          <a:lstStyle/>
          <a:p>
            <a:endParaRPr lang="en-US"/>
          </a:p>
        </p:txBody>
      </p:sp>
      <p:sp>
        <p:nvSpPr>
          <p:cNvPr id="10" name="Text 7"/>
          <p:cNvSpPr txBox="1"/>
          <p:nvPr/>
        </p:nvSpPr>
        <p:spPr>
          <a:xfrm>
            <a:off x="7909560" y="2788920"/>
            <a:ext cx="3566160" cy="411480"/>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marL="0" indent="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txBody>
          <a:bodyPr/>
          <a:lstStyle/>
          <a:p>
            <a:endParaRPr lang="en-US"/>
          </a:p>
        </p:txBody>
      </p:sp>
      <p:sp>
        <p:nvSpPr>
          <p:cNvPr id="13" name="Text 10"/>
          <p:cNvSpPr txBox="1"/>
          <p:nvPr/>
        </p:nvSpPr>
        <p:spPr>
          <a:xfrm>
            <a:off x="7909560" y="3977640"/>
            <a:ext cx="3566160" cy="411480"/>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marL="0" indent="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txBody>
          <a:bodyPr/>
          <a:lstStyle/>
          <a:p>
            <a:endParaRPr lang="en-US"/>
          </a:p>
        </p:txBody>
      </p:sp>
      <p:sp>
        <p:nvSpPr>
          <p:cNvPr id="16" name="Text 13"/>
          <p:cNvSpPr txBox="1"/>
          <p:nvPr/>
        </p:nvSpPr>
        <p:spPr>
          <a:xfrm>
            <a:off x="7909560" y="5166360"/>
            <a:ext cx="3566160" cy="411480"/>
          </a:xfrm>
          <a:prstGeom prst="rect">
            <a:avLst/>
          </a:prstGeom>
          <a:noFill/>
          <a:ln/>
        </p:spPr>
        <p:txBody>
          <a:bodyPr wrap="square" lIns="0" tIns="0" rIns="0" bIns="0" rtlCol="0" anchor="ctr"/>
          <a:lstStyle/>
          <a:p>
            <a:pPr marL="0" indent="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marL="0" indent="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3950208"/>
        </p:xfrm>
        <a:graphic>
          <a:graphicData uri="http://schemas.openxmlformats.org/drawingml/2006/table">
            <a:tbl>
              <a:tblPr/>
              <a:tblGrid>
                <a:gridCol w="19202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457200">
                <a:tc>
                  <a:txBody>
                    <a:bodyPr/>
                    <a:lstStyle/>
                    <a:p>
                      <a:pPr marL="0" indent="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457200">
                <a:tc>
                  <a:txBody>
                    <a:bodyPr/>
                    <a:lstStyle/>
                    <a:p>
                      <a:pPr marL="0" indent="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3"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822960" y="5577840"/>
            <a:ext cx="10607040" cy="640080"/>
          </a:xfrm>
          <a:prstGeom prst="rect">
            <a:avLst/>
          </a:prstGeom>
          <a:noFill/>
          <a:ln/>
        </p:spPr>
        <p:txBody>
          <a:bodyPr wrap="square" lIns="0" tIns="0" rIns="0" bIns="0" rtlCol="0" anchor="ctr"/>
          <a:lstStyle/>
          <a:p>
            <a:pPr marL="0" indent="0">
              <a:buNone/>
            </a:pPr>
            <a:r>
              <a:rPr lang="en-US" sz="1400" b="1" dirty="0">
                <a:solidFill>
                  <a:schemeClr val="tx2"/>
                </a:solidFill>
              </a:rPr>
              <a:t>Inputs differ: </a:t>
            </a: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Traditional models win on accuracy</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3703320"/>
        </p:xfrm>
        <a:graphic>
          <a:graphicData uri="http://schemas.openxmlformats.org/drawingml/2006/table">
            <a:tbl>
              <a:tblPr/>
              <a:tblGrid>
                <a:gridCol w="31089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685800">
                <a:tc>
                  <a:txBody>
                    <a:bodyPr/>
                    <a:lstStyle/>
                    <a:p>
                      <a:pPr marL="0" indent="0" algn="l">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Overall accuracy</a:t>
                      </a:r>
                      <a:endParaRPr lang="en-US" sz="1500" dirty="0"/>
                    </a:p>
                    <a:p>
                      <a:pPr marL="0" indent="0" algn="ctr">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Store totals</a:t>
                      </a:r>
                      <a:endParaRPr lang="en-US" sz="1500" dirty="0"/>
                    </a:p>
                    <a:p>
                      <a:pPr marL="0" indent="0" algn="ctr">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Single items</a:t>
                      </a:r>
                      <a:endParaRPr lang="en-US" sz="1500" dirty="0"/>
                    </a:p>
                    <a:p>
                      <a:pPr marL="0" indent="0" algn="ctr">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Time for</a:t>
                      </a:r>
                      <a:endParaRPr lang="en-US" sz="1500" dirty="0"/>
                    </a:p>
                    <a:p>
                      <a:pPr marL="0" indent="0" algn="ctr">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Training</a:t>
                      </a:r>
                      <a:endParaRPr lang="en-US" sz="1500" dirty="0"/>
                    </a:p>
                    <a:p>
                      <a:pPr marL="0" indent="0" algn="ctr">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marL="0" indent="0" algn="r">
              <a:buNone/>
            </a:pPr>
            <a:r>
              <a:rPr lang="en-US" sz="1100" dirty="0">
                <a:solidFill>
                  <a:srgbClr val="6B6A66"/>
                </a:solidFill>
              </a:rPr>
              <a:t>Green = best in its column (benchmark excluded)</a:t>
            </a:r>
            <a:endParaRPr lang="en-US" sz="1100" dirty="0"/>
          </a:p>
        </p:txBody>
      </p:sp>
      <p:sp>
        <p:nvSpPr>
          <p:cNvPr id="3" name="scorecard summary"/>
          <p:cNvSpPr/>
          <p:nvPr/>
        </p:nvSpPr>
        <p:spPr>
          <a:xfrm>
            <a:off x="548640" y="5394960"/>
            <a:ext cx="11064240" cy="896112"/>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6" name="Text 3"/>
          <p:cNvSpPr txBox="1"/>
          <p:nvPr/>
        </p:nvSpPr>
        <p:spPr>
          <a:xfrm>
            <a:off x="665480" y="5382768"/>
            <a:ext cx="10861040" cy="896112"/>
          </a:xfrm>
          <a:prstGeom prst="rect">
            <a:avLst/>
          </a:prstGeom>
          <a:noFill/>
          <a:ln/>
        </p:spPr>
        <p:txBody>
          <a:bodyPr wrap="square" lIns="0" tIns="0" rIns="0" bIns="0" rtlCol="0" anchor="ctr"/>
          <a:lstStyle/>
          <a:p>
            <a:pPr marL="0" indent="0">
              <a:buNone/>
            </a:pPr>
            <a:r>
              <a:rPr lang="en-US" sz="1400" b="1" dirty="0">
                <a:solidFill>
                  <a:srgbClr val="0F5C73"/>
                </a:solidFill>
              </a:rPr>
              <a:t> </a:t>
            </a:r>
            <a:r>
              <a:rPr lang="zh-CN" altLang="en-US" sz="1400" b="1" dirty="0">
                <a:solidFill>
                  <a:srgbClr val="0F5C73"/>
                </a:solidFill>
              </a:rPr>
              <a:t> </a:t>
            </a:r>
            <a:r>
              <a:rPr lang="en-US" sz="1400" b="1" dirty="0">
                <a:solidFill>
                  <a:srgbClr val="0F5C73"/>
                </a:solidFill>
              </a:rPr>
              <a:t>Best traditional choice: </a:t>
            </a:r>
            <a:r>
              <a:rPr lang="en-US" sz="1400" dirty="0">
                <a:solidFill>
                  <a:schemeClr val="tx1"/>
                </a:solidFill>
              </a:rPr>
              <a:t>the AutoETS + LightGBM average, for accuracy.</a:t>
            </a:r>
            <a:r>
              <a:rPr lang="zh-CN" altLang="en-US" sz="1400" dirty="0">
                <a:solidFill>
                  <a:schemeClr val="tx1"/>
                </a:solidFill>
              </a:rPr>
              <a:t>  </a:t>
            </a:r>
            <a:r>
              <a:rPr lang="en-US" sz="1400" b="1" dirty="0">
                <a:solidFill>
                  <a:srgbClr val="EB6834"/>
                </a:solidFill>
              </a:rPr>
              <a:t>AI: </a:t>
            </a:r>
            <a:r>
              <a:rPr lang="en-US" sz="1400" dirty="0">
                <a:solidFill>
                  <a:schemeClr val="tx1"/>
                </a:solidFill>
              </a:rPr>
              <a:t>fast, but no clear accuracy edge.</a:t>
            </a:r>
            <a:endParaRPr lang="en-US" sz="1400" dirty="0"/>
          </a:p>
          <a:p>
            <a:pPr marL="0" indent="0">
              <a:buNone/>
            </a:pPr>
            <a:r>
              <a:rPr lang="zh-CN" altLang="en-US" sz="1400" b="1" dirty="0">
                <a:solidFill>
                  <a:srgbClr val="1B2A41"/>
                </a:solidFill>
              </a:rPr>
              <a:t>  </a:t>
            </a:r>
            <a:r>
              <a:rPr lang="en-US" sz="1300" b="1" dirty="0">
                <a:solidFill>
                  <a:srgbClr val="1B2A41"/>
                </a:solidFill>
              </a:rPr>
              <a:t>How to Read: </a:t>
            </a:r>
            <a:r>
              <a:rPr lang="en-US" sz="1300" dirty="0">
                <a:solidFill>
                  <a:schemeClr val="tx1"/>
                </a:solidFill>
              </a:rPr>
              <a:t>RMSSE = error vs a naive “same as yesterday” forecast; WRMSSE = RMSSE weighted by dollar sales.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Traditional tracks the peaks; the AI runs low</a:t>
            </a:r>
            <a:endParaRPr lang="en-US" sz="3400" dirty="0"/>
          </a:p>
        </p:txBody>
      </p:sp>
      <p:graphicFrame>
        <p:nvGraphicFramePr>
          <p:cNvPr id="3" name="forecast chart"/>
          <p:cNvGraphicFramePr/>
          <p:nvPr/>
        </p:nvGraphicFramePr>
        <p:xfrm>
          <a:off x="548640" y="1371600"/>
          <a:ext cx="749808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8549640" y="1572768"/>
            <a:ext cx="2926080" cy="411480"/>
          </a:xfrm>
          <a:prstGeom prst="rect">
            <a:avLst/>
          </a:prstGeom>
          <a:noFill/>
          <a:ln/>
        </p:spPr>
        <p:txBody>
          <a:bodyPr wrap="square" lIns="0" tIns="0" rIns="0" bIns="0" rtlCol="0" anchor="ctr"/>
          <a:lstStyle/>
          <a:p>
            <a:pPr marL="0" indent="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marL="0" indent="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txBody>
          <a:bodyPr/>
          <a:lstStyle/>
          <a:p>
            <a:endParaRPr lang="en-US"/>
          </a:p>
        </p:txBody>
      </p:sp>
      <p:sp>
        <p:nvSpPr>
          <p:cNvPr id="8" name="Text 5"/>
          <p:cNvSpPr txBox="1"/>
          <p:nvPr/>
        </p:nvSpPr>
        <p:spPr>
          <a:xfrm>
            <a:off x="8549640" y="2990088"/>
            <a:ext cx="2926080" cy="411480"/>
          </a:xfrm>
          <a:prstGeom prst="rect">
            <a:avLst/>
          </a:prstGeom>
          <a:noFill/>
          <a:ln/>
        </p:spPr>
        <p:txBody>
          <a:bodyPr wrap="square" lIns="0" tIns="0" rIns="0" bIns="0" rtlCol="0" anchor="ctr"/>
          <a:lstStyle/>
          <a:p>
            <a:pPr marL="0" indent="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marL="0" indent="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txBody>
          <a:bodyPr/>
          <a:lstStyle/>
          <a:p>
            <a:endParaRPr lang="en-US"/>
          </a:p>
        </p:txBody>
      </p:sp>
      <p:sp>
        <p:nvSpPr>
          <p:cNvPr id="11" name="Text 8"/>
          <p:cNvSpPr txBox="1"/>
          <p:nvPr/>
        </p:nvSpPr>
        <p:spPr>
          <a:xfrm>
            <a:off x="8549640" y="4407408"/>
            <a:ext cx="2926080" cy="411480"/>
          </a:xfrm>
          <a:prstGeom prst="rect">
            <a:avLst/>
          </a:prstGeom>
          <a:noFill/>
          <a:ln/>
        </p:spPr>
        <p:txBody>
          <a:bodyPr wrap="square" lIns="0" tIns="0" rIns="0" bIns="0" rtlCol="0" anchor="ctr"/>
          <a:lstStyle/>
          <a:p>
            <a:pPr marL="0" indent="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marL="0" indent="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76F6384-0CB2-B4CA-9B2A-AAD602EBC671}"/>
              </a:ext>
            </a:extLst>
          </p:cNvPr>
          <p:cNvPicPr>
            <a:picLocks noChangeAspect="1"/>
          </p:cNvPicPr>
          <p:nvPr/>
        </p:nvPicPr>
        <p:blipFill>
          <a:blip r:embed="rId3"/>
          <a:stretch>
            <a:fillRect/>
          </a:stretch>
        </p:blipFill>
        <p:spPr>
          <a:xfrm>
            <a:off x="6995160" y="4274820"/>
            <a:ext cx="4617720" cy="1463040"/>
          </a:xfrm>
          <a:prstGeom prst="rect">
            <a:avLst/>
          </a:prstGeom>
        </p:spPr>
      </p:pic>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Claude: a language model that reads sales as text</a:t>
            </a:r>
            <a:endParaRPr lang="en-US" sz="3400" dirty="0"/>
          </a:p>
        </p:txBody>
      </p:sp>
      <p:graphicFrame>
        <p:nvGraphicFramePr>
          <p:cNvPr id="3" name="Claude totals chart"/>
          <p:cNvGraphicFramePr/>
          <p:nvPr/>
        </p:nvGraphicFramePr>
        <p:xfrm>
          <a:off x="548640" y="1371600"/>
          <a:ext cx="6126480" cy="4343400"/>
        </p:xfrm>
        <a:graphic>
          <a:graphicData uri="http://schemas.openxmlformats.org/drawingml/2006/chart">
            <c:chart xmlns:c="http://schemas.openxmlformats.org/drawingml/2006/chart" xmlns:r="http://schemas.openxmlformats.org/officeDocument/2006/relationships" r:id="rId4"/>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marL="0" indent="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2261616"/>
        </p:xfrm>
        <a:graphic>
          <a:graphicData uri="http://schemas.openxmlformats.org/drawingml/2006/table">
            <a:tbl>
              <a:tblPr/>
              <a:tblGrid>
                <a:gridCol w="16002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438912">
                <a:tc>
                  <a:txBody>
                    <a:bodyPr/>
                    <a:lstStyle/>
                    <a:p>
                      <a:pPr marL="0" indent="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38912">
                <a:tc>
                  <a:txBody>
                    <a:bodyPr/>
                    <a:lstStyle/>
                    <a:p>
                      <a:pPr marL="0" indent="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1"/>
                  </a:ext>
                </a:extLst>
              </a:tr>
              <a:tr h="438912">
                <a:tc>
                  <a:txBody>
                    <a:bodyPr/>
                    <a:lstStyle/>
                    <a:p>
                      <a:pPr marL="0" indent="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2"/>
                  </a:ext>
                </a:extLst>
              </a:tr>
              <a:tr h="438912">
                <a:tc>
                  <a:txBody>
                    <a:bodyPr/>
                    <a:lstStyle/>
                    <a:p>
                      <a:pPr marL="0" indent="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3"/>
                  </a:ext>
                </a:extLst>
              </a:tr>
              <a:tr h="438912">
                <a:tc>
                  <a:txBody>
                    <a:bodyPr/>
                    <a:lstStyle/>
                    <a:p>
                      <a:pPr marL="0" indent="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4"/>
                  </a:ext>
                </a:extLst>
              </a:tr>
            </a:tbl>
          </a:graphicData>
        </a:graphic>
      </p:graphicFrame>
      <p:sp>
        <p:nvSpPr>
          <p:cNvPr id="5" name="Text 3"/>
          <p:cNvSpPr txBox="1"/>
          <p:nvPr/>
        </p:nvSpPr>
        <p:spPr>
          <a:xfrm>
            <a:off x="7223760" y="4251960"/>
            <a:ext cx="4206240" cy="1463040"/>
          </a:xfrm>
          <a:prstGeom prst="rect">
            <a:avLst/>
          </a:prstGeom>
          <a:noFill/>
          <a:ln/>
        </p:spPr>
        <p:txBody>
          <a:bodyPr wrap="square" lIns="0" tIns="0" rIns="0" bIns="0" rtlCol="0" anchor="ctr"/>
          <a:lstStyle/>
          <a:p>
            <a:pPr marL="0" indent="0">
              <a:buNone/>
            </a:pPr>
            <a:r>
              <a:rPr lang="en-US" sz="1400" b="1" dirty="0">
                <a:solidFill>
                  <a:schemeClr val="tx1"/>
                </a:solidFill>
              </a:rPr>
              <a:t>100 sampled items: </a:t>
            </a: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marL="0" indent="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marL="0" indent="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marL="0" indent="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7" name="Pre-training contamination icon" descr="preencoded.png"/>
          <p:cNvPicPr>
            <a:picLocks noChangeAspect="1"/>
          </p:cNvPicPr>
          <p:nvPr/>
        </p:nvPicPr>
        <p:blipFill>
          <a:blip r:embed="rId3"/>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Pre-training contamination</a:t>
            </a:r>
            <a:endParaRPr lang="en-US" sz="1400" dirty="0"/>
          </a:p>
          <a:p>
            <a:pPr marL="0" indent="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marL="0" indent="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12" name="Unstable output icon" descr="preencoded.png"/>
          <p:cNvPicPr>
            <a:picLocks noChangeAspect="1"/>
          </p:cNvPicPr>
          <p:nvPr/>
        </p:nvPicPr>
        <p:blipFill>
          <a:blip r:embed="rId4"/>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Unstable output</a:t>
            </a:r>
            <a:endParaRPr lang="en-US" sz="1400" dirty="0"/>
          </a:p>
          <a:p>
            <a:pPr marL="0" indent="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marL="0" indent="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17" name="Cost and scale icon" descr="preencoded.png"/>
          <p:cNvPicPr>
            <a:picLocks noChangeAspect="1"/>
          </p:cNvPicPr>
          <p:nvPr/>
        </p:nvPicPr>
        <p:blipFill>
          <a:blip r:embed="rId5"/>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Cost and scale</a:t>
            </a:r>
            <a:endParaRPr lang="en-US" sz="1400" dirty="0"/>
          </a:p>
          <a:p>
            <a:pPr marL="0" indent="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marL="0" indent="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22" name="Malformed answers icon" descr="preencoded.png"/>
          <p:cNvPicPr>
            <a:picLocks noChangeAspect="1"/>
          </p:cNvPicPr>
          <p:nvPr/>
        </p:nvPicPr>
        <p:blipFill>
          <a:blip r:embed="rId6"/>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Malformed answers</a:t>
            </a:r>
            <a:endParaRPr lang="en-US" sz="1400" dirty="0"/>
          </a:p>
          <a:p>
            <a:pPr marL="0" indent="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marL="0" indent="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txBody>
          <a:bodyPr/>
          <a:lstStyle/>
          <a:p>
            <a:endParaRPr lang="en-US"/>
          </a:p>
        </p:txBody>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txBody>
          <a:bodyPr/>
          <a:lstStyle/>
          <a:p>
            <a:endParaRPr lang="en-US"/>
          </a:p>
        </p:txBody>
      </p:sp>
      <p:pic>
        <p:nvPicPr>
          <p:cNvPr id="27" name="caveat icon" descr="preencoded.png"/>
          <p:cNvPicPr>
            <a:picLocks noChangeAspect="1"/>
          </p:cNvPicPr>
          <p:nvPr/>
        </p:nvPicPr>
        <p:blipFill>
          <a:blip r:embed="rId7"/>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marL="0" indent="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9"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bg1"/>
                </a:solidFill>
              </a:rPr>
              <a:t>Our answer: use a traditional ensemble</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txBody>
          <a:bodyPr/>
          <a:lstStyle/>
          <a:p>
            <a:endParaRPr lang="en-US"/>
          </a:p>
        </p:txBody>
      </p:sp>
      <p:pic>
        <p:nvPicPr>
          <p:cNvPr id="4" name="Traditional methods lead on accuracy icon" descr="preencoded.png"/>
          <p:cNvPicPr>
            <a:picLocks noChangeAspect="1"/>
          </p:cNvPicPr>
          <p:nvPr/>
        </p:nvPicPr>
        <p:blipFill>
          <a:blip r:embed="rId3"/>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marL="0" indent="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marL="0" indent="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txBody>
          <a:bodyPr/>
          <a:lstStyle/>
          <a:p>
            <a:endParaRPr lang="en-US"/>
          </a:p>
        </p:txBody>
      </p:sp>
      <p:pic>
        <p:nvPicPr>
          <p:cNvPr id="8" name="Chronos wins on speed icon" descr="preencoded.png"/>
          <p:cNvPicPr>
            <a:picLocks noChangeAspect="1"/>
          </p:cNvPicPr>
          <p:nvPr/>
        </p:nvPicPr>
        <p:blipFill>
          <a:blip r:embed="rId4"/>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marL="0" indent="0">
              <a:buNone/>
            </a:pPr>
            <a:r>
              <a:rPr lang="en-US" sz="1900" b="1" dirty="0">
                <a:solidFill>
                  <a:schemeClr val="bg1"/>
                </a:solidFill>
              </a:rPr>
              <a:t>AI shows no clear accuracy edge</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marL="0" indent="0">
              <a:buNone/>
            </a:pPr>
            <a:r>
              <a:rPr lang="en-US" sz="1400" dirty="0">
                <a:solidFill>
                  <a:schemeClr val="bg2"/>
                </a:solidFill>
              </a:rPr>
              <a:t>Chronos trails the benchmark; Claude tested on 112 only</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txBody>
          <a:bodyPr/>
          <a:lstStyle/>
          <a:p>
            <a:endParaRPr lang="en-US"/>
          </a:p>
        </p:txBody>
      </p:sp>
      <p:pic>
        <p:nvPicPr>
          <p:cNvPr id="12" name="Claude matched the best on totals icon" descr="preencoded.png"/>
          <p:cNvPicPr>
            <a:picLocks noChangeAspect="1"/>
          </p:cNvPicPr>
          <p:nvPr/>
        </p:nvPicPr>
        <p:blipFill>
          <a:blip r:embed="rId5"/>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marL="0" indent="0">
              <a:buNone/>
            </a:pPr>
            <a:r>
              <a:rPr lang="en-US" sz="1900" b="1" dirty="0">
                <a:solidFill>
                  <a:schemeClr val="bg1"/>
                </a:solidFill>
              </a:rPr>
              <a:t>AI lacks interpretability</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marL="0" indent="0">
              <a:buNone/>
            </a:pPr>
            <a:r>
              <a:rPr lang="en-US" sz="1400" dirty="0">
                <a:solidFill>
                  <a:schemeClr val="bg2"/>
                </a:solidFill>
              </a:rPr>
              <a:t>Black boxes; Claude's reasoning can't be verified</a:t>
            </a:r>
            <a:endParaRPr lang="en-US" sz="1400" dirty="0"/>
          </a:p>
        </p:txBody>
      </p:sp>
      <p:sp>
        <p:nvSpPr>
          <p:cNvPr id="15" name="limitations card"/>
          <p:cNvSpPr/>
          <p:nvPr/>
        </p:nvSpPr>
        <p:spPr>
          <a:xfrm>
            <a:off x="6675120" y="1371600"/>
            <a:ext cx="4937760" cy="3886200"/>
          </a:xfrm>
          <a:prstGeom prst="roundRect">
            <a:avLst>
              <a:gd name="adj" fmla="val 2400"/>
            </a:avLst>
          </a:prstGeom>
          <a:solidFill>
            <a:srgbClr val="2A3B55"/>
          </a:solidFill>
          <a:ln w="12700">
            <a:solidFill>
              <a:srgbClr val="2A3B55"/>
            </a:solidFill>
            <a:prstDash val="solid"/>
          </a:ln>
        </p:spPr>
        <p:txBody>
          <a:bodyPr/>
          <a:lstStyle/>
          <a:p>
            <a:endParaRPr lang="en-US"/>
          </a:p>
        </p:txBody>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txBody>
          <a:bodyPr/>
          <a:lstStyle/>
          <a:p>
            <a:endParaRPr lang="en-US"/>
          </a:p>
        </p:txBody>
      </p:sp>
      <p:pic>
        <p:nvPicPr>
          <p:cNvPr id="17" name="limitations icon" descr="preencoded.png"/>
          <p:cNvPicPr>
            <a:picLocks noChangeAspect="1"/>
          </p:cNvPicPr>
          <p:nvPr/>
        </p:nvPicPr>
        <p:blipFill>
          <a:blip r:embed="rId6"/>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marL="0" indent="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Demo: Shelf Signal dashboard</a:t>
            </a:r>
            <a:endParaRPr lang="en-US" sz="3400" dirty="0"/>
          </a:p>
        </p:txBody>
      </p:sp>
      <p:pic>
        <p:nvPicPr>
          <p:cNvPr id="4" name="dashboard screenshot" descr="Shelf Signal order planner: demand distribution, order quantity and profit by model">
            <a:hlinkClick r:id="rId3" tooltip="Open the live dashboard"/>
          </p:cNvPr>
          <p:cNvPicPr>
            <a:picLocks noChangeAspect="1"/>
          </p:cNvPicPr>
          <p:nvPr/>
        </p:nvPicPr>
        <p:blipFill>
          <a:blip r:embed="rId4"/>
          <a:stretch>
            <a:fillRect/>
          </a:stretch>
        </p:blipFill>
        <p:spPr>
          <a:xfrm>
            <a:off x="667525" y="1261872"/>
            <a:ext cx="6345909" cy="4334256"/>
          </a:xfrm>
          <a:prstGeom prst="rect">
            <a:avLst/>
          </a:prstGeom>
        </p:spPr>
      </p:pic>
      <p:sp>
        <p:nvSpPr>
          <p:cNvPr id="5" name="Text 2"/>
          <p:cNvSpPr txBox="1"/>
          <p:nvPr/>
        </p:nvSpPr>
        <p:spPr>
          <a:xfrm>
            <a:off x="2560320" y="5870448"/>
            <a:ext cx="6583680" cy="365760"/>
          </a:xfrm>
          <a:prstGeom prst="rect">
            <a:avLst/>
          </a:prstGeom>
          <a:noFill/>
          <a:ln/>
        </p:spPr>
        <p:txBody>
          <a:bodyPr wrap="square" lIns="0" tIns="0" rIns="0" bIns="0" rtlCol="0" anchor="ctr"/>
          <a:lstStyle/>
          <a:p>
            <a:r>
              <a:rPr lang="en-US" b="1" u="sng" dirty="0">
                <a:hlinkClick r:id="rId3"/>
              </a:rPr>
              <a:t>Open live dashboard ↗</a:t>
            </a:r>
            <a:r>
              <a:rPr lang="en-US" dirty="0"/>
              <a:t>  </a:t>
            </a:r>
            <a:endParaRPr lang="en-US" sz="1400" dirty="0"/>
          </a:p>
          <a:p>
            <a:br>
              <a:rPr lang="en-US" sz="1400" dirty="0"/>
            </a:b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txBody>
          <a:bodyPr/>
          <a:lstStyle/>
          <a:p>
            <a:endParaRPr lang="en-US"/>
          </a:p>
        </p:txBody>
      </p:sp>
      <p:pic>
        <p:nvPicPr>
          <p:cNvPr id="7" name="Forecast explorer icon" descr="preencoded.png"/>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marL="0" indent="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marL="0" indent="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txBody>
          <a:bodyPr/>
          <a:lstStyle/>
          <a:p>
            <a:endParaRPr lang="en-US"/>
          </a:p>
        </p:txBody>
      </p:sp>
      <p:pic>
        <p:nvPicPr>
          <p:cNvPr id="11" name="AI lab icon" descr="preencoded.png"/>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marL="0" indent="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marL="0" indent="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txBody>
          <a:bodyPr/>
          <a:lstStyle/>
          <a:p>
            <a:endParaRPr lang="en-US"/>
          </a:p>
        </p:txBody>
      </p:sp>
      <p:pic>
        <p:nvPicPr>
          <p:cNvPr id="15" name="Order planner icon" descr="preencoded.png"/>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marL="0" indent="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marL="0" indent="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marL="0" indent="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TotalTime>
  <Words>3228</Words>
  <Application>Microsoft Macintosh PowerPoint</Application>
  <PresentationFormat>Widescreen</PresentationFormat>
  <Paragraphs>215</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Group 3 Forecasting</vt:lpstr>
      <vt:lpstr>Can AI Foundation Models Beat Traditional Statistical Models?</vt:lpstr>
      <vt:lpstr>Retail forecasting has to balance accuracy, efficiency and business value</vt:lpstr>
      <vt:lpstr>5,748 daily series, one 28-day test window</vt:lpstr>
      <vt:lpstr>Five models plus a simple average</vt:lpstr>
      <vt:lpstr>Traditional wins accuracy; AI wins speed</vt:lpstr>
      <vt:lpstr>Traditional tracks the peaks; the AI runs low</vt:lpstr>
      <vt:lpstr>Claude: a language model that reads sales as text</vt:lpstr>
      <vt:lpstr>Using an LLM to forecast: risks and safeguards</vt:lpstr>
      <vt:lpstr>Our answer: not yet on accuracy, yes on speed</vt:lpstr>
      <vt:lpstr>Demo: Shelf Signal dashboard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Rachel YX Liu (SH/DCM)</cp:lastModifiedBy>
  <cp:revision>5</cp:revision>
  <dcterms:created xsi:type="dcterms:W3CDTF">2026-10-21T05:52:07Z</dcterms:created>
  <dcterms:modified xsi:type="dcterms:W3CDTF">2026-10-22T04:06:36Z</dcterms:modified>
</cp:coreProperties>
</file>