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f5e58a20-3858-7f6a-3eb9-0079a918180a}">
          <p14:sldIdLst>
            <p14:sldId id="256"/>
            <p14:sldId id="257"/>
          </p14:sldIdLst>
        </p14:section>
        <p14:section name="Models and results" id="{f69ecb56-febb-972e-f5eb-37b7bd7241a1}">
          <p14:sldIdLst>
            <p14:sldId id="258"/>
            <p14:sldId id="259"/>
            <p14:sldId id="260"/>
          </p14:sldIdLst>
        </p14:section>
        <p14:section name="LLM experiment" id="{f52c5b96-bc2d-44c7-103b-9ff1fcc4db0e}">
          <p14:sldIdLst>
            <p14:sldId id="261"/>
            <p14:sldId id="262"/>
          </p14:sldIdLst>
        </p14:section>
        <p14:section name="Business insight and demo" id="{72283f01-455a-78a1-cd8a-4d25a0f2625c}">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Daily demand for an item that sells 5 a day on average</a:t>
            </a:r>
          </a:p>
        </c:rich>
      </c:tx>
      <c:layout/>
      <c:overlay val="0"/>
    </c:title>
    <c:autoTitleDeleted val="0"/>
    <c:plotArea>
      <c:layout/>
      <c:barChart>
        <c:barDir val="col"/>
        <c:grouping val="stacked"/>
        <c:varyColors val="0"/>
        <c:ser>
          <c:idx val="0"/>
          <c:order val="0"/>
          <c:tx>
            <c:strRef>
              <c:f>Sheet1!$B$1</c:f>
              <c:strCache>
                <c:ptCount val="1"/>
                <c:pt idx="0">
                  <c:v>Other demand levels</c:v>
                </c:pt>
              </c:strCache>
            </c:strRef>
          </c:tx>
          <c:spPr>
            <a:solidFill>
              <a:srgbClr val="C9CCD3"/>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Sheet1!$B$2:$B$17</c:f>
              <c:numCache>
                <c:formatCode>General</c:formatCode>
                <c:ptCount val="16"/>
                <c:pt idx="0">
                  <c:v>0.0312</c:v>
                </c:pt>
                <c:pt idx="1">
                  <c:v>0.0781</c:v>
                </c:pt>
                <c:pt idx="2">
                  <c:v>0</c:v>
                </c:pt>
                <c:pt idx="3">
                  <c:v>0.1367</c:v>
                </c:pt>
                <c:pt idx="4">
                  <c:v>0.1367</c:v>
                </c:pt>
                <c:pt idx="5">
                  <c:v>0.123</c:v>
                </c:pt>
                <c:pt idx="6">
                  <c:v>0.1025</c:v>
                </c:pt>
                <c:pt idx="7">
                  <c:v>0</c:v>
                </c:pt>
                <c:pt idx="8">
                  <c:v>0.0604</c:v>
                </c:pt>
                <c:pt idx="9">
                  <c:v>0.0436</c:v>
                </c:pt>
                <c:pt idx="10">
                  <c:v>0.0305</c:v>
                </c:pt>
                <c:pt idx="11">
                  <c:v>0.0208</c:v>
                </c:pt>
                <c:pt idx="12">
                  <c:v>0.0139</c:v>
                </c:pt>
                <c:pt idx="13">
                  <c:v>0.0091</c:v>
                </c:pt>
                <c:pt idx="14">
                  <c:v>0.0058</c:v>
                </c:pt>
                <c:pt idx="15">
                  <c:v>0.0037</c:v>
                </c:pt>
              </c:numCache>
            </c:numRef>
          </c:val>
        </c:ser>
        <c:ser>
          <c:idx val="1"/>
          <c:order val="1"/>
          <c:tx>
            <c:strRef>
              <c:f>Sheet1!$C$1</c:f>
              <c:strCache>
                <c:ptCount val="1"/>
                <c:pt idx="0">
                  <c:v>Order at 20% margin (P20)</c:v>
                </c:pt>
              </c:strCache>
            </c:strRef>
          </c:tx>
          <c:spPr>
            <a:solidFill>
              <a:srgbClr val="EB6834"/>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Sheet1!$C$2:$C$17</c:f>
              <c:numCache>
                <c:formatCode>General</c:formatCode>
                <c:ptCount val="16"/>
                <c:pt idx="0">
                  <c:v>0</c:v>
                </c:pt>
                <c:pt idx="1">
                  <c:v>0</c:v>
                </c:pt>
                <c:pt idx="2">
                  <c:v>0.1172</c:v>
                </c:pt>
                <c:pt idx="3">
                  <c:v>0</c:v>
                </c:pt>
                <c:pt idx="4">
                  <c:v>0</c:v>
                </c:pt>
                <c:pt idx="5">
                  <c:v>0</c:v>
                </c:pt>
                <c:pt idx="6">
                  <c:v>0</c:v>
                </c:pt>
                <c:pt idx="7">
                  <c:v>0</c:v>
                </c:pt>
                <c:pt idx="8">
                  <c:v>0</c:v>
                </c:pt>
                <c:pt idx="9">
                  <c:v>0</c:v>
                </c:pt>
                <c:pt idx="10">
                  <c:v>0</c:v>
                </c:pt>
                <c:pt idx="11">
                  <c:v>0</c:v>
                </c:pt>
                <c:pt idx="12">
                  <c:v>0</c:v>
                </c:pt>
                <c:pt idx="13">
                  <c:v>0</c:v>
                </c:pt>
                <c:pt idx="14">
                  <c:v>0</c:v>
                </c:pt>
                <c:pt idx="15">
                  <c:v>0</c:v>
                </c:pt>
              </c:numCache>
            </c:numRef>
          </c:val>
        </c:ser>
        <c:ser>
          <c:idx val="2"/>
          <c:order val="2"/>
          <c:tx>
            <c:strRef>
              <c:f>Sheet1!$D$1</c:f>
              <c:strCache>
                <c:ptCount val="1"/>
                <c:pt idx="0">
                  <c:v>Order at 80% margin (P80)</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Sheet1!$D$2:$D$17</c:f>
              <c:numCache>
                <c:formatCode>General</c:formatCode>
                <c:ptCount val="16"/>
                <c:pt idx="0">
                  <c:v>0</c:v>
                </c:pt>
                <c:pt idx="1">
                  <c:v>0</c:v>
                </c:pt>
                <c:pt idx="2">
                  <c:v>0</c:v>
                </c:pt>
                <c:pt idx="3">
                  <c:v>0</c:v>
                </c:pt>
                <c:pt idx="4">
                  <c:v>0</c:v>
                </c:pt>
                <c:pt idx="5">
                  <c:v>0</c:v>
                </c:pt>
                <c:pt idx="6">
                  <c:v>0</c:v>
                </c:pt>
                <c:pt idx="7">
                  <c:v>0.0806</c:v>
                </c:pt>
                <c:pt idx="8">
                  <c:v>0</c:v>
                </c:pt>
                <c:pt idx="9">
                  <c:v>0</c:v>
                </c:pt>
                <c:pt idx="10">
                  <c:v>0</c:v>
                </c:pt>
                <c:pt idx="11">
                  <c:v>0</c:v>
                </c:pt>
                <c:pt idx="12">
                  <c:v>0</c:v>
                </c:pt>
                <c:pt idx="13">
                  <c:v>0</c:v>
                </c:pt>
                <c:pt idx="14">
                  <c:v>0</c:v>
                </c:pt>
                <c:pt idx="15">
                  <c:v>0</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200" b="0" i="0" u="none" strike="noStrike">
                    <a:solidFill>
                      <a:srgbClr val="6B6A66"/>
                    </a:solidFill>
                    <a:latin typeface="+mn-lt"/>
                  </a:defRPr>
                </a:pPr>
                <a:r>
                  <a:rPr sz="1200" b="0" i="0" u="none" strike="noStrike">
                    <a:solidFill>
                      <a:srgbClr val="6B6A66"/>
                    </a:solidFill>
                    <a:latin typeface="+mn-lt"/>
                  </a:rPr>
                  <a:t>Units demanded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retailer's forecast has to do three jobs: be accurate, be cheap and fast enough to run every day for thousands of products, and lead to good stocking decisions.
LightGBM, a machine-learning method, won Walmart's M5 forecasting competition and became the standard. Since then, AI models pre-trained on huge datasets can forecast with no training at all. So we ask two questions. Can pre-trained AI forecast as well as traditional methods, and faster? And does a better forecast actually mean a better replenishment decision?
TRANSITION: Here is the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(1:15)
We used Walmart's M5 data: the four California stores and all 1,437 food items, so 5,748 daily series, each one item in one store.
The split is simple. Every model is trained on data up to May 22, 2016, and forecasts the next 28 days, the official M5 test window. No model sees those days. The one model we tuned, LightGBM, was tuned only on the last 28 days of the training period.
We score with WRMSSE, the competition's own metric. It scales each product's error by how hard that product is to forecast and weights it by dollar sales; lower is better, and below one beats a naive forecast.
One caveat up front: everything comes from a single 28-day window, so close rankings could shift in another month.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It was trained on about 100 billion data points from other domains and forecasts our data zero-shot, with no training. And seasonal naive, 'same weekday last week', is the benchmark.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On the right, for one item in one store, all models are close.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As an experiment, we also tried Claude, a general-purpose language model. We paste each product's last year of sales into the prompt as text, one row per day,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Note that we also fitted the other models directly on the totals, which is fairer than summing item forecasts. On the 100 items, Claude came third, behind AutoETS and AutoARIMA.
How is Claude different from Chronos? Both are pre-trained and need no training on our data. But Chronos was trained on numbers and returns quantiles in seconds for free; Claude was trained on text, reads our data as text, explains itself, and costs about six cents per forecast.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But be clear about the limit: the blind test reduces identity cues; it cannot guarantee contamination is excluded, because the sales pattern itself could still be recognised.
TRANSITION: Speaker 4 will turn forecasts into business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A forecast only matters through the decision it drives. Here is the key business insight: the best order quantity is not the forecast.
This is the newsvendor problem. If leftover food has no salvage value, you should order the demand level you will meet with probability equal to your profit margin. Take an item that sells 5 units a day on average. With a 20% margin, every wasted unit costs four times a lost sale, so you order low, at the 20th percentile: 2 units. With an 80% margin it's the reverse: order high, at the 80th percentile, 7 units.
So a retailer needs the whole demand distribution, not just one number. And when we tested this, more accurate forecasts earned significantly more only at an 80% margin; at typical margins the profit differences were within chance.
TRANSITION: Let me show you this in our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[LIVE DEMO. If the connection fails, play the screen recording.]
This is Shelf Signal version 2, which extends our teammate's original dashboard with all of this project's models. First, in the Forecast explorer, I pick a series, say a store's dairy department, and replay each model's forecast against what actually sold.
Second, in the Order planner, I keep the forecast fixed and change the profit margin. Watch the recommended order: at a low margin it sits near the 20th percentile of demand, and as the margin rises it moves toward the 80th. The table below scores every model's orders against actual sales. Same forecast, different decision.
Third, note that actual sales are only used to evaluate the forecast afterwards; the forecasts never see the test days.
HOW TO DEMO: in Slide Show mode, click the screenshot (or 'Open live dashboard'). The browser opens on the Order planner. Do the demo, then press Cmd+Tab to return to PowerPoint. Before presenting: open the link once so it loads instantly; keep the screen recording ready as a backup.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(0:30)
To sum up: traditional methods still lead on accuracy. LightGBM is the best single model, AutoETS is close behind, and simply averaging the two is best of all. Chronos offers a huge speed advantage, though its accuracy was weaker here. Claude matched the best traditional approach on the store totals, but on limited evidence. And good replenishment depends on costs and uncertainty, not on accuracy alone.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docs/index.html"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The best order is not the forecast</a:t>
            </a:r>
            <a:endParaRPr lang="en-US" sz="3400" dirty="0"/>
          </a:p>
        </p:txBody>
      </p:sp>
      <p:graphicFrame>
        <p:nvGraphicFramePr>
          <p:cNvPr id="3" name="demand distribution chart" descr=""/>
          <p:cNvGraphicFramePr/>
          <p:nvPr/>
        </p:nvGraphicFramePr>
        <p:xfrm>
          <a:off x="548640" y="1371600"/>
          <a:ext cx="6400800" cy="4389120"/>
        </p:xfrm>
        <a:graphic xmlns:a="http://schemas.openxmlformats.org/drawingml/2006/main">
          <a:graphicData uri="http://schemas.openxmlformats.org/drawingml/2006/chart">
            <c:chart xmlns:c="http://schemas.openxmlformats.org/drawingml/2006/chart" r:id="rId1"/>
          </a:graphicData>
        </a:graphic>
      </p:graphicFrame>
      <p:sp>
        <p:nvSpPr>
          <p:cNvPr id="4" name="formula card"/>
          <p:cNvSpPr/>
          <p:nvPr/>
        </p:nvSpPr>
        <p:spPr>
          <a:xfrm>
            <a:off x="7315200" y="1417320"/>
            <a:ext cx="4297680" cy="1325880"/>
          </a:xfrm>
          <a:prstGeom prst="roundRect">
            <a:avLst>
              <a:gd name="adj" fmla="val 8276"/>
            </a:avLst>
          </a:prstGeom>
          <a:solidFill>
            <a:schemeClr val="bg2"/>
          </a:solidFill>
          <a:ln w="12700">
            <a:solidFill>
              <a:schemeClr val="bg2"/>
            </a:solidFill>
            <a:prstDash val="solid"/>
          </a:ln>
        </p:spPr>
      </p:sp>
      <p:sp>
        <p:nvSpPr>
          <p:cNvPr id="5" name="Text 2"/>
          <p:cNvSpPr txBox="1"/>
          <p:nvPr/>
        </p:nvSpPr>
        <p:spPr>
          <a:xfrm>
            <a:off x="7543800" y="1463040"/>
            <a:ext cx="3931920" cy="6858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Q* = F⁻¹(margin)</a:t>
            </a:r>
            <a:endParaRPr lang="en-US" sz="3000" dirty="0"/>
          </a:p>
        </p:txBody>
      </p:sp>
      <p:sp>
        <p:nvSpPr>
          <p:cNvPr id="6" name="Text 3"/>
          <p:cNvSpPr txBox="1"/>
          <p:nvPr/>
        </p:nvSpPr>
        <p:spPr>
          <a:xfrm>
            <a:off x="7543800" y="2148840"/>
            <a:ext cx="3931920" cy="548640"/>
          </a:xfrm>
          <a:prstGeom prst="rect">
            <a:avLst/>
          </a:prstGeom>
          <a:noFill/>
          <a:ln/>
        </p:spPr>
        <p:txBody>
          <a:bodyPr wrap="square" lIns="0" tIns="0" rIns="0" bIns="0" rtlCol="0" anchor="ctr"/>
          <a:lstStyle/>
          <a:p>
            <a:pPr indent="0" marL="0">
              <a:buNone/>
            </a:pPr>
            <a:r>
              <a:rPr lang="en-US" sz="1300" dirty="0">
                <a:solidFill>
                  <a:schemeClr val="tx1"/>
                </a:solidFill>
              </a:rPr>
              <a:t>Order the demand quantile set by the margin (no salvage value)</a:t>
            </a:r>
            <a:endParaRPr lang="en-US" sz="1300" dirty="0"/>
          </a:p>
        </p:txBody>
      </p:sp>
      <p:sp>
        <p:nvSpPr>
          <p:cNvPr id="7" name="Text 4"/>
          <p:cNvSpPr txBox="1"/>
          <p:nvPr/>
        </p:nvSpPr>
        <p:spPr>
          <a:xfrm>
            <a:off x="7315200" y="2926080"/>
            <a:ext cx="429768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margin: wasted stock costs more, so order low (P20 = 2 units)</a:t>
            </a:r>
            <a:endParaRPr lang="en-US" sz="1500" dirty="0"/>
          </a:p>
          <a:p>
            <a:pPr marL="342900" indent="-342900">
              <a:spcAft>
                <a:spcPts val="800"/>
              </a:spcAft>
              <a:buSzPct val="100000"/>
              <a:buChar char="•"/>
            </a:pPr>
            <a:r>
              <a:rPr lang="en-US" sz="1500" dirty="0">
                <a:solidFill>
                  <a:schemeClr val="tx1"/>
                </a:solidFill>
              </a:rPr>
              <a:t>80% margin: a lost sale costs more, so order high (P80 = 7 units)</a:t>
            </a:r>
            <a:endParaRPr lang="en-US" sz="1500" dirty="0"/>
          </a:p>
          <a:p>
            <a:pPr marL="342900" indent="-342900">
              <a:spcAft>
                <a:spcPts val="800"/>
              </a:spcAft>
              <a:buSzPct val="100000"/>
              <a:buChar char="•"/>
            </a:pPr>
            <a:r>
              <a:rPr lang="en-US" sz="1500" dirty="0">
                <a:solidFill>
                  <a:schemeClr val="tx1"/>
                </a:solidFill>
              </a:rPr>
              <a:t>Needs the full demand distribution, not just the point forecast</a:t>
            </a:r>
            <a:endParaRPr lang="en-US" sz="1500" dirty="0"/>
          </a:p>
          <a:p>
            <a:pPr marL="342900" indent="-342900">
              <a:spcAft>
                <a:spcPts val="800"/>
              </a:spcAft>
              <a:buSzPct val="100000"/>
              <a:buChar char="•"/>
            </a:pPr>
            <a:r>
              <a:rPr lang="en-US" sz="1500" b="1" dirty="0">
                <a:solidFill>
                  <a:schemeClr val="tx1"/>
                </a:solidFill>
              </a:rPr>
              <a:t>Our test: more accurate forecasts earned significantly more only at an 80% margin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v2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Opens the local copy" history="1" highlightClick="0" endSnd="0">
                  <a:extLst>
                    <a:ext uri="{A12FA001-AC4F-418D-AE19-62706E023703}">
                      <ahyp:hlinkClr xmlns:ahyp="http://schemas.microsoft.com/office/drawing/2018/hyperlinkcolor" val="tx"/>
                    </a:ext>
                  </a:extLst>
                </a:hlinkClick>
              </a:rPr>
              <a:t>Offline copy (docs/index.html)</a:t>
            </a:r>
            <a:endParaRPr lang="en-US" sz="1300" dirty="0"/>
          </a:p>
        </p:txBody>
      </p:sp>
      <p:sp>
        <p:nvSpPr>
          <p:cNvPr id="6" name="Forecast explorer: pick a series and models circle"/>
          <p:cNvSpPr/>
          <p:nvPr/>
        </p:nvSpPr>
        <p:spPr>
          <a:xfrm>
            <a:off x="7680960" y="1508760"/>
            <a:ext cx="685800" cy="685800"/>
          </a:xfrm>
          <a:prstGeom prst="ellipse">
            <a:avLst/>
          </a:prstGeom>
          <a:solidFill>
            <a:srgbClr val="1B2A41"/>
          </a:solidFill>
          <a:ln w="12700">
            <a:solidFill>
              <a:srgbClr val="1B2A41"/>
            </a:solidFill>
            <a:prstDash val="solid"/>
          </a:ln>
        </p:spPr>
      </p:sp>
      <p:pic>
        <p:nvPicPr>
          <p:cNvPr id="7" name="Forecast explorer: pick a series and models icon" descr="preencoded.png">    </p:cNvPr>
          <p:cNvPicPr>
            <a:picLocks noChangeAspect="1"/>
          </p:cNvPicPr>
          <p:nvPr/>
        </p:nvPicPr>
        <p:blipFill>
          <a:blip r:embed="rId5"/>
          <a:stretch>
            <a:fillRect/>
          </a:stretch>
        </p:blipFill>
        <p:spPr>
          <a:xfrm>
            <a:off x="7845552" y="1673352"/>
            <a:ext cx="356616" cy="356616"/>
          </a:xfrm>
          <a:prstGeom prst="rect">
            <a:avLst/>
          </a:prstGeom>
        </p:spPr>
      </p:pic>
      <p:sp>
        <p:nvSpPr>
          <p:cNvPr id="8" name="Text 4"/>
          <p:cNvSpPr txBox="1"/>
          <p:nvPr/>
        </p:nvSpPr>
        <p:spPr>
          <a:xfrm>
            <a:off x="8549640" y="1417320"/>
            <a:ext cx="3108960" cy="502920"/>
          </a:xfrm>
          <a:prstGeom prst="rect">
            <a:avLst/>
          </a:prstGeom>
          <a:noFill/>
          <a:ln/>
        </p:spPr>
        <p:txBody>
          <a:bodyPr wrap="square" lIns="0" tIns="0" rIns="0" bIns="0" rtlCol="0" anchor="b"/>
          <a:lstStyle/>
          <a:p>
            <a:pPr indent="0" marL="0">
              <a:buNone/>
            </a:pPr>
            <a:r>
              <a:rPr lang="en-US" sz="1600" b="1" dirty="0">
                <a:solidFill>
                  <a:schemeClr val="tx2"/>
                </a:solidFill>
              </a:rPr>
              <a:t>1. Forecast explorer: pick a series and models</a:t>
            </a:r>
            <a:endParaRPr lang="en-US" sz="1600" dirty="0"/>
          </a:p>
        </p:txBody>
      </p:sp>
      <p:sp>
        <p:nvSpPr>
          <p:cNvPr id="9" name="Text 5"/>
          <p:cNvSpPr txBox="1"/>
          <p:nvPr/>
        </p:nvSpPr>
        <p:spPr>
          <a:xfrm>
            <a:off x="8549640" y="1965960"/>
            <a:ext cx="3108960" cy="640080"/>
          </a:xfrm>
          <a:prstGeom prst="rect">
            <a:avLst/>
          </a:prstGeom>
          <a:noFill/>
          <a:ln/>
        </p:spPr>
        <p:txBody>
          <a:bodyPr wrap="square" lIns="0" tIns="0" rIns="0" bIns="0" rtlCol="0" anchor="t"/>
          <a:lstStyle/>
          <a:p>
            <a:pPr indent="0" marL="0">
              <a:buNone/>
            </a:pPr>
            <a:r>
              <a:rPr lang="en-US" sz="1400" dirty="0">
                <a:solidFill>
                  <a:schemeClr val="tx1"/>
                </a:solidFill>
              </a:rPr>
              <a:t>Replay forecasts against what actually sold</a:t>
            </a:r>
            <a:endParaRPr lang="en-US" sz="1400" dirty="0"/>
          </a:p>
        </p:txBody>
      </p:sp>
      <p:sp>
        <p:nvSpPr>
          <p:cNvPr id="10" name="Order planner: change the margin circle"/>
          <p:cNvSpPr/>
          <p:nvPr/>
        </p:nvSpPr>
        <p:spPr>
          <a:xfrm>
            <a:off x="7680960" y="2834640"/>
            <a:ext cx="685800" cy="685800"/>
          </a:xfrm>
          <a:prstGeom prst="ellipse">
            <a:avLst/>
          </a:prstGeom>
          <a:solidFill>
            <a:srgbClr val="1B2A41"/>
          </a:solidFill>
          <a:ln w="12700">
            <a:solidFill>
              <a:srgbClr val="1B2A41"/>
            </a:solidFill>
            <a:prstDash val="solid"/>
          </a:ln>
        </p:spPr>
      </p:sp>
      <p:pic>
        <p:nvPicPr>
          <p:cNvPr id="11" name="Order planner: change the margin icon" descr="preencoded.png">    </p:cNvPr>
          <p:cNvPicPr>
            <a:picLocks noChangeAspect="1"/>
          </p:cNvPicPr>
          <p:nvPr/>
        </p:nvPicPr>
        <p:blipFill>
          <a:blip r:embed="rId6"/>
          <a:stretch>
            <a:fillRect/>
          </a:stretch>
        </p:blipFill>
        <p:spPr>
          <a:xfrm>
            <a:off x="7845552" y="2999232"/>
            <a:ext cx="356616" cy="356616"/>
          </a:xfrm>
          <a:prstGeom prst="rect">
            <a:avLst/>
          </a:prstGeom>
        </p:spPr>
      </p:pic>
      <p:sp>
        <p:nvSpPr>
          <p:cNvPr id="12" name="Text 7"/>
          <p:cNvSpPr txBox="1"/>
          <p:nvPr/>
        </p:nvSpPr>
        <p:spPr>
          <a:xfrm>
            <a:off x="8549640" y="2743200"/>
            <a:ext cx="3108960" cy="502920"/>
          </a:xfrm>
          <a:prstGeom prst="rect">
            <a:avLst/>
          </a:prstGeom>
          <a:noFill/>
          <a:ln/>
        </p:spPr>
        <p:txBody>
          <a:bodyPr wrap="square" lIns="0" tIns="0" rIns="0" bIns="0" rtlCol="0" anchor="b"/>
          <a:lstStyle/>
          <a:p>
            <a:pPr indent="0" marL="0">
              <a:buNone/>
            </a:pPr>
            <a:r>
              <a:rPr lang="en-US" sz="1600" b="1" dirty="0">
                <a:solidFill>
                  <a:schemeClr val="tx2"/>
                </a:solidFill>
              </a:rPr>
              <a:t>2. Order planner: change the margin</a:t>
            </a:r>
            <a:endParaRPr lang="en-US" sz="1600" dirty="0"/>
          </a:p>
        </p:txBody>
      </p:sp>
      <p:sp>
        <p:nvSpPr>
          <p:cNvPr id="13" name="Text 8"/>
          <p:cNvSpPr txBox="1"/>
          <p:nvPr/>
        </p:nvSpPr>
        <p:spPr>
          <a:xfrm>
            <a:off x="8549640" y="3291840"/>
            <a:ext cx="3108960" cy="640080"/>
          </a:xfrm>
          <a:prstGeom prst="rect">
            <a:avLst/>
          </a:prstGeom>
          <a:noFill/>
          <a:ln/>
        </p:spPr>
        <p:txBody>
          <a:bodyPr wrap="square" lIns="0" tIns="0" rIns="0" bIns="0" rtlCol="0" anchor="t"/>
          <a:lstStyle/>
          <a:p>
            <a:pPr indent="0" marL="0">
              <a:buNone/>
            </a:pPr>
            <a:r>
              <a:rPr lang="en-US" sz="1400" dirty="0">
                <a:solidFill>
                  <a:schemeClr val="tx1"/>
                </a:solidFill>
              </a:rPr>
              <a:t>Same forecast; the order moves from P20 to P80</a:t>
            </a:r>
            <a:endParaRPr lang="en-US" sz="1400" dirty="0"/>
          </a:p>
        </p:txBody>
      </p:sp>
      <p:sp>
        <p:nvSpPr>
          <p:cNvPr id="14" name="Profit scored with actual sales circle"/>
          <p:cNvSpPr/>
          <p:nvPr/>
        </p:nvSpPr>
        <p:spPr>
          <a:xfrm>
            <a:off x="7680960" y="4160520"/>
            <a:ext cx="685800" cy="685800"/>
          </a:xfrm>
          <a:prstGeom prst="ellipse">
            <a:avLst/>
          </a:prstGeom>
          <a:solidFill>
            <a:srgbClr val="1B2A41"/>
          </a:solidFill>
          <a:ln w="12700">
            <a:solidFill>
              <a:srgbClr val="1B2A41"/>
            </a:solidFill>
            <a:prstDash val="solid"/>
          </a:ln>
        </p:spPr>
      </p:sp>
      <p:pic>
        <p:nvPicPr>
          <p:cNvPr id="15" name="Profit scored with actual sales icon" descr="preencoded.png">    </p:cNvPr>
          <p:cNvPicPr>
            <a:picLocks noChangeAspect="1"/>
          </p:cNvPicPr>
          <p:nvPr/>
        </p:nvPicPr>
        <p:blipFill>
          <a:blip r:embed="rId7"/>
          <a:stretch>
            <a:fillRect/>
          </a:stretch>
        </p:blipFill>
        <p:spPr>
          <a:xfrm>
            <a:off x="7845552" y="4325112"/>
            <a:ext cx="356616" cy="356616"/>
          </a:xfrm>
          <a:prstGeom prst="rect">
            <a:avLst/>
          </a:prstGeom>
        </p:spPr>
      </p:pic>
      <p:sp>
        <p:nvSpPr>
          <p:cNvPr id="16" name="Text 10"/>
          <p:cNvSpPr txBox="1"/>
          <p:nvPr/>
        </p:nvSpPr>
        <p:spPr>
          <a:xfrm>
            <a:off x="8549640" y="4069080"/>
            <a:ext cx="3108960" cy="502920"/>
          </a:xfrm>
          <a:prstGeom prst="rect">
            <a:avLst/>
          </a:prstGeom>
          <a:noFill/>
          <a:ln/>
        </p:spPr>
        <p:txBody>
          <a:bodyPr wrap="square" lIns="0" tIns="0" rIns="0" bIns="0" rtlCol="0" anchor="b"/>
          <a:lstStyle/>
          <a:p>
            <a:pPr indent="0" marL="0">
              <a:buNone/>
            </a:pPr>
            <a:r>
              <a:rPr lang="en-US" sz="1600" b="1" dirty="0">
                <a:solidFill>
                  <a:schemeClr val="tx2"/>
                </a:solidFill>
              </a:rPr>
              <a:t>3. Profit scored with actual sales</a:t>
            </a:r>
            <a:endParaRPr lang="en-US" sz="1600" dirty="0"/>
          </a:p>
        </p:txBody>
      </p:sp>
      <p:sp>
        <p:nvSpPr>
          <p:cNvPr id="17" name="Text 11"/>
          <p:cNvSpPr txBox="1"/>
          <p:nvPr/>
        </p:nvSpPr>
        <p:spPr>
          <a:xfrm>
            <a:off x="8549640" y="4617720"/>
            <a:ext cx="3108960" cy="640080"/>
          </a:xfrm>
          <a:prstGeom prst="rect">
            <a:avLst/>
          </a:prstGeom>
          <a:noFill/>
          <a:ln/>
        </p:spPr>
        <p:txBody>
          <a:bodyPr wrap="square" lIns="0" tIns="0" rIns="0" bIns="0" rtlCol="0" anchor="t"/>
          <a:lstStyle/>
          <a:p>
            <a:pPr indent="0" marL="0">
              <a:buNone/>
            </a:pPr>
            <a:r>
              <a:rPr lang="en-US" sz="1400" dirty="0">
                <a:solidFill>
                  <a:schemeClr val="tx1"/>
                </a:solidFill>
              </a:rPr>
              <a:t>Actuals are used only after the fact</a:t>
            </a:r>
            <a:endParaRPr lang="en-US" sz="1400" dirty="0"/>
          </a:p>
        </p:txBody>
      </p:sp>
      <p:sp>
        <p:nvSpPr>
          <p:cNvPr id="18" name="Text 12"/>
          <p:cNvSpPr txBox="1"/>
          <p:nvPr/>
        </p:nvSpPr>
        <p:spPr>
          <a:xfrm>
            <a:off x="7680960" y="5440680"/>
            <a:ext cx="3931920" cy="548640"/>
          </a:xfrm>
          <a:prstGeom prst="rect">
            <a:avLst/>
          </a:prstGeom>
          <a:noFill/>
          <a:ln/>
        </p:spPr>
        <p:txBody>
          <a:bodyPr wrap="square" lIns="0" tIns="0" rIns="0" bIns="0" rtlCol="0" anchor="t"/>
          <a:lstStyle/>
          <a:p>
            <a:pPr indent="0" marL="0">
              <a:buNone/>
            </a:pPr>
            <a:r>
              <a:rPr lang="en-US" sz="1200" i="1" dirty="0">
                <a:solidFill>
                  <a:srgbClr val="6B6A66"/>
                </a:solidFill>
              </a:rPr>
              <a:t>Click the screenshot or the link to switch to the browser; Cmd+Tab back to the slides. Backup: screen recording.</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Takeaways</a:t>
            </a:r>
            <a:endParaRPr lang="en-US" sz="3400" dirty="0"/>
          </a:p>
        </p:txBody>
      </p:sp>
      <p:sp>
        <p:nvSpPr>
          <p:cNvPr id="3" name="Traditional methods lead on accuracy: LightGBM, AutoETS and their average circle"/>
          <p:cNvSpPr/>
          <p:nvPr/>
        </p:nvSpPr>
        <p:spPr>
          <a:xfrm>
            <a:off x="731520" y="1417320"/>
            <a:ext cx="731520" cy="731520"/>
          </a:xfrm>
          <a:prstGeom prst="ellipse">
            <a:avLst/>
          </a:prstGeom>
          <a:solidFill>
            <a:srgbClr val="2A78D6"/>
          </a:solidFill>
          <a:ln w="12700">
            <a:solidFill>
              <a:srgbClr val="2A78D6"/>
            </a:solidFill>
            <a:prstDash val="solid"/>
          </a:ln>
        </p:spPr>
      </p:sp>
      <p:pic>
        <p:nvPicPr>
          <p:cNvPr id="4" name="Traditional methods lead on accuracy: LightGBM, AutoETS and their average icon" descr="preencoded.png">    </p:cNvPr>
          <p:cNvPicPr>
            <a:picLocks noChangeAspect="1"/>
          </p:cNvPicPr>
          <p:nvPr/>
        </p:nvPicPr>
        <p:blipFill>
          <a:blip r:embed="rId1"/>
          <a:stretch>
            <a:fillRect/>
          </a:stretch>
        </p:blipFill>
        <p:spPr>
          <a:xfrm>
            <a:off x="907085" y="1592885"/>
            <a:ext cx="380390" cy="380390"/>
          </a:xfrm>
          <a:prstGeom prst="rect">
            <a:avLst/>
          </a:prstGeom>
        </p:spPr>
      </p:pic>
      <p:sp>
        <p:nvSpPr>
          <p:cNvPr id="5" name="Text 2"/>
          <p:cNvSpPr txBox="1"/>
          <p:nvPr/>
        </p:nvSpPr>
        <p:spPr>
          <a:xfrm>
            <a:off x="1691640" y="141732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Traditional methods lead on accuracy: LightGBM, AutoETS and their average</a:t>
            </a:r>
            <a:endParaRPr lang="en-US" sz="2200" dirty="0"/>
          </a:p>
        </p:txBody>
      </p:sp>
      <p:sp>
        <p:nvSpPr>
          <p:cNvPr id="6" name="Chronos offers a large speed advantage, with weaker accuracy here circle"/>
          <p:cNvSpPr/>
          <p:nvPr/>
        </p:nvSpPr>
        <p:spPr>
          <a:xfrm>
            <a:off x="731520" y="2377440"/>
            <a:ext cx="731520" cy="731520"/>
          </a:xfrm>
          <a:prstGeom prst="ellipse">
            <a:avLst/>
          </a:prstGeom>
          <a:solidFill>
            <a:srgbClr val="EB6834"/>
          </a:solidFill>
          <a:ln w="12700">
            <a:solidFill>
              <a:srgbClr val="EB6834"/>
            </a:solidFill>
            <a:prstDash val="solid"/>
          </a:ln>
        </p:spPr>
      </p:sp>
      <p:pic>
        <p:nvPicPr>
          <p:cNvPr id="7" name="Chronos offers a large speed advantage, with weaker accuracy here icon" descr="preencoded.png">    </p:cNvPr>
          <p:cNvPicPr>
            <a:picLocks noChangeAspect="1"/>
          </p:cNvPicPr>
          <p:nvPr/>
        </p:nvPicPr>
        <p:blipFill>
          <a:blip r:embed="rId2"/>
          <a:stretch>
            <a:fillRect/>
          </a:stretch>
        </p:blipFill>
        <p:spPr>
          <a:xfrm>
            <a:off x="907085" y="2553005"/>
            <a:ext cx="380390" cy="380390"/>
          </a:xfrm>
          <a:prstGeom prst="rect">
            <a:avLst/>
          </a:prstGeom>
        </p:spPr>
      </p:pic>
      <p:sp>
        <p:nvSpPr>
          <p:cNvPr id="8" name="Text 4"/>
          <p:cNvSpPr txBox="1"/>
          <p:nvPr/>
        </p:nvSpPr>
        <p:spPr>
          <a:xfrm>
            <a:off x="1691640" y="237744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Chronos offers a large speed advantage, with weaker accuracy here</a:t>
            </a:r>
            <a:endParaRPr lang="en-US" sz="2200" dirty="0"/>
          </a:p>
        </p:txBody>
      </p:sp>
      <p:sp>
        <p:nvSpPr>
          <p:cNvPr id="9" name="Claude matched the best traditional approach on totals; evidence is limited circle"/>
          <p:cNvSpPr/>
          <p:nvPr/>
        </p:nvSpPr>
        <p:spPr>
          <a:xfrm>
            <a:off x="731520" y="3337560"/>
            <a:ext cx="731520" cy="731520"/>
          </a:xfrm>
          <a:prstGeom prst="ellipse">
            <a:avLst/>
          </a:prstGeom>
          <a:solidFill>
            <a:srgbClr val="4A3AA7"/>
          </a:solidFill>
          <a:ln w="12700">
            <a:solidFill>
              <a:srgbClr val="4A3AA7"/>
            </a:solidFill>
            <a:prstDash val="solid"/>
          </a:ln>
        </p:spPr>
      </p:sp>
      <p:pic>
        <p:nvPicPr>
          <p:cNvPr id="10" name="Claude matched the best traditional approach on totals; evidence is limited icon" descr="preencoded.png">    </p:cNvPr>
          <p:cNvPicPr>
            <a:picLocks noChangeAspect="1"/>
          </p:cNvPicPr>
          <p:nvPr/>
        </p:nvPicPr>
        <p:blipFill>
          <a:blip r:embed="rId3"/>
          <a:stretch>
            <a:fillRect/>
          </a:stretch>
        </p:blipFill>
        <p:spPr>
          <a:xfrm>
            <a:off x="907085" y="3513125"/>
            <a:ext cx="380390" cy="380390"/>
          </a:xfrm>
          <a:prstGeom prst="rect">
            <a:avLst/>
          </a:prstGeom>
        </p:spPr>
      </p:pic>
      <p:sp>
        <p:nvSpPr>
          <p:cNvPr id="11" name="Text 6"/>
          <p:cNvSpPr txBox="1"/>
          <p:nvPr/>
        </p:nvSpPr>
        <p:spPr>
          <a:xfrm>
            <a:off x="1691640" y="333756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Claude matched the best traditional approach on totals; evidence is limited</a:t>
            </a:r>
            <a:endParaRPr lang="en-US" sz="2200" dirty="0"/>
          </a:p>
        </p:txBody>
      </p:sp>
      <p:sp>
        <p:nvSpPr>
          <p:cNvPr id="12" name="Good replenishment depends on costs and uncertainty, not accuracy alone circle"/>
          <p:cNvSpPr/>
          <p:nvPr/>
        </p:nvSpPr>
        <p:spPr>
          <a:xfrm>
            <a:off x="731520" y="4297680"/>
            <a:ext cx="731520" cy="731520"/>
          </a:xfrm>
          <a:prstGeom prst="ellipse">
            <a:avLst/>
          </a:prstGeom>
          <a:solidFill>
            <a:srgbClr val="F2B33D"/>
          </a:solidFill>
          <a:ln w="12700">
            <a:solidFill>
              <a:srgbClr val="F2B33D"/>
            </a:solidFill>
            <a:prstDash val="solid"/>
          </a:ln>
        </p:spPr>
      </p:sp>
      <p:pic>
        <p:nvPicPr>
          <p:cNvPr id="13" name="Good replenishment depends on costs and uncertainty, not accuracy alone icon" descr="preencoded.png">    </p:cNvPr>
          <p:cNvPicPr>
            <a:picLocks noChangeAspect="1"/>
          </p:cNvPicPr>
          <p:nvPr/>
        </p:nvPicPr>
        <p:blipFill>
          <a:blip r:embed="rId4"/>
          <a:stretch>
            <a:fillRect/>
          </a:stretch>
        </p:blipFill>
        <p:spPr>
          <a:xfrm>
            <a:off x="907085" y="4473245"/>
            <a:ext cx="380390" cy="380390"/>
          </a:xfrm>
          <a:prstGeom prst="rect">
            <a:avLst/>
          </a:prstGeom>
        </p:spPr>
      </p:pic>
      <p:sp>
        <p:nvSpPr>
          <p:cNvPr id="14" name="Text 8"/>
          <p:cNvSpPr txBox="1"/>
          <p:nvPr/>
        </p:nvSpPr>
        <p:spPr>
          <a:xfrm>
            <a:off x="1691640" y="429768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Good replenishment depends on costs and uncertainty, not accuracy alone</a:t>
            </a:r>
            <a:endParaRPr lang="en-US" sz="2200" dirty="0"/>
          </a:p>
        </p:txBody>
      </p:sp>
      <p:sp>
        <p:nvSpPr>
          <p:cNvPr id="15" name="Text 9"/>
          <p:cNvSpPr txBox="1"/>
          <p:nvPr/>
        </p:nvSpPr>
        <p:spPr>
          <a:xfrm>
            <a:off x="731520" y="5486400"/>
            <a:ext cx="10058400" cy="640080"/>
          </a:xfrm>
          <a:prstGeom prst="rect">
            <a:avLst/>
          </a:prstGeom>
          <a:noFill/>
          <a:ln/>
        </p:spPr>
        <p:txBody>
          <a:bodyPr wrap="square" lIns="0" tIns="0" rIns="0" bIns="0" rtlCol="0" anchor="ctr"/>
          <a:lstStyle/>
          <a:p>
            <a:pPr indent="0" marL="0">
              <a:buNone/>
            </a:pPr>
            <a:r>
              <a:rPr lang="en-US" sz="3000" b="1" dirty="0">
                <a:solidFill>
                  <a:srgbClr val="F2B33D"/>
                </a:solidFill>
                <a:latin typeface="Cambria" pitchFamily="34" charset="0"/>
                <a:ea typeface="Cambria" pitchFamily="34" charset="-122"/>
                <a:cs typeface="Cambria" pitchFamily="34" charset="-120"/>
              </a:rPr>
              <a:t>Thank you — questions?</a:t>
            </a: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2026-10-21T05:00:00Z</dcterms:created>
  <dcterms:modified xsi:type="dcterms:W3CDTF">2026-10-21T05:00:00Z</dcterms:modified>
</cp:coreProperties>
</file>