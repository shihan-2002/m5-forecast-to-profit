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c087666b-7c0e-a4d9-07ae-e1b01e445943}">
          <p14:sldIdLst>
            <p14:sldId id="256"/>
            <p14:sldId id="257"/>
          </p14:sldIdLst>
        </p14:section>
        <p14:section name="Models and results" id="{64eb1f95-21db-e24a-42a3-0b770329c524}">
          <p14:sldIdLst>
            <p14:sldId id="258"/>
            <p14:sldId id="259"/>
            <p14:sldId id="260"/>
          </p14:sldIdLst>
        </p14:section>
        <p14:section name="LLM experiment" id="{d924980a-6fcb-c937-4966-9e9bb5fb680b}">
          <p14:sldIdLst>
            <p14:sldId id="261"/>
            <p14:sldId id="262"/>
          </p14:sldIdLst>
        </p14:section>
        <p14:section name="Answer and demo" id="{20b0d37f-7379-6074-1e0b-d46f4453a8c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comparison: traditional models against AI, on four questions. A quick guide first. RMSSE compares a model's errors with a naive "same as yesterday" forecast for the same product, and WRMSSE combines that score across all products, weighted by dollar sales. The store-totals column is the average daily percentage error. In every accuracy column, smaller is better. So, who is most accurate overall? A traditional model: the simple average of AutoETS and LightGBM, with LightGBM alone in second. Who forecasts store totals best? Again, the traditional models. For single products, it's close, and the AI is level with LightGBM. Finally, speed. The time column shows how long each model takes to produce the whole forecast for all 5,748 products, training included. Here the AI, Chronos, wins by far: seconds instead of minutes, because it needs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AutoARIMA's best guess is a flat line, and thousands of flat lines added up miss the weekend. Chronos does follow each product's own weekly pattern, which is why its shape is right. But it aims at the typical day, and for products that often sell nothing, the typical day is below the average, so it under-forecasts the sparse products most and the total ends up about 11% low.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349240"/>
            <a:ext cx="11064240" cy="960120"/>
          </a:xfrm>
          <a:prstGeom prst="roundRect">
            <a:avLst>
              <a:gd name="adj" fmla="val 11429"/>
            </a:avLst>
          </a:prstGeom>
          <a:solidFill>
            <a:schemeClr val="bg2"/>
          </a:solidFill>
          <a:ln w="12700">
            <a:solidFill>
              <a:schemeClr val="bg2"/>
            </a:solidFill>
            <a:prstDash val="solid"/>
          </a:ln>
        </p:spPr>
      </p:sp>
      <p:sp>
        <p:nvSpPr>
          <p:cNvPr id="6" name="Text 3"/>
          <p:cNvSpPr txBox="1"/>
          <p:nvPr/>
        </p:nvSpPr>
        <p:spPr>
          <a:xfrm>
            <a:off x="822960" y="5349240"/>
            <a:ext cx="10607040" cy="960120"/>
          </a:xfrm>
          <a:prstGeom prst="rect">
            <a:avLst/>
          </a:prstGeom>
          <a:noFill/>
          <a:ln/>
        </p:spPr>
        <p:txBody>
          <a:bodyPr wrap="square" lIns="0" tIns="0" rIns="0" bIns="0" rtlCol="0" anchor="ctr"/>
          <a:lstStyle/>
          <a:p>
            <a:pPr indent="0" marL="0">
              <a:spcAft>
                <a:spcPts val="400"/>
              </a:spcAft>
              <a:buNone/>
            </a:pPr>
            <a:r>
              <a:rPr lang="en-US" sz="1400" b="1" dirty="0">
                <a:solidFill>
                  <a:srgbClr val="1F2328"/>
                </a:solidFill>
              </a:rPr>
              <a:t>How to read: </a:t>
            </a:r>
            <a:pPr indent="0" marL="0">
              <a:spcAft>
                <a:spcPts val="400"/>
              </a:spcAft>
              <a:buNone/>
            </a:pPr>
            <a:r>
              <a:rPr lang="en-US" sz="1400" dirty="0">
                <a:solidFill>
                  <a:schemeClr val="tx1"/>
                </a:solidFill>
              </a:rPr>
              <a:t>RMSSE = error vs a naive “same as yesterday” forecast; WRMSSE = RMSSE weighted by dollar sales. Smaller is better.</a:t>
            </a:r>
            <a:endParaRPr lang="en-US" sz="1400" dirty="0"/>
          </a:p>
          <a:p>
            <a:pPr indent="0" marL="0">
              <a:spcAft>
                <a:spcPts val="400"/>
              </a:spcAft>
              <a:buNone/>
            </a:pPr>
            <a:r>
              <a:rPr lang="en-US" sz="1400" b="1" dirty="0">
                <a:solidFill>
                  <a:srgbClr val="0F5C73"/>
                </a:solidFill>
              </a:rPr>
              <a:t>Best traditional choice: </a:t>
            </a:r>
            <a:pPr indent="0" marL="0">
              <a:spcAft>
                <a:spcPts val="400"/>
              </a:spcAft>
              <a:buNone/>
            </a:pPr>
            <a:r>
              <a:rPr lang="en-US" sz="1400" dirty="0">
                <a:solidFill>
                  <a:schemeClr val="tx1"/>
                </a:solidFill>
              </a:rPr>
              <a:t>the AutoETS + LightGBM average, for accuracy.   </a:t>
            </a:r>
            <a:pPr indent="0" marL="0">
              <a:spcAft>
                <a:spcPts val="400"/>
              </a:spcAft>
              <a:buNone/>
            </a:pPr>
            <a:r>
              <a:rPr lang="en-US" sz="1400" b="1" dirty="0">
                <a:solidFill>
                  <a:srgbClr val="EB6834"/>
                </a:solidFill>
              </a:rPr>
              <a:t>Best AI strength: </a:t>
            </a:r>
            <a:pPr indent="0" marL="0">
              <a:spcAft>
                <a:spcPts val="400"/>
              </a:spcAft>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2026-10-22T03:40:36Z</dcterms:created>
  <dcterms:modified xsi:type="dcterms:W3CDTF">2026-10-22T03:40:36Z</dcterms:modified>
</cp:coreProperties>
</file>