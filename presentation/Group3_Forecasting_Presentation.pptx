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6be08b0c-fdf9-ffad-3469-4dbab72cf1af}">
          <p14:sldIdLst>
            <p14:sldId id="256"/>
            <p14:sldId id="257"/>
          </p14:sldIdLst>
        </p14:section>
        <p14:section name="Models and results" id="{ab43614c-e6af-46e7-8b64-fb16f373edf0}">
          <p14:sldIdLst>
            <p14:sldId id="258"/>
            <p14:sldId id="259"/>
            <p14:sldId id="260"/>
          </p14:sldIdLst>
        </p14:section>
        <p14:section name="LLM experiment" id="{a3e5d349-1943-d36c-3b7a-d3cbcd44258c}">
          <p14:sldIdLst>
            <p14:sldId id="261"/>
            <p14:sldId id="262"/>
          </p14:sldIdLst>
        </p14:section>
        <p14:section name="Answer and demo" id="{68b7dc48-da5b-00b9-4441-e6b4688efde8}">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WRMSSE, all 5,748 series (lower is better)</a:t>
            </a:r>
          </a:p>
        </c:rich>
      </c:tx>
      <c:layout/>
      <c:overlay val="0"/>
    </c:title>
    <c:autoTitleDeleted val="0"/>
    <c:plotArea>
      <c:layout/>
      <c:barChart>
        <c:barDir val="bar"/>
        <c:grouping val="stacked"/>
        <c:varyColors val="0"/>
        <c:ser>
          <c:idx val="0"/>
          <c:order val="0"/>
          <c:tx>
            <c:strRef>
              <c:f>Sheet1!$B$1</c:f>
              <c:strCache>
                <c:ptCount val="1"/>
                <c:pt idx="0">
                  <c:v>0F5C73</c:v>
                </c:pt>
              </c:strCache>
            </c:strRef>
          </c:tx>
          <c:spPr>
            <a:solidFill>
              <a:srgbClr val="0F5C7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Sheet1!$B$2:$B$7</c:f>
              <c:numCache>
                <c:formatCode>General</c:formatCode>
                <c:ptCount val="6"/>
                <c:pt idx="0">
                  <c:v>0.604</c:v>
                </c:pt>
                <c:pt idx="1">
                  <c:v>0</c:v>
                </c:pt>
                <c:pt idx="2">
                  <c:v>0</c:v>
                </c:pt>
                <c:pt idx="3">
                  <c:v>0</c:v>
                </c:pt>
                <c:pt idx="4">
                  <c:v>0</c:v>
                </c:pt>
                <c:pt idx="5">
                  <c:v>0</c:v>
                </c:pt>
              </c:numCache>
            </c:numRef>
          </c:val>
        </c:ser>
        <c:ser>
          <c:idx val="1"/>
          <c:order val="1"/>
          <c:tx>
            <c:strRef>
              <c:f>Sheet1!$C$1</c:f>
              <c:strCache>
                <c:ptCount val="1"/>
                <c:pt idx="0">
                  <c:v>2A78D6</c:v>
                </c:pt>
              </c:strCache>
            </c:strRef>
          </c:tx>
          <c:spPr>
            <a:solidFill>
              <a:srgbClr val="2A78D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Sheet1!$C$2:$C$7</c:f>
              <c:numCache>
                <c:formatCode>General</c:formatCode>
                <c:ptCount val="6"/>
                <c:pt idx="0">
                  <c:v>0</c:v>
                </c:pt>
                <c:pt idx="1">
                  <c:v>0.646</c:v>
                </c:pt>
                <c:pt idx="2">
                  <c:v>0</c:v>
                </c:pt>
                <c:pt idx="3">
                  <c:v>0</c:v>
                </c:pt>
                <c:pt idx="4">
                  <c:v>0</c:v>
                </c:pt>
                <c:pt idx="5">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Sheet1!$D$2:$D$7</c:f>
              <c:numCache>
                <c:formatCode>General</c:formatCode>
                <c:ptCount val="6"/>
                <c:pt idx="0">
                  <c:v>0</c:v>
                </c:pt>
                <c:pt idx="1">
                  <c:v>0</c:v>
                </c:pt>
                <c:pt idx="2">
                  <c:v>0.661</c:v>
                </c:pt>
                <c:pt idx="3">
                  <c:v>0</c:v>
                </c:pt>
                <c:pt idx="4">
                  <c:v>0</c:v>
                </c:pt>
                <c:pt idx="5">
                  <c:v>0</c:v>
                </c:pt>
              </c:numCache>
            </c:numRef>
          </c:val>
        </c:ser>
        <c:ser>
          <c:idx val="3"/>
          <c:order val="3"/>
          <c:tx>
            <c:strRef>
              <c:f>Sheet1!$E$1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Sheet1!$E$2:$E$7</c:f>
              <c:numCache>
                <c:formatCode>General</c:formatCode>
                <c:ptCount val="6"/>
                <c:pt idx="0">
                  <c:v>0</c:v>
                </c:pt>
                <c:pt idx="1">
                  <c:v>0</c:v>
                </c:pt>
                <c:pt idx="2">
                  <c:v>0</c:v>
                </c:pt>
                <c:pt idx="3">
                  <c:v>0.814</c:v>
                </c:pt>
                <c:pt idx="4">
                  <c:v>0</c:v>
                </c:pt>
                <c:pt idx="5">
                  <c:v>0</c:v>
                </c:pt>
              </c:numCache>
            </c:numRef>
          </c:val>
        </c:ser>
        <c:ser>
          <c:idx val="4"/>
          <c:order val="4"/>
          <c:tx>
            <c:strRef>
              <c:f>Sheet1!$F$1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Sheet1!$F$2:$F$7</c:f>
              <c:numCache>
                <c:formatCode>General</c:formatCode>
                <c:ptCount val="6"/>
                <c:pt idx="0">
                  <c:v>0</c:v>
                </c:pt>
                <c:pt idx="1">
                  <c:v>0</c:v>
                </c:pt>
                <c:pt idx="2">
                  <c:v>0</c:v>
                </c:pt>
                <c:pt idx="3">
                  <c:v>0</c:v>
                </c:pt>
                <c:pt idx="4">
                  <c:v>0.892</c:v>
                </c:pt>
                <c:pt idx="5">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Sheet1!$G$2:$G$7</c:f>
              <c:numCache>
                <c:formatCode>General</c:formatCode>
                <c:ptCount val="6"/>
                <c:pt idx="0">
                  <c:v>0</c:v>
                </c:pt>
                <c:pt idx="1">
                  <c:v>0</c:v>
                </c:pt>
                <c:pt idx="2">
                  <c:v>0</c:v>
                </c:pt>
                <c:pt idx="3">
                  <c:v>0</c:v>
                </c:pt>
                <c:pt idx="4">
                  <c:v>0</c:v>
                </c:pt>
                <c:pt idx="5">
                  <c:v>0.949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Error by level: summed over many items (left) to one item in one store (right)</a:t>
            </a:r>
          </a:p>
        </c:rich>
      </c:tx>
      <c:layout/>
      <c:overlay val="0"/>
    </c:title>
    <c:autoTitleDeleted val="0"/>
    <c:plotArea>
      <c:layout/>
      <c:lineChart>
        <c:varyColors val="0"/>
        <c:ser>
          <c:idx val="0"/>
          <c:order val="0"/>
          <c:tx>
            <c:strRef>
              <c:f>Sheet1!$B$1</c:f>
              <c:strCache>
                <c:ptCount val="1"/>
                <c:pt idx="0">
                  <c:v>LightGBM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Sheet1!$B$2:$B$7</c:f>
              <c:numCache>
                <c:formatCode>General</c:formatCode>
                <c:ptCount val="6"/>
                <c:pt idx="0">
                  <c:v>0.332</c:v>
                </c:pt>
                <c:pt idx="1">
                  <c:v>0.505</c:v>
                </c:pt>
                <c:pt idx="2">
                  <c:v>0.463</c:v>
                </c:pt>
                <c:pt idx="3">
                  <c:v>0.628</c:v>
                </c:pt>
                <c:pt idx="4">
                  <c:v>1.024</c:v>
                </c:pt>
                <c:pt idx="5">
                  <c:v>0.923</c:v>
                </c:pt>
              </c:numCache>
            </c:numRef>
          </c:val>
          <c:smooth val="0"/>
        </c:ser>
        <c:ser>
          <c:idx val="1"/>
          <c:order val="1"/>
          <c:tx>
            <c:strRef>
              <c:f>Sheet1!$C$1</c:f>
              <c:strCache>
                <c:ptCount val="1"/>
                <c:pt idx="0">
                  <c:v>AutoETS</c:v>
                </c:pt>
              </c:strCache>
            </c:strRef>
          </c:tx>
          <c:spPr>
            <a:solidFill>
              <a:srgbClr val="D55181"/>
            </a:solidFill>
            <a:ln w="25400" cap="flat">
              <a:solidFill>
                <a:srgbClr val="D5518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D55181"/>
              </a:solidFill>
              <a:ln w="9525" cap="flat">
                <a:solidFill>
                  <a:srgbClr val="D55181"/>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Sheet1!$C$2:$C$7</c:f>
              <c:numCache>
                <c:formatCode>General</c:formatCode>
                <c:ptCount val="6"/>
                <c:pt idx="0">
                  <c:v>0.383</c:v>
                </c:pt>
                <c:pt idx="1">
                  <c:v>0.48</c:v>
                </c:pt>
                <c:pt idx="2">
                  <c:v>0.504</c:v>
                </c:pt>
                <c:pt idx="3">
                  <c:v>0.637</c:v>
                </c:pt>
                <c:pt idx="4">
                  <c:v>1.035</c:v>
                </c:pt>
                <c:pt idx="5">
                  <c:v>0.926</c:v>
                </c:pt>
              </c:numCache>
            </c:numRef>
          </c:val>
          <c:smooth val="0"/>
        </c:ser>
        <c:ser>
          <c:idx val="2"/>
          <c:order val="2"/>
          <c:tx>
            <c:strRef>
              <c:f>Sheet1!$D$1</c:f>
              <c:strCache>
                <c:ptCount val="1"/>
                <c:pt idx="0">
                  <c:v>AutoARIMA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Sheet1!$D$2:$D$7</c:f>
              <c:numCache>
                <c:formatCode>General</c:formatCode>
                <c:ptCount val="6"/>
                <c:pt idx="0">
                  <c:v>0.79</c:v>
                </c:pt>
                <c:pt idx="1">
                  <c:v>0.813</c:v>
                </c:pt>
                <c:pt idx="2">
                  <c:v>0.855</c:v>
                </c:pt>
                <c:pt idx="3">
                  <c:v>0.9</c:v>
                </c:pt>
                <c:pt idx="4">
                  <c:v>1.057</c:v>
                </c:pt>
                <c:pt idx="5">
                  <c:v>0.936</c:v>
                </c:pt>
              </c:numCache>
            </c:numRef>
          </c:val>
          <c:smooth val="0"/>
        </c:ser>
        <c:ser>
          <c:idx val="3"/>
          <c:order val="3"/>
          <c:tx>
            <c:strRef>
              <c:f>Sheet1!$E$1</c:f>
              <c:strCache>
                <c:ptCount val="1"/>
                <c:pt idx="0">
                  <c:v>Chronos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Sheet1!$E$2:$E$7</c:f>
              <c:numCache>
                <c:formatCode>General</c:formatCode>
                <c:ptCount val="6"/>
                <c:pt idx="0">
                  <c:v>0.899</c:v>
                </c:pt>
                <c:pt idx="1">
                  <c:v>0.931</c:v>
                </c:pt>
                <c:pt idx="2">
                  <c:v>0.931</c:v>
                </c:pt>
                <c:pt idx="3">
                  <c:v>0.969</c:v>
                </c:pt>
                <c:pt idx="4">
                  <c:v>1.042</c:v>
                </c:pt>
                <c:pt idx="5">
                  <c:v>0.923</c:v>
                </c:pt>
              </c:numCache>
            </c:numRef>
          </c:val>
          <c:smooth val="0"/>
        </c:ser>
        <c:ser>
          <c:idx val="4"/>
          <c:order val="4"/>
          <c:tx>
            <c:strRef>
              <c:f>Sheet1!$F$1</c:f>
              <c:strCache>
                <c:ptCount val="1"/>
                <c:pt idx="0">
                  <c:v>Seasonal naive</c:v>
                </c:pt>
              </c:strCache>
            </c:strRef>
          </c:tx>
          <c:spPr>
            <a:solidFill>
              <a:srgbClr val="9A9993"/>
            </a:solidFill>
            <a:ln w="25400" cap="flat">
              <a:solidFill>
                <a:srgbClr val="9A999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9A9993"/>
              </a:solidFill>
              <a:ln w="9525" cap="flat">
                <a:solidFill>
                  <a:srgbClr val="9A9993"/>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Sheet1!$F$2:$F$7</c:f>
              <c:numCache>
                <c:formatCode>General</c:formatCode>
                <c:ptCount val="6"/>
                <c:pt idx="0">
                  <c:v>0.511</c:v>
                </c:pt>
                <c:pt idx="1">
                  <c:v>0.598</c:v>
                </c:pt>
                <c:pt idx="2">
                  <c:v>0.627</c:v>
                </c:pt>
                <c:pt idx="3">
                  <c:v>0.739</c:v>
                </c:pt>
                <c:pt idx="4">
                  <c:v>1.244</c:v>
                </c:pt>
                <c:pt idx="5">
                  <c:v>1.167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3"/>
          <c:min val="0.2"/>
        </c:scaling>
        <c:delete val="0"/>
        <c:axPos val="l"/>
        <c:majorGridlines>
          <c:spPr>
            <a:ln w="6350" cap="flat">
              <a:solidFill>
                <a:srgbClr val="D9DCE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M5 winner's approach: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the Chronos paper lists M5 as a held-out test set, so this is a true zero-shot test. Seasonal naive, 'same weekday last week', is the benchmark.
We also test the simplest possible combination: an unweighted average of AutoETS and LightGBM. Note that the inputs differ: only LightGBM sees prices and the calendar.
TRANSITION: So how accurate were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Here's the first surprise. Among single models, the M5 champion still wins: LightGBM is the most accurate. But a far simpler statistical model, AutoETS, finishes almost level with it, just 2% behind. And the best forecast came from neither of them on its own: we simply averaged the two, with no tuning at all, and that average beat every model, at 0.604.
Why does that work? The two models get things wrong in different ways. AutoETS follows each product's own rhythm; LightGBM learns what all products have in common. Averaging them cancels part of each one's mistakes. Our teammate's Shelf Signal study found exactly the same thing on a different store.
And the pre-trained AI, Chronos, sits at the bottom of this chart, behind even the simple benchmark. (OPTIONAL) Though by a different measure, average error per item, it is actually the best; it just forecasts too low overall, and this metric punishes errors that add up.
POINT AT: the top bar (0.604), then the Chronos bar at the bottom.
TRANSITION: But one overall score hides where those differences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(1:10)
So where does that gap come from? Look at the left side of this chart: whole stores and departments. Here LightGBM and AutoETS are far ahead, because they see the weekend rush. AutoARIMA and Chronos forecast one product at a time, and for a product that sells one or two units a day, their best guess is a flat line. Add up thousands of flat lines, and you miss every Saturday.
Now look at the right side: a single product in a single store. Here the lines come together. For one product, picking the best model is close to a coin flip, because one product's daily sales are mostly noise. Close isn't a proven tie, but no model stands out.
And this is where the AI shines: speed. Chronos produces all 5,748 forecasts in about ten seconds, with no training. LightGBM and AutoETS need about a minute and a half; AutoARIMA needs 39 minutes.
TRANSITION: So a specialist AI is fast.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As an experiment, we also tried Claude, a general-purpose language model. Our code sends each product's last year of sales to Claude through its API, as text, one row per day, with the same calendar and price information LightGBM sees, and it returns a 28-day forecast with a short explanation. Running all 5,748 series would cost hundreds of dollars, so we tested a subset: 100 random items and the 12 store-by-department totals, for $13.54, and compared every model on exactly those series.
On the totals, Claude scored 0.58, level with the AutoETS-plus-LightGBM average and better than any single model. So it matched the best traditional approach, but did not beat it. On the 100 items, Claude came third, behind AutoETS and AutoARIMA.
For fairness, we also fitted the other models directly on the totals instead of summing item forecasts, and that mattered: AutoARIMA improved from 0.90 to 0.64 and Chronos from 0.97 to 0.64. How you build a total matters as much as which model you use.
How is Claude different from Chronos? Both are pre-trained and need no training on our data. But Chronos was trained on numbers, returns quantiles in seconds for free, and gives the same answer every time. Claude was trained on text, reads our data as text, explains itself, costs about six cents per forecast, and may answer slightly differently on a rerun.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(0:55)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unusable answers: a language model might not reply with exactly 28 clean numbers. We made it answer in a fixed format and checked every reply, and all 224 requests, 112 series each run twice, came back usable.
But be clear about the limit: the blind test reduces identity cues; it cannot guarantee contamination is excluded, because the sales pattern itself could still be recognised.
BACKGROUND (not to read aloud): Our code asked Claude for 28 daily forecasts in a fixed JSON format, one number per day. The risk is that a chatbot answers with prose, skips days or adds extras, which a program can't use. We required that format, checked each reply had exactly 28 days, and retried automatically if a reply failed the check. '224 requests' = 112 series (12 store x department totals + 100 items) x 2 versions (named and blind). All 224 came back usable. If asked: every reply is saved in our repo, so anyone can re-score Claude's forecasts without calling it again.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When we turned each model's forecasts into orders, the profit differences at typical margins were within chance; only at an 80% margin, where running out is expensive, did the more accurate LightGBM earn significantly more.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512064">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12064">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257800"/>
            <a:ext cx="11064240" cy="777240"/>
          </a:xfrm>
          <a:prstGeom prst="roundRect">
            <a:avLst>
              <a:gd name="adj" fmla="val 14118"/>
            </a:avLst>
          </a:prstGeom>
          <a:solidFill>
            <a:schemeClr val="bg2"/>
          </a:solidFill>
          <a:ln w="12700">
            <a:solidFill>
              <a:schemeClr val="bg2"/>
            </a:solidFill>
            <a:prstDash val="solid"/>
          </a:ln>
        </p:spPr>
      </p:sp>
      <p:sp>
        <p:nvSpPr>
          <p:cNvPr id="5" name="Text 2"/>
          <p:cNvSpPr txBox="1"/>
          <p:nvPr/>
        </p:nvSpPr>
        <p:spPr>
          <a:xfrm>
            <a:off x="822960" y="5257800"/>
            <a:ext cx="10607040" cy="777240"/>
          </a:xfrm>
          <a:prstGeom prst="rect">
            <a:avLst/>
          </a:prstGeom>
          <a:noFill/>
          <a:ln/>
        </p:spPr>
        <p:txBody>
          <a:bodyPr wrap="square" lIns="0" tIns="0" rIns="0" bIns="0" rtlCol="0" anchor="ctr"/>
          <a:lstStyle/>
          <a:p>
            <a:pPr indent="0" marL="0">
              <a:buNone/>
            </a:pPr>
            <a:r>
              <a:rPr lang="en-US" sz="1500" b="1" dirty="0">
                <a:solidFill>
                  <a:schemeClr val="tx2"/>
                </a:solidFill>
              </a:rPr>
              <a:t>Inputs differ: </a:t>
            </a:r>
            <a:pPr indent="0" marL="0">
              <a:buNone/>
            </a:pPr>
            <a:r>
              <a:rPr lang="en-US" sz="1500" dirty="0">
                <a:solidFill>
                  <a:schemeClr val="tx2"/>
                </a:solidFill>
              </a:rPr>
              <a:t>AutoETS, AutoARIMA and Chronos see only each series' own history; LightGBM also sees prices and the calendar.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Averaging AutoETS + LightGBM beats every model</a:t>
            </a:r>
            <a:endParaRPr lang="en-US" sz="3400" dirty="0"/>
          </a:p>
        </p:txBody>
      </p:sp>
      <p:graphicFrame>
        <p:nvGraphicFramePr>
          <p:cNvPr id="3" name="WRMSS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acc stat 0"/>
          <p:cNvSpPr/>
          <p:nvPr/>
        </p:nvSpPr>
        <p:spPr>
          <a:xfrm>
            <a:off x="7863840" y="1463040"/>
            <a:ext cx="374904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8092440" y="1554480"/>
            <a:ext cx="3291840" cy="685800"/>
          </a:xfrm>
          <a:prstGeom prst="rect">
            <a:avLst/>
          </a:prstGeom>
          <a:noFill/>
          <a:ln/>
        </p:spPr>
        <p:txBody>
          <a:bodyPr wrap="square" lIns="0" tIns="0" rIns="0" bIns="0" rtlCol="0" anchor="ctr"/>
          <a:lstStyle/>
          <a:p>
            <a:pPr indent="0" marL="0">
              <a:buNone/>
            </a:pPr>
            <a:r>
              <a:rPr lang="en-US" sz="3800" b="1" dirty="0">
                <a:solidFill>
                  <a:srgbClr val="0F5C73"/>
                </a:solidFill>
                <a:latin typeface="Cambria" pitchFamily="34" charset="0"/>
                <a:ea typeface="Cambria" pitchFamily="34" charset="-122"/>
                <a:cs typeface="Cambria" pitchFamily="34" charset="-120"/>
              </a:rPr>
              <a:t>0.604</a:t>
            </a:r>
            <a:endParaRPr lang="en-US" sz="3800" dirty="0"/>
          </a:p>
        </p:txBody>
      </p:sp>
      <p:sp>
        <p:nvSpPr>
          <p:cNvPr id="6" name="Text 3"/>
          <p:cNvSpPr txBox="1"/>
          <p:nvPr/>
        </p:nvSpPr>
        <p:spPr>
          <a:xfrm>
            <a:off x="8092440" y="2240280"/>
            <a:ext cx="3383280" cy="411480"/>
          </a:xfrm>
          <a:prstGeom prst="rect">
            <a:avLst/>
          </a:prstGeom>
          <a:noFill/>
          <a:ln/>
        </p:spPr>
        <p:txBody>
          <a:bodyPr wrap="square" lIns="0" tIns="0" rIns="0" bIns="0" rtlCol="0" anchor="ctr"/>
          <a:lstStyle/>
          <a:p>
            <a:pPr indent="0" marL="0">
              <a:buNone/>
            </a:pPr>
            <a:r>
              <a:rPr lang="en-US" sz="1400" dirty="0">
                <a:solidFill>
                  <a:schemeClr val="tx1"/>
                </a:solidFill>
              </a:rPr>
              <a:t>Ensemble: best overall, no tuning</a:t>
            </a:r>
            <a:endParaRPr lang="en-US" sz="1400" dirty="0"/>
          </a:p>
        </p:txBody>
      </p:sp>
      <p:sp>
        <p:nvSpPr>
          <p:cNvPr id="7" name="acc stat 1"/>
          <p:cNvSpPr/>
          <p:nvPr/>
        </p:nvSpPr>
        <p:spPr>
          <a:xfrm>
            <a:off x="7863840" y="2926080"/>
            <a:ext cx="374904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8092440" y="3017520"/>
            <a:ext cx="3291840" cy="685800"/>
          </a:xfrm>
          <a:prstGeom prst="rect">
            <a:avLst/>
          </a:prstGeom>
          <a:noFill/>
          <a:ln/>
        </p:spPr>
        <p:txBody>
          <a:bodyPr wrap="square" lIns="0" tIns="0" rIns="0" bIns="0" rtlCol="0" anchor="ctr"/>
          <a:lstStyle/>
          <a:p>
            <a:pPr indent="0" marL="0">
              <a:buNone/>
            </a:pPr>
            <a:r>
              <a:rPr lang="en-US" sz="3800" b="1" dirty="0">
                <a:solidFill>
                  <a:srgbClr val="2A78D6"/>
                </a:solidFill>
                <a:latin typeface="Cambria" pitchFamily="34" charset="0"/>
                <a:ea typeface="Cambria" pitchFamily="34" charset="-122"/>
                <a:cs typeface="Cambria" pitchFamily="34" charset="-120"/>
              </a:rPr>
              <a:t>0.646</a:t>
            </a:r>
            <a:endParaRPr lang="en-US" sz="3800" dirty="0"/>
          </a:p>
        </p:txBody>
      </p:sp>
      <p:sp>
        <p:nvSpPr>
          <p:cNvPr id="9" name="Text 6"/>
          <p:cNvSpPr txBox="1"/>
          <p:nvPr/>
        </p:nvSpPr>
        <p:spPr>
          <a:xfrm>
            <a:off x="8092440" y="3703320"/>
            <a:ext cx="3383280" cy="411480"/>
          </a:xfrm>
          <a:prstGeom prst="rect">
            <a:avLst/>
          </a:prstGeom>
          <a:noFill/>
          <a:ln/>
        </p:spPr>
        <p:txBody>
          <a:bodyPr wrap="square" lIns="0" tIns="0" rIns="0" bIns="0" rtlCol="0" anchor="ctr"/>
          <a:lstStyle/>
          <a:p>
            <a:pPr indent="0" marL="0">
              <a:buNone/>
            </a:pPr>
            <a:r>
              <a:rPr lang="en-US" sz="1400" dirty="0">
                <a:solidFill>
                  <a:schemeClr val="tx1"/>
                </a:solidFill>
              </a:rPr>
              <a:t>LightGBM: best single model</a:t>
            </a:r>
            <a:endParaRPr lang="en-US" sz="1400" dirty="0"/>
          </a:p>
        </p:txBody>
      </p:sp>
      <p:sp>
        <p:nvSpPr>
          <p:cNvPr id="10" name="acc stat 2"/>
          <p:cNvSpPr/>
          <p:nvPr/>
        </p:nvSpPr>
        <p:spPr>
          <a:xfrm>
            <a:off x="7863840" y="4389120"/>
            <a:ext cx="374904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8092440" y="4480560"/>
            <a:ext cx="3291840" cy="685800"/>
          </a:xfrm>
          <a:prstGeom prst="rect">
            <a:avLst/>
          </a:prstGeom>
          <a:noFill/>
          <a:ln/>
        </p:spPr>
        <p:txBody>
          <a:bodyPr wrap="square" lIns="0" tIns="0" rIns="0" bIns="0" rtlCol="0" anchor="ctr"/>
          <a:lstStyle/>
          <a:p>
            <a:pPr indent="0" marL="0">
              <a:buNone/>
            </a:pPr>
            <a:r>
              <a:rPr lang="en-US" sz="3800" b="1" dirty="0">
                <a:solidFill>
                  <a:srgbClr val="D55181"/>
                </a:solidFill>
                <a:latin typeface="Cambria" pitchFamily="34" charset="0"/>
                <a:ea typeface="Cambria" pitchFamily="34" charset="-122"/>
                <a:cs typeface="Cambria" pitchFamily="34" charset="-120"/>
              </a:rPr>
              <a:t>0.661</a:t>
            </a:r>
            <a:endParaRPr lang="en-US" sz="3800" dirty="0"/>
          </a:p>
        </p:txBody>
      </p:sp>
      <p:sp>
        <p:nvSpPr>
          <p:cNvPr id="12" name="Text 9"/>
          <p:cNvSpPr txBox="1"/>
          <p:nvPr/>
        </p:nvSpPr>
        <p:spPr>
          <a:xfrm>
            <a:off x="8092440" y="5166360"/>
            <a:ext cx="3383280" cy="411480"/>
          </a:xfrm>
          <a:prstGeom prst="rect">
            <a:avLst/>
          </a:prstGeom>
          <a:noFill/>
          <a:ln/>
        </p:spPr>
        <p:txBody>
          <a:bodyPr wrap="square" lIns="0" tIns="0" rIns="0" bIns="0" rtlCol="0" anchor="ctr"/>
          <a:lstStyle/>
          <a:p>
            <a:pPr indent="0" marL="0">
              <a:buNone/>
            </a:pPr>
            <a:r>
              <a:rPr lang="en-US" sz="1400" dirty="0">
                <a:solidFill>
                  <a:schemeClr val="tx1"/>
                </a:solidFill>
              </a:rPr>
              <a:t>AutoETS: close behind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Rankings change by level; speed differs 200×</a:t>
            </a:r>
            <a:endParaRPr lang="en-US" sz="3400" dirty="0"/>
          </a:p>
        </p:txBody>
      </p:sp>
      <p:graphicFrame>
        <p:nvGraphicFramePr>
          <p:cNvPr id="3" name="level chart" descr=""/>
          <p:cNvGraphicFramePr/>
          <p:nvPr/>
        </p:nvGraphicFramePr>
        <p:xfrm>
          <a:off x="548640" y="13716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417320"/>
            <a:ext cx="3566160" cy="365760"/>
          </a:xfrm>
          <a:prstGeom prst="rect">
            <a:avLst/>
          </a:prstGeom>
          <a:noFill/>
          <a:ln/>
        </p:spPr>
        <p:txBody>
          <a:bodyPr wrap="square" lIns="0" tIns="0" rIns="0" bIns="0" rtlCol="0" anchor="ctr"/>
          <a:lstStyle/>
          <a:p>
            <a:pPr indent="0" marL="0">
              <a:buNone/>
            </a:pPr>
            <a:r>
              <a:rPr lang="en-US" sz="1500" b="1" dirty="0">
                <a:solidFill>
                  <a:schemeClr val="tx2"/>
                </a:solidFill>
              </a:rPr>
              <a:t>Time to forecast all 5,748 series</a:t>
            </a:r>
            <a:endParaRPr lang="en-US" sz="1500" dirty="0"/>
          </a:p>
        </p:txBody>
      </p:sp>
      <p:sp>
        <p:nvSpPr>
          <p:cNvPr id="5" name="time Chronos"/>
          <p:cNvSpPr/>
          <p:nvPr/>
        </p:nvSpPr>
        <p:spPr>
          <a:xfrm>
            <a:off x="8046720" y="1874520"/>
            <a:ext cx="3566160" cy="603504"/>
          </a:xfrm>
          <a:prstGeom prst="roundRect">
            <a:avLst>
              <a:gd name="adj" fmla="val 18182"/>
            </a:avLst>
          </a:prstGeom>
          <a:solidFill>
            <a:schemeClr val="bg2"/>
          </a:solidFill>
          <a:ln w="12700">
            <a:solidFill>
              <a:schemeClr val="bg2"/>
            </a:solidFill>
            <a:prstDash val="solid"/>
          </a:ln>
        </p:spPr>
      </p:sp>
      <p:sp>
        <p:nvSpPr>
          <p:cNvPr id="6" name="Text 3"/>
          <p:cNvSpPr txBox="1"/>
          <p:nvPr/>
        </p:nvSpPr>
        <p:spPr>
          <a:xfrm>
            <a:off x="8275320" y="1874520"/>
            <a:ext cx="1828800" cy="603504"/>
          </a:xfrm>
          <a:prstGeom prst="rect">
            <a:avLst/>
          </a:prstGeom>
          <a:noFill/>
          <a:ln/>
        </p:spPr>
        <p:txBody>
          <a:bodyPr wrap="square" lIns="0" tIns="0" rIns="0" bIns="0" rtlCol="0" anchor="ctr"/>
          <a:lstStyle/>
          <a:p>
            <a:pPr indent="0" marL="0">
              <a:buNone/>
            </a:pPr>
            <a:r>
              <a:rPr lang="en-US" sz="1600" b="1" dirty="0">
                <a:solidFill>
                  <a:srgbClr val="EB6834"/>
                </a:solidFill>
              </a:rPr>
              <a:t>Chronos</a:t>
            </a:r>
            <a:endParaRPr lang="en-US" sz="1600" dirty="0"/>
          </a:p>
        </p:txBody>
      </p:sp>
      <p:sp>
        <p:nvSpPr>
          <p:cNvPr id="7" name="Text 4"/>
          <p:cNvSpPr txBox="1"/>
          <p:nvPr/>
        </p:nvSpPr>
        <p:spPr>
          <a:xfrm>
            <a:off x="9966960" y="1874520"/>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10 s</a:t>
            </a:r>
            <a:endParaRPr lang="en-US" sz="2000" dirty="0"/>
          </a:p>
        </p:txBody>
      </p:sp>
      <p:sp>
        <p:nvSpPr>
          <p:cNvPr id="8" name="time LightGBM"/>
          <p:cNvSpPr/>
          <p:nvPr/>
        </p:nvSpPr>
        <p:spPr>
          <a:xfrm>
            <a:off x="8046720" y="2587752"/>
            <a:ext cx="3566160" cy="603504"/>
          </a:xfrm>
          <a:prstGeom prst="roundRect">
            <a:avLst>
              <a:gd name="adj" fmla="val 18182"/>
            </a:avLst>
          </a:prstGeom>
          <a:solidFill>
            <a:schemeClr val="bg2"/>
          </a:solidFill>
          <a:ln w="12700">
            <a:solidFill>
              <a:schemeClr val="bg2"/>
            </a:solidFill>
            <a:prstDash val="solid"/>
          </a:ln>
        </p:spPr>
      </p:sp>
      <p:sp>
        <p:nvSpPr>
          <p:cNvPr id="9" name="Text 6"/>
          <p:cNvSpPr txBox="1"/>
          <p:nvPr/>
        </p:nvSpPr>
        <p:spPr>
          <a:xfrm>
            <a:off x="8275320" y="2587752"/>
            <a:ext cx="1828800" cy="603504"/>
          </a:xfrm>
          <a:prstGeom prst="rect">
            <a:avLst/>
          </a:prstGeom>
          <a:noFill/>
          <a:ln/>
        </p:spPr>
        <p:txBody>
          <a:bodyPr wrap="square" lIns="0" tIns="0" rIns="0" bIns="0" rtlCol="0" anchor="ctr"/>
          <a:lstStyle/>
          <a:p>
            <a:pPr indent="0" marL="0">
              <a:buNone/>
            </a:pPr>
            <a:r>
              <a:rPr lang="en-US" sz="1600" b="1" dirty="0">
                <a:solidFill>
                  <a:srgbClr val="2A78D6"/>
                </a:solidFill>
              </a:rPr>
              <a:t>LightGBM</a:t>
            </a:r>
            <a:endParaRPr lang="en-US" sz="1600" dirty="0"/>
          </a:p>
        </p:txBody>
      </p:sp>
      <p:sp>
        <p:nvSpPr>
          <p:cNvPr id="10" name="Text 7"/>
          <p:cNvSpPr txBox="1"/>
          <p:nvPr/>
        </p:nvSpPr>
        <p:spPr>
          <a:xfrm>
            <a:off x="9966960" y="2587752"/>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80 s</a:t>
            </a:r>
            <a:endParaRPr lang="en-US" sz="2000" dirty="0"/>
          </a:p>
        </p:txBody>
      </p:sp>
      <p:sp>
        <p:nvSpPr>
          <p:cNvPr id="11" name="time AutoETS"/>
          <p:cNvSpPr/>
          <p:nvPr/>
        </p:nvSpPr>
        <p:spPr>
          <a:xfrm>
            <a:off x="8046720" y="3300984"/>
            <a:ext cx="3566160" cy="603504"/>
          </a:xfrm>
          <a:prstGeom prst="roundRect">
            <a:avLst>
              <a:gd name="adj" fmla="val 18182"/>
            </a:avLst>
          </a:prstGeom>
          <a:solidFill>
            <a:schemeClr val="bg2"/>
          </a:solidFill>
          <a:ln w="12700">
            <a:solidFill>
              <a:schemeClr val="bg2"/>
            </a:solidFill>
            <a:prstDash val="solid"/>
          </a:ln>
        </p:spPr>
      </p:sp>
      <p:sp>
        <p:nvSpPr>
          <p:cNvPr id="12" name="Text 9"/>
          <p:cNvSpPr txBox="1"/>
          <p:nvPr/>
        </p:nvSpPr>
        <p:spPr>
          <a:xfrm>
            <a:off x="8275320" y="3300984"/>
            <a:ext cx="1828800" cy="603504"/>
          </a:xfrm>
          <a:prstGeom prst="rect">
            <a:avLst/>
          </a:prstGeom>
          <a:noFill/>
          <a:ln/>
        </p:spPr>
        <p:txBody>
          <a:bodyPr wrap="square" lIns="0" tIns="0" rIns="0" bIns="0" rtlCol="0" anchor="ctr"/>
          <a:lstStyle/>
          <a:p>
            <a:pPr indent="0" marL="0">
              <a:buNone/>
            </a:pPr>
            <a:r>
              <a:rPr lang="en-US" sz="1600" b="1" dirty="0">
                <a:solidFill>
                  <a:srgbClr val="D55181"/>
                </a:solidFill>
              </a:rPr>
              <a:t>AutoETS</a:t>
            </a:r>
            <a:endParaRPr lang="en-US" sz="1600" dirty="0"/>
          </a:p>
        </p:txBody>
      </p:sp>
      <p:sp>
        <p:nvSpPr>
          <p:cNvPr id="13" name="Text 10"/>
          <p:cNvSpPr txBox="1"/>
          <p:nvPr/>
        </p:nvSpPr>
        <p:spPr>
          <a:xfrm>
            <a:off x="9966960" y="3300984"/>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86 s</a:t>
            </a:r>
            <a:endParaRPr lang="en-US" sz="2000" dirty="0"/>
          </a:p>
        </p:txBody>
      </p:sp>
      <p:sp>
        <p:nvSpPr>
          <p:cNvPr id="14" name="time AutoARIMA"/>
          <p:cNvSpPr/>
          <p:nvPr/>
        </p:nvSpPr>
        <p:spPr>
          <a:xfrm>
            <a:off x="8046720" y="4014216"/>
            <a:ext cx="3566160" cy="603504"/>
          </a:xfrm>
          <a:prstGeom prst="roundRect">
            <a:avLst>
              <a:gd name="adj" fmla="val 18182"/>
            </a:avLst>
          </a:prstGeom>
          <a:solidFill>
            <a:schemeClr val="bg2"/>
          </a:solidFill>
          <a:ln w="12700">
            <a:solidFill>
              <a:schemeClr val="bg2"/>
            </a:solidFill>
            <a:prstDash val="solid"/>
          </a:ln>
        </p:spPr>
      </p:sp>
      <p:sp>
        <p:nvSpPr>
          <p:cNvPr id="15" name="Text 12"/>
          <p:cNvSpPr txBox="1"/>
          <p:nvPr/>
        </p:nvSpPr>
        <p:spPr>
          <a:xfrm>
            <a:off x="8275320" y="4014216"/>
            <a:ext cx="1828800" cy="603504"/>
          </a:xfrm>
          <a:prstGeom prst="rect">
            <a:avLst/>
          </a:prstGeom>
          <a:noFill/>
          <a:ln/>
        </p:spPr>
        <p:txBody>
          <a:bodyPr wrap="square" lIns="0" tIns="0" rIns="0" bIns="0" rtlCol="0" anchor="ctr"/>
          <a:lstStyle/>
          <a:p>
            <a:pPr indent="0" marL="0">
              <a:buNone/>
            </a:pPr>
            <a:r>
              <a:rPr lang="en-US" sz="1600" b="1" dirty="0">
                <a:solidFill>
                  <a:srgbClr val="1BAF7A"/>
                </a:solidFill>
              </a:rPr>
              <a:t>AutoARIMA</a:t>
            </a:r>
            <a:endParaRPr lang="en-US" sz="1600" dirty="0"/>
          </a:p>
        </p:txBody>
      </p:sp>
      <p:sp>
        <p:nvSpPr>
          <p:cNvPr id="16" name="Text 13"/>
          <p:cNvSpPr txBox="1"/>
          <p:nvPr/>
        </p:nvSpPr>
        <p:spPr>
          <a:xfrm>
            <a:off x="9966960" y="4014216"/>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39 min</a:t>
            </a:r>
            <a:endParaRPr lang="en-US" sz="2000" dirty="0"/>
          </a:p>
        </p:txBody>
      </p:sp>
      <p:sp>
        <p:nvSpPr>
          <p:cNvPr id="17" name="Text 14"/>
          <p:cNvSpPr txBox="1"/>
          <p:nvPr/>
        </p:nvSpPr>
        <p:spPr>
          <a:xfrm>
            <a:off x="8046720" y="4800600"/>
            <a:ext cx="3566160" cy="548640"/>
          </a:xfrm>
          <a:prstGeom prst="rect">
            <a:avLst/>
          </a:prstGeom>
          <a:noFill/>
          <a:ln/>
        </p:spPr>
        <p:txBody>
          <a:bodyPr wrap="square" lIns="0" tIns="0" rIns="0" bIns="0" rtlCol="0" anchor="t"/>
          <a:lstStyle/>
          <a:p>
            <a:pPr indent="0" marL="0">
              <a:buNone/>
            </a:pPr>
            <a:r>
              <a:rPr lang="en-US" sz="1200" dirty="0">
                <a:solidFill>
                  <a:srgbClr val="6B6A66"/>
                </a:solidFill>
              </a:rPr>
              <a:t>Same laptop, one model at a time. Chronos needs no training.</a:t>
            </a:r>
            <a:endParaRPr lang="en-US" sz="1200" dirty="0"/>
          </a:p>
        </p:txBody>
      </p:sp>
      <p:sp>
        <p:nvSpPr>
          <p:cNvPr id="18" name="Text 1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500" b="1" dirty="0">
                <a:solidFill>
                  <a:schemeClr val="tx2"/>
                </a:solidFill>
              </a:rPr>
              <a:t>Item level: the models are close, but close is not a statistical tie. Chronos's strength here is speed, not accuracy.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2026-10-21T05:30:48Z</dcterms:created>
  <dcterms:modified xsi:type="dcterms:W3CDTF">2026-10-21T05:30:48Z</dcterms:modified>
</cp:coreProperties>
</file>