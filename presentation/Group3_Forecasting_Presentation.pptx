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4.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Question and data" id="{2598e0b0-62a1-918a-e3f5-621077121f79}">
          <p14:sldIdLst>
            <p14:sldId id="256"/>
            <p14:sldId id="257"/>
          </p14:sldIdLst>
        </p14:section>
        <p14:section name="Models and results" id="{b9c0634f-3f8b-3065-7f20-41d2a012557e}">
          <p14:sldIdLst>
            <p14:sldId id="258"/>
            <p14:sldId id="259"/>
            <p14:sldId id="260"/>
          </p14:sldIdLst>
        </p14:section>
        <p14:section name="LLM experiment" id="{ebfcd56c-a665-08a7-16ae-91ac71945609}">
          <p14:sldIdLst>
            <p14:sldId id="261"/>
            <p14:sldId id="262"/>
          </p14:sldIdLst>
        </p14:section>
        <p14:section name="Answer and demo" id="{bf8791d0-6d5c-3b06-d1b0-2f70560c80ba}">
          <p14:sldIdLst>
            <p14:sldId id="263"/>
            <p14:sldId id="26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Weekly food units sold, 4 California stores</a:t>
            </a:r>
          </a:p>
        </c:rich>
      </c:tx>
      <c:layout/>
      <c:overlay val="0"/>
    </c:title>
    <c:autoTitleDeleted val="0"/>
    <c:plotArea>
      <c:layout/>
      <c:lineChart>
        <c:varyColors val="0"/>
        <c:ser>
          <c:idx val="0"/>
          <c:order val="0"/>
          <c:tx>
            <c:strRef>
              <c:f>Sheet1!$B$1</c:f>
              <c:strCache>
                <c:ptCount val="1"/>
                <c:pt idx="0">
                  <c:v>Weekly units</c:v>
                </c:pt>
              </c:strCache>
            </c:strRef>
          </c:tx>
          <c:spPr>
            <a:solidFill>
              <a:srgbClr val="1B2A41"/>
            </a:solidFill>
            <a:ln w="19050" cap="flat">
              <a:solidFill>
                <a:srgbClr val="1B2A4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none"/>
            <c:size val="6"/>
            <c:spPr>
              <a:solidFill>
                <a:srgbClr val="1B2A41"/>
              </a:solidFill>
              <a:ln w="9525" cap="flat">
                <a:solidFill>
                  <a:srgbClr val="1B2A41"/>
                </a:solidFill>
                <a:prstDash val="solid"/>
                <a:round/>
              </a:ln>
              <a:effectLst/>
            </c:spPr>
          </c:marker>
          <c:cat>
            <c:multiLvlStrRef>
              <c:f>Sheet1!$A$2:$A$282</c:f>
              <c:multiLvlStrCache>
                <c:ptCount val="281"/>
                <c:lvl>
                  <c:pt idx="0">
                    <c:v>2011-02</c:v>
                  </c:pt>
                  <c:pt idx="1">
                    <c:v>2011-02</c:v>
                  </c:pt>
                  <c:pt idx="2">
                    <c:v>2011-02</c:v>
                  </c:pt>
                  <c:pt idx="3">
                    <c:v>2011-02</c:v>
                  </c:pt>
                  <c:pt idx="4">
                    <c:v>2011-03</c:v>
                  </c:pt>
                  <c:pt idx="5">
                    <c:v>2011-03</c:v>
                  </c:pt>
                  <c:pt idx="6">
                    <c:v>2011-03</c:v>
                  </c:pt>
                  <c:pt idx="7">
                    <c:v>2011-03</c:v>
                  </c:pt>
                  <c:pt idx="8">
                    <c:v>2011-04</c:v>
                  </c:pt>
                  <c:pt idx="9">
                    <c:v>2011-04</c:v>
                  </c:pt>
                  <c:pt idx="10">
                    <c:v>2011-04</c:v>
                  </c:pt>
                  <c:pt idx="11">
                    <c:v>2011-04</c:v>
                  </c:pt>
                  <c:pt idx="12">
                    <c:v>2011-05</c:v>
                  </c:pt>
                  <c:pt idx="13">
                    <c:v>2011-05</c:v>
                  </c:pt>
                  <c:pt idx="14">
                    <c:v>2011-05</c:v>
                  </c:pt>
                  <c:pt idx="15">
                    <c:v>2011-05</c:v>
                  </c:pt>
                  <c:pt idx="16">
                    <c:v>2011-05</c:v>
                  </c:pt>
                  <c:pt idx="17">
                    <c:v>2011-06</c:v>
                  </c:pt>
                  <c:pt idx="18">
                    <c:v>2011-06</c:v>
                  </c:pt>
                  <c:pt idx="19">
                    <c:v>2011-06</c:v>
                  </c:pt>
                  <c:pt idx="20">
                    <c:v>2011-06</c:v>
                  </c:pt>
                  <c:pt idx="21">
                    <c:v>2011-07</c:v>
                  </c:pt>
                  <c:pt idx="22">
                    <c:v>2011-07</c:v>
                  </c:pt>
                  <c:pt idx="23">
                    <c:v>2011-07</c:v>
                  </c:pt>
                  <c:pt idx="24">
                    <c:v>2011-07</c:v>
                  </c:pt>
                  <c:pt idx="25">
                    <c:v>2011-07</c:v>
                  </c:pt>
                  <c:pt idx="26">
                    <c:v>2011-08</c:v>
                  </c:pt>
                  <c:pt idx="27">
                    <c:v>2011-08</c:v>
                  </c:pt>
                  <c:pt idx="28">
                    <c:v>2011-08</c:v>
                  </c:pt>
                  <c:pt idx="29">
                    <c:v>2011-08</c:v>
                  </c:pt>
                  <c:pt idx="30">
                    <c:v>2011-09</c:v>
                  </c:pt>
                  <c:pt idx="31">
                    <c:v>2011-09</c:v>
                  </c:pt>
                  <c:pt idx="32">
                    <c:v>2011-09</c:v>
                  </c:pt>
                  <c:pt idx="33">
                    <c:v>2011-09</c:v>
                  </c:pt>
                  <c:pt idx="34">
                    <c:v>2011-10</c:v>
                  </c:pt>
                  <c:pt idx="35">
                    <c:v>2011-10</c:v>
                  </c:pt>
                  <c:pt idx="36">
                    <c:v>2011-10</c:v>
                  </c:pt>
                  <c:pt idx="37">
                    <c:v>2011-10</c:v>
                  </c:pt>
                  <c:pt idx="38">
                    <c:v>2011-10</c:v>
                  </c:pt>
                  <c:pt idx="39">
                    <c:v>2011-11</c:v>
                  </c:pt>
                  <c:pt idx="40">
                    <c:v>2011-11</c:v>
                  </c:pt>
                  <c:pt idx="41">
                    <c:v>2011-11</c:v>
                  </c:pt>
                  <c:pt idx="42">
                    <c:v>2011-11</c:v>
                  </c:pt>
                  <c:pt idx="43">
                    <c:v>2011-12</c:v>
                  </c:pt>
                  <c:pt idx="44">
                    <c:v>2011-12</c:v>
                  </c:pt>
                  <c:pt idx="45">
                    <c:v>2011-12</c:v>
                  </c:pt>
                  <c:pt idx="46">
                    <c:v>2011-12</c:v>
                  </c:pt>
                  <c:pt idx="47">
                    <c:v>2012-01</c:v>
                  </c:pt>
                  <c:pt idx="48">
                    <c:v>2012-01</c:v>
                  </c:pt>
                  <c:pt idx="49">
                    <c:v>2012-01</c:v>
                  </c:pt>
                  <c:pt idx="50">
                    <c:v>2012-01</c:v>
                  </c:pt>
                  <c:pt idx="51">
                    <c:v>2012-01</c:v>
                  </c:pt>
                  <c:pt idx="52">
                    <c:v>2012-02</c:v>
                  </c:pt>
                  <c:pt idx="53">
                    <c:v>2012-02</c:v>
                  </c:pt>
                  <c:pt idx="54">
                    <c:v>2012-02</c:v>
                  </c:pt>
                  <c:pt idx="55">
                    <c:v>2012-02</c:v>
                  </c:pt>
                  <c:pt idx="56">
                    <c:v>2012-03</c:v>
                  </c:pt>
                  <c:pt idx="57">
                    <c:v>2012-03</c:v>
                  </c:pt>
                  <c:pt idx="58">
                    <c:v>2012-03</c:v>
                  </c:pt>
                  <c:pt idx="59">
                    <c:v>2012-03</c:v>
                  </c:pt>
                  <c:pt idx="60">
                    <c:v>2012-04</c:v>
                  </c:pt>
                  <c:pt idx="61">
                    <c:v>2012-04</c:v>
                  </c:pt>
                  <c:pt idx="62">
                    <c:v>2012-04</c:v>
                  </c:pt>
                  <c:pt idx="63">
                    <c:v>2012-04</c:v>
                  </c:pt>
                  <c:pt idx="64">
                    <c:v>2012-04</c:v>
                  </c:pt>
                  <c:pt idx="65">
                    <c:v>2012-05</c:v>
                  </c:pt>
                  <c:pt idx="66">
                    <c:v>2012-05</c:v>
                  </c:pt>
                  <c:pt idx="67">
                    <c:v>2012-05</c:v>
                  </c:pt>
                  <c:pt idx="68">
                    <c:v>2012-05</c:v>
                  </c:pt>
                  <c:pt idx="69">
                    <c:v>2012-06</c:v>
                  </c:pt>
                  <c:pt idx="70">
                    <c:v>2012-06</c:v>
                  </c:pt>
                  <c:pt idx="71">
                    <c:v>2012-06</c:v>
                  </c:pt>
                  <c:pt idx="72">
                    <c:v>2012-06</c:v>
                  </c:pt>
                  <c:pt idx="73">
                    <c:v>2012-07</c:v>
                  </c:pt>
                  <c:pt idx="74">
                    <c:v>2012-07</c:v>
                  </c:pt>
                  <c:pt idx="75">
                    <c:v>2012-07</c:v>
                  </c:pt>
                  <c:pt idx="76">
                    <c:v>2012-07</c:v>
                  </c:pt>
                  <c:pt idx="77">
                    <c:v>2012-07</c:v>
                  </c:pt>
                  <c:pt idx="78">
                    <c:v>2012-08</c:v>
                  </c:pt>
                  <c:pt idx="79">
                    <c:v>2012-08</c:v>
                  </c:pt>
                  <c:pt idx="80">
                    <c:v>2012-08</c:v>
                  </c:pt>
                  <c:pt idx="81">
                    <c:v>2012-08</c:v>
                  </c:pt>
                  <c:pt idx="82">
                    <c:v>2012-09</c:v>
                  </c:pt>
                  <c:pt idx="83">
                    <c:v>2012-09</c:v>
                  </c:pt>
                  <c:pt idx="84">
                    <c:v>2012-09</c:v>
                  </c:pt>
                  <c:pt idx="85">
                    <c:v>2012-09</c:v>
                  </c:pt>
                  <c:pt idx="86">
                    <c:v>2012-09</c:v>
                  </c:pt>
                  <c:pt idx="87">
                    <c:v>2012-10</c:v>
                  </c:pt>
                  <c:pt idx="88">
                    <c:v>2012-10</c:v>
                  </c:pt>
                  <c:pt idx="89">
                    <c:v>2012-10</c:v>
                  </c:pt>
                  <c:pt idx="90">
                    <c:v>2012-10</c:v>
                  </c:pt>
                  <c:pt idx="91">
                    <c:v>2012-11</c:v>
                  </c:pt>
                  <c:pt idx="92">
                    <c:v>2012-11</c:v>
                  </c:pt>
                  <c:pt idx="93">
                    <c:v>2012-11</c:v>
                  </c:pt>
                  <c:pt idx="94">
                    <c:v>2012-11</c:v>
                  </c:pt>
                  <c:pt idx="95">
                    <c:v>2012-12</c:v>
                  </c:pt>
                  <c:pt idx="96">
                    <c:v>2012-12</c:v>
                  </c:pt>
                  <c:pt idx="97">
                    <c:v>2012-12</c:v>
                  </c:pt>
                  <c:pt idx="98">
                    <c:v>2012-12</c:v>
                  </c:pt>
                  <c:pt idx="99">
                    <c:v>2012-12</c:v>
                  </c:pt>
                  <c:pt idx="100">
                    <c:v>2013-01</c:v>
                  </c:pt>
                  <c:pt idx="101">
                    <c:v>2013-01</c:v>
                  </c:pt>
                  <c:pt idx="102">
                    <c:v>2013-01</c:v>
                  </c:pt>
                  <c:pt idx="103">
                    <c:v>2013-01</c:v>
                  </c:pt>
                  <c:pt idx="104">
                    <c:v>2013-02</c:v>
                  </c:pt>
                  <c:pt idx="105">
                    <c:v>2013-02</c:v>
                  </c:pt>
                  <c:pt idx="106">
                    <c:v>2013-02</c:v>
                  </c:pt>
                  <c:pt idx="107">
                    <c:v>2013-02</c:v>
                  </c:pt>
                  <c:pt idx="108">
                    <c:v>2013-03</c:v>
                  </c:pt>
                  <c:pt idx="109">
                    <c:v>2013-03</c:v>
                  </c:pt>
                  <c:pt idx="110">
                    <c:v>2013-03</c:v>
                  </c:pt>
                  <c:pt idx="111">
                    <c:v>2013-03</c:v>
                  </c:pt>
                  <c:pt idx="112">
                    <c:v>2013-03</c:v>
                  </c:pt>
                  <c:pt idx="113">
                    <c:v>2013-04</c:v>
                  </c:pt>
                  <c:pt idx="114">
                    <c:v>2013-04</c:v>
                  </c:pt>
                  <c:pt idx="115">
                    <c:v>2013-04</c:v>
                  </c:pt>
                  <c:pt idx="116">
                    <c:v>2013-04</c:v>
                  </c:pt>
                  <c:pt idx="117">
                    <c:v>2013-05</c:v>
                  </c:pt>
                  <c:pt idx="118">
                    <c:v>2013-05</c:v>
                  </c:pt>
                  <c:pt idx="119">
                    <c:v>2013-05</c:v>
                  </c:pt>
                  <c:pt idx="120">
                    <c:v>2013-05</c:v>
                  </c:pt>
                  <c:pt idx="121">
                    <c:v>2013-06</c:v>
                  </c:pt>
                  <c:pt idx="122">
                    <c:v>2013-06</c:v>
                  </c:pt>
                  <c:pt idx="123">
                    <c:v>2013-06</c:v>
                  </c:pt>
                  <c:pt idx="124">
                    <c:v>2013-06</c:v>
                  </c:pt>
                  <c:pt idx="125">
                    <c:v>2013-06</c:v>
                  </c:pt>
                  <c:pt idx="126">
                    <c:v>2013-07</c:v>
                  </c:pt>
                  <c:pt idx="127">
                    <c:v>2013-07</c:v>
                  </c:pt>
                  <c:pt idx="128">
                    <c:v>2013-07</c:v>
                  </c:pt>
                  <c:pt idx="129">
                    <c:v>2013-07</c:v>
                  </c:pt>
                  <c:pt idx="130">
                    <c:v>2013-08</c:v>
                  </c:pt>
                  <c:pt idx="131">
                    <c:v>2013-08</c:v>
                  </c:pt>
                  <c:pt idx="132">
                    <c:v>2013-08</c:v>
                  </c:pt>
                  <c:pt idx="133">
                    <c:v>2013-08</c:v>
                  </c:pt>
                  <c:pt idx="134">
                    <c:v>2013-09</c:v>
                  </c:pt>
                  <c:pt idx="135">
                    <c:v>2013-09</c:v>
                  </c:pt>
                  <c:pt idx="136">
                    <c:v>2013-09</c:v>
                  </c:pt>
                  <c:pt idx="137">
                    <c:v>2013-09</c:v>
                  </c:pt>
                  <c:pt idx="138">
                    <c:v>2013-09</c:v>
                  </c:pt>
                  <c:pt idx="139">
                    <c:v>2013-10</c:v>
                  </c:pt>
                  <c:pt idx="140">
                    <c:v>2013-10</c:v>
                  </c:pt>
                  <c:pt idx="141">
                    <c:v>2013-10</c:v>
                  </c:pt>
                  <c:pt idx="142">
                    <c:v>2013-10</c:v>
                  </c:pt>
                  <c:pt idx="143">
                    <c:v>2013-11</c:v>
                  </c:pt>
                  <c:pt idx="144">
                    <c:v>2013-11</c:v>
                  </c:pt>
                  <c:pt idx="145">
                    <c:v>2013-11</c:v>
                  </c:pt>
                  <c:pt idx="146">
                    <c:v>2013-11</c:v>
                  </c:pt>
                  <c:pt idx="147">
                    <c:v>2013-12</c:v>
                  </c:pt>
                  <c:pt idx="148">
                    <c:v>2013-12</c:v>
                  </c:pt>
                  <c:pt idx="149">
                    <c:v>2013-12</c:v>
                  </c:pt>
                  <c:pt idx="150">
                    <c:v>2013-12</c:v>
                  </c:pt>
                  <c:pt idx="151">
                    <c:v>2013-12</c:v>
                  </c:pt>
                  <c:pt idx="152">
                    <c:v>2014-01</c:v>
                  </c:pt>
                  <c:pt idx="153">
                    <c:v>2014-01</c:v>
                  </c:pt>
                  <c:pt idx="154">
                    <c:v>2014-01</c:v>
                  </c:pt>
                  <c:pt idx="155">
                    <c:v>2014-01</c:v>
                  </c:pt>
                  <c:pt idx="156">
                    <c:v>2014-02</c:v>
                  </c:pt>
                  <c:pt idx="157">
                    <c:v>2014-02</c:v>
                  </c:pt>
                  <c:pt idx="158">
                    <c:v>2014-02</c:v>
                  </c:pt>
                  <c:pt idx="159">
                    <c:v>2014-02</c:v>
                  </c:pt>
                  <c:pt idx="160">
                    <c:v>2014-03</c:v>
                  </c:pt>
                  <c:pt idx="161">
                    <c:v>2014-03</c:v>
                  </c:pt>
                  <c:pt idx="162">
                    <c:v>2014-03</c:v>
                  </c:pt>
                  <c:pt idx="163">
                    <c:v>2014-03</c:v>
                  </c:pt>
                  <c:pt idx="164">
                    <c:v>2014-03</c:v>
                  </c:pt>
                  <c:pt idx="165">
                    <c:v>2014-04</c:v>
                  </c:pt>
                  <c:pt idx="166">
                    <c:v>2014-04</c:v>
                  </c:pt>
                  <c:pt idx="167">
                    <c:v>2014-04</c:v>
                  </c:pt>
                  <c:pt idx="168">
                    <c:v>2014-04</c:v>
                  </c:pt>
                  <c:pt idx="169">
                    <c:v>2014-05</c:v>
                  </c:pt>
                  <c:pt idx="170">
                    <c:v>2014-05</c:v>
                  </c:pt>
                  <c:pt idx="171">
                    <c:v>2014-05</c:v>
                  </c:pt>
                  <c:pt idx="172">
                    <c:v>2014-05</c:v>
                  </c:pt>
                  <c:pt idx="173">
                    <c:v>2014-06</c:v>
                  </c:pt>
                  <c:pt idx="174">
                    <c:v>2014-06</c:v>
                  </c:pt>
                  <c:pt idx="175">
                    <c:v>2014-06</c:v>
                  </c:pt>
                  <c:pt idx="176">
                    <c:v>2014-06</c:v>
                  </c:pt>
                  <c:pt idx="177">
                    <c:v>2014-06</c:v>
                  </c:pt>
                  <c:pt idx="178">
                    <c:v>2014-07</c:v>
                  </c:pt>
                  <c:pt idx="179">
                    <c:v>2014-07</c:v>
                  </c:pt>
                  <c:pt idx="180">
                    <c:v>2014-07</c:v>
                  </c:pt>
                  <c:pt idx="181">
                    <c:v>2014-07</c:v>
                  </c:pt>
                  <c:pt idx="182">
                    <c:v>2014-08</c:v>
                  </c:pt>
                  <c:pt idx="183">
                    <c:v>2014-08</c:v>
                  </c:pt>
                  <c:pt idx="184">
                    <c:v>2014-08</c:v>
                  </c:pt>
                  <c:pt idx="185">
                    <c:v>2014-08</c:v>
                  </c:pt>
                  <c:pt idx="186">
                    <c:v>2014-08</c:v>
                  </c:pt>
                  <c:pt idx="187">
                    <c:v>2014-09</c:v>
                  </c:pt>
                  <c:pt idx="188">
                    <c:v>2014-09</c:v>
                  </c:pt>
                  <c:pt idx="189">
                    <c:v>2014-09</c:v>
                  </c:pt>
                  <c:pt idx="190">
                    <c:v>2014-09</c:v>
                  </c:pt>
                  <c:pt idx="191">
                    <c:v>2014-10</c:v>
                  </c:pt>
                  <c:pt idx="192">
                    <c:v>2014-10</c:v>
                  </c:pt>
                  <c:pt idx="193">
                    <c:v>2014-10</c:v>
                  </c:pt>
                  <c:pt idx="194">
                    <c:v>2014-10</c:v>
                  </c:pt>
                  <c:pt idx="195">
                    <c:v>2014-11</c:v>
                  </c:pt>
                  <c:pt idx="196">
                    <c:v>2014-11</c:v>
                  </c:pt>
                  <c:pt idx="197">
                    <c:v>2014-11</c:v>
                  </c:pt>
                  <c:pt idx="198">
                    <c:v>2014-11</c:v>
                  </c:pt>
                  <c:pt idx="199">
                    <c:v>2014-11</c:v>
                  </c:pt>
                  <c:pt idx="200">
                    <c:v>2014-12</c:v>
                  </c:pt>
                  <c:pt idx="201">
                    <c:v>2014-12</c:v>
                  </c:pt>
                  <c:pt idx="202">
                    <c:v>2014-12</c:v>
                  </c:pt>
                  <c:pt idx="203">
                    <c:v>2014-12</c:v>
                  </c:pt>
                  <c:pt idx="204">
                    <c:v>2015-01</c:v>
                  </c:pt>
                  <c:pt idx="205">
                    <c:v>2015-01</c:v>
                  </c:pt>
                  <c:pt idx="206">
                    <c:v>2015-01</c:v>
                  </c:pt>
                  <c:pt idx="207">
                    <c:v>2015-01</c:v>
                  </c:pt>
                  <c:pt idx="208">
                    <c:v>2015-02</c:v>
                  </c:pt>
                  <c:pt idx="209">
                    <c:v>2015-02</c:v>
                  </c:pt>
                  <c:pt idx="210">
                    <c:v>2015-02</c:v>
                  </c:pt>
                  <c:pt idx="211">
                    <c:v>2015-02</c:v>
                  </c:pt>
                  <c:pt idx="212">
                    <c:v>2015-03</c:v>
                  </c:pt>
                  <c:pt idx="213">
                    <c:v>2015-03</c:v>
                  </c:pt>
                  <c:pt idx="214">
                    <c:v>2015-03</c:v>
                  </c:pt>
                  <c:pt idx="215">
                    <c:v>2015-03</c:v>
                  </c:pt>
                  <c:pt idx="216">
                    <c:v>2015-03</c:v>
                  </c:pt>
                  <c:pt idx="217">
                    <c:v>2015-04</c:v>
                  </c:pt>
                  <c:pt idx="218">
                    <c:v>2015-04</c:v>
                  </c:pt>
                  <c:pt idx="219">
                    <c:v>2015-04</c:v>
                  </c:pt>
                  <c:pt idx="220">
                    <c:v>2015-04</c:v>
                  </c:pt>
                  <c:pt idx="221">
                    <c:v>2015-05</c:v>
                  </c:pt>
                  <c:pt idx="222">
                    <c:v>2015-05</c:v>
                  </c:pt>
                  <c:pt idx="223">
                    <c:v>2015-05</c:v>
                  </c:pt>
                  <c:pt idx="224">
                    <c:v>2015-05</c:v>
                  </c:pt>
                  <c:pt idx="225">
                    <c:v>2015-05</c:v>
                  </c:pt>
                  <c:pt idx="226">
                    <c:v>2015-06</c:v>
                  </c:pt>
                  <c:pt idx="227">
                    <c:v>2015-06</c:v>
                  </c:pt>
                  <c:pt idx="228">
                    <c:v>2015-06</c:v>
                  </c:pt>
                  <c:pt idx="229">
                    <c:v>2015-06</c:v>
                  </c:pt>
                  <c:pt idx="230">
                    <c:v>2015-07</c:v>
                  </c:pt>
                  <c:pt idx="231">
                    <c:v>2015-07</c:v>
                  </c:pt>
                  <c:pt idx="232">
                    <c:v>2015-07</c:v>
                  </c:pt>
                  <c:pt idx="233">
                    <c:v>2015-07</c:v>
                  </c:pt>
                  <c:pt idx="234">
                    <c:v>2015-08</c:v>
                  </c:pt>
                  <c:pt idx="235">
                    <c:v>2015-08</c:v>
                  </c:pt>
                  <c:pt idx="236">
                    <c:v>2015-08</c:v>
                  </c:pt>
                  <c:pt idx="237">
                    <c:v>2015-08</c:v>
                  </c:pt>
                  <c:pt idx="238">
                    <c:v>2015-08</c:v>
                  </c:pt>
                  <c:pt idx="239">
                    <c:v>2015-09</c:v>
                  </c:pt>
                  <c:pt idx="240">
                    <c:v>2015-09</c:v>
                  </c:pt>
                  <c:pt idx="241">
                    <c:v>2015-09</c:v>
                  </c:pt>
                  <c:pt idx="242">
                    <c:v>2015-09</c:v>
                  </c:pt>
                  <c:pt idx="243">
                    <c:v>2015-10</c:v>
                  </c:pt>
                  <c:pt idx="244">
                    <c:v>2015-10</c:v>
                  </c:pt>
                  <c:pt idx="245">
                    <c:v>2015-10</c:v>
                  </c:pt>
                  <c:pt idx="246">
                    <c:v>2015-10</c:v>
                  </c:pt>
                  <c:pt idx="247">
                    <c:v>2015-11</c:v>
                  </c:pt>
                  <c:pt idx="248">
                    <c:v>2015-11</c:v>
                  </c:pt>
                  <c:pt idx="249">
                    <c:v>2015-11</c:v>
                  </c:pt>
                  <c:pt idx="250">
                    <c:v>2015-11</c:v>
                  </c:pt>
                  <c:pt idx="251">
                    <c:v>2015-11</c:v>
                  </c:pt>
                  <c:pt idx="252">
                    <c:v>2015-12</c:v>
                  </c:pt>
                  <c:pt idx="253">
                    <c:v>2015-12</c:v>
                  </c:pt>
                  <c:pt idx="254">
                    <c:v>2015-12</c:v>
                  </c:pt>
                  <c:pt idx="255">
                    <c:v>2015-12</c:v>
                  </c:pt>
                  <c:pt idx="256">
                    <c:v>2016-01</c:v>
                  </c:pt>
                  <c:pt idx="257">
                    <c:v>2016-01</c:v>
                  </c:pt>
                  <c:pt idx="258">
                    <c:v>2016-01</c:v>
                  </c:pt>
                  <c:pt idx="259">
                    <c:v>2016-01</c:v>
                  </c:pt>
                  <c:pt idx="260">
                    <c:v>2016-01</c:v>
                  </c:pt>
                  <c:pt idx="261">
                    <c:v>2016-02</c:v>
                  </c:pt>
                  <c:pt idx="262">
                    <c:v>2016-02</c:v>
                  </c:pt>
                  <c:pt idx="263">
                    <c:v>2016-02</c:v>
                  </c:pt>
                  <c:pt idx="264">
                    <c:v>2016-02</c:v>
                  </c:pt>
                  <c:pt idx="265">
                    <c:v>2016-03</c:v>
                  </c:pt>
                  <c:pt idx="266">
                    <c:v>2016-03</c:v>
                  </c:pt>
                  <c:pt idx="267">
                    <c:v>2016-03</c:v>
                  </c:pt>
                  <c:pt idx="268">
                    <c:v>2016-03</c:v>
                  </c:pt>
                  <c:pt idx="269">
                    <c:v>2016-04</c:v>
                  </c:pt>
                  <c:pt idx="270">
                    <c:v>2016-04</c:v>
                  </c:pt>
                  <c:pt idx="271">
                    <c:v>2016-04</c:v>
                  </c:pt>
                  <c:pt idx="272">
                    <c:v>2016-04</c:v>
                  </c:pt>
                  <c:pt idx="273">
                    <c:v>2016-05</c:v>
                  </c:pt>
                  <c:pt idx="274">
                    <c:v>2016-05</c:v>
                  </c:pt>
                  <c:pt idx="275">
                    <c:v>2016-05</c:v>
                  </c:pt>
                  <c:pt idx="276">
                    <c:v>2016-05</c:v>
                  </c:pt>
                  <c:pt idx="277">
                    <c:v>2016-05</c:v>
                  </c:pt>
                  <c:pt idx="278">
                    <c:v>2016-06</c:v>
                  </c:pt>
                  <c:pt idx="279">
                    <c:v>2016-06</c:v>
                  </c:pt>
                  <c:pt idx="280">
                    <c:v>2016-06</c:v>
                  </c:pt>
                </c:lvl>
              </c:multiLvlStrCache>
            </c:multiLvlStrRef>
          </c:cat>
          <c:val>
            <c:numRef>
              <c:f>Sheet1!$B$2:$B$282</c:f>
              <c:numCache>
                <c:formatCode>General</c:formatCode>
                <c:ptCount val="281"/>
                <c:pt idx="0">
                  <c:v>62094</c:v>
                </c:pt>
                <c:pt idx="1">
                  <c:v>61600</c:v>
                </c:pt>
                <c:pt idx="2">
                  <c:v>50123</c:v>
                </c:pt>
                <c:pt idx="3">
                  <c:v>49847</c:v>
                </c:pt>
                <c:pt idx="4">
                  <c:v>56716</c:v>
                </c:pt>
                <c:pt idx="5">
                  <c:v>55797</c:v>
                </c:pt>
                <c:pt idx="6">
                  <c:v>51910</c:v>
                </c:pt>
                <c:pt idx="7">
                  <c:v>49230</c:v>
                </c:pt>
                <c:pt idx="8">
                  <c:v>54620</c:v>
                </c:pt>
                <c:pt idx="9">
                  <c:v>58151</c:v>
                </c:pt>
                <c:pt idx="10">
                  <c:v>51018</c:v>
                </c:pt>
                <c:pt idx="11">
                  <c:v>49567</c:v>
                </c:pt>
                <c:pt idx="12">
                  <c:v>43709</c:v>
                </c:pt>
                <c:pt idx="13">
                  <c:v>50165</c:v>
                </c:pt>
                <c:pt idx="14">
                  <c:v>51724</c:v>
                </c:pt>
                <c:pt idx="15">
                  <c:v>44823</c:v>
                </c:pt>
                <c:pt idx="16">
                  <c:v>45343</c:v>
                </c:pt>
                <c:pt idx="17">
                  <c:v>52860</c:v>
                </c:pt>
                <c:pt idx="18">
                  <c:v>55224</c:v>
                </c:pt>
                <c:pt idx="19">
                  <c:v>51713</c:v>
                </c:pt>
                <c:pt idx="20">
                  <c:v>52692</c:v>
                </c:pt>
                <c:pt idx="21">
                  <c:v>54210</c:v>
                </c:pt>
                <c:pt idx="22">
                  <c:v>60833</c:v>
                </c:pt>
                <c:pt idx="23">
                  <c:v>51475</c:v>
                </c:pt>
                <c:pt idx="24">
                  <c:v>52602</c:v>
                </c:pt>
                <c:pt idx="25">
                  <c:v>49235</c:v>
                </c:pt>
                <c:pt idx="26">
                  <c:v>55275</c:v>
                </c:pt>
                <c:pt idx="27">
                  <c:v>59378</c:v>
                </c:pt>
                <c:pt idx="28">
                  <c:v>55745</c:v>
                </c:pt>
                <c:pt idx="29">
                  <c:v>52648</c:v>
                </c:pt>
                <c:pt idx="30">
                  <c:v>53251</c:v>
                </c:pt>
                <c:pt idx="31">
                  <c:v>60874</c:v>
                </c:pt>
                <c:pt idx="32">
                  <c:v>54624</c:v>
                </c:pt>
                <c:pt idx="33">
                  <c:v>58449</c:v>
                </c:pt>
                <c:pt idx="34">
                  <c:v>62544</c:v>
                </c:pt>
                <c:pt idx="35">
                  <c:v>67334</c:v>
                </c:pt>
                <c:pt idx="36">
                  <c:v>66046</c:v>
                </c:pt>
                <c:pt idx="37">
                  <c:v>60889</c:v>
                </c:pt>
                <c:pt idx="38">
                  <c:v>58530</c:v>
                </c:pt>
                <c:pt idx="39">
                  <c:v>63740</c:v>
                </c:pt>
                <c:pt idx="40">
                  <c:v>66434</c:v>
                </c:pt>
                <c:pt idx="41">
                  <c:v>60816</c:v>
                </c:pt>
                <c:pt idx="42">
                  <c:v>57422</c:v>
                </c:pt>
                <c:pt idx="43">
                  <c:v>62110</c:v>
                </c:pt>
                <c:pt idx="44">
                  <c:v>68266</c:v>
                </c:pt>
                <c:pt idx="45">
                  <c:v>66639</c:v>
                </c:pt>
                <c:pt idx="46">
                  <c:v>57455</c:v>
                </c:pt>
                <c:pt idx="47">
                  <c:v>61758</c:v>
                </c:pt>
                <c:pt idx="48">
                  <c:v>70964</c:v>
                </c:pt>
                <c:pt idx="49">
                  <c:v>66473</c:v>
                </c:pt>
                <c:pt idx="50">
                  <c:v>66596</c:v>
                </c:pt>
                <c:pt idx="51">
                  <c:v>62235</c:v>
                </c:pt>
                <c:pt idx="52">
                  <c:v>74201</c:v>
                </c:pt>
                <c:pt idx="53">
                  <c:v>76659</c:v>
                </c:pt>
                <c:pt idx="54">
                  <c:v>66136</c:v>
                </c:pt>
                <c:pt idx="55">
                  <c:v>67648</c:v>
                </c:pt>
                <c:pt idx="56">
                  <c:v>71794</c:v>
                </c:pt>
                <c:pt idx="57">
                  <c:v>78944</c:v>
                </c:pt>
                <c:pt idx="58">
                  <c:v>70584</c:v>
                </c:pt>
                <c:pt idx="59">
                  <c:v>69659</c:v>
                </c:pt>
                <c:pt idx="60">
                  <c:v>69449</c:v>
                </c:pt>
                <c:pt idx="61">
                  <c:v>83246</c:v>
                </c:pt>
                <c:pt idx="62">
                  <c:v>72301</c:v>
                </c:pt>
                <c:pt idx="63">
                  <c:v>69209</c:v>
                </c:pt>
                <c:pt idx="64">
                  <c:v>65944</c:v>
                </c:pt>
                <c:pt idx="65">
                  <c:v>75082</c:v>
                </c:pt>
                <c:pt idx="66">
                  <c:v>80506</c:v>
                </c:pt>
                <c:pt idx="67">
                  <c:v>76292</c:v>
                </c:pt>
                <c:pt idx="68">
                  <c:v>69440</c:v>
                </c:pt>
                <c:pt idx="69">
                  <c:v>77994</c:v>
                </c:pt>
                <c:pt idx="70">
                  <c:v>81505</c:v>
                </c:pt>
                <c:pt idx="71">
                  <c:v>80811</c:v>
                </c:pt>
                <c:pt idx="72">
                  <c:v>75313</c:v>
                </c:pt>
                <c:pt idx="73">
                  <c:v>71828</c:v>
                </c:pt>
                <c:pt idx="74">
                  <c:v>80959</c:v>
                </c:pt>
                <c:pt idx="75">
                  <c:v>77411</c:v>
                </c:pt>
                <c:pt idx="76">
                  <c:v>73922</c:v>
                </c:pt>
                <c:pt idx="77">
                  <c:v>69567</c:v>
                </c:pt>
                <c:pt idx="78">
                  <c:v>78356</c:v>
                </c:pt>
                <c:pt idx="79">
                  <c:v>83882</c:v>
                </c:pt>
                <c:pt idx="80">
                  <c:v>83437</c:v>
                </c:pt>
                <c:pt idx="81">
                  <c:v>74310</c:v>
                </c:pt>
                <c:pt idx="82">
                  <c:v>72877</c:v>
                </c:pt>
                <c:pt idx="83">
                  <c:v>80150</c:v>
                </c:pt>
                <c:pt idx="84">
                  <c:v>75365</c:v>
                </c:pt>
                <c:pt idx="85">
                  <c:v>69321</c:v>
                </c:pt>
                <c:pt idx="86">
                  <c:v>69444</c:v>
                </c:pt>
                <c:pt idx="87">
                  <c:v>78472</c:v>
                </c:pt>
                <c:pt idx="88">
                  <c:v>70992</c:v>
                </c:pt>
                <c:pt idx="89">
                  <c:v>63156</c:v>
                </c:pt>
                <c:pt idx="90">
                  <c:v>59702</c:v>
                </c:pt>
                <c:pt idx="91">
                  <c:v>66963</c:v>
                </c:pt>
                <c:pt idx="92">
                  <c:v>69966</c:v>
                </c:pt>
                <c:pt idx="93">
                  <c:v>63378</c:v>
                </c:pt>
                <c:pt idx="94">
                  <c:v>57739</c:v>
                </c:pt>
                <c:pt idx="95">
                  <c:v>58851</c:v>
                </c:pt>
                <c:pt idx="96">
                  <c:v>69146</c:v>
                </c:pt>
                <c:pt idx="97">
                  <c:v>66293</c:v>
                </c:pt>
                <c:pt idx="98">
                  <c:v>67258</c:v>
                </c:pt>
                <c:pt idx="99">
                  <c:v>53922</c:v>
                </c:pt>
                <c:pt idx="100">
                  <c:v>70967</c:v>
                </c:pt>
                <c:pt idx="101">
                  <c:v>72628</c:v>
                </c:pt>
                <c:pt idx="102">
                  <c:v>65390</c:v>
                </c:pt>
                <c:pt idx="103">
                  <c:v>61964</c:v>
                </c:pt>
                <c:pt idx="104">
                  <c:v>66341</c:v>
                </c:pt>
                <c:pt idx="105">
                  <c:v>66885</c:v>
                </c:pt>
                <c:pt idx="106">
                  <c:v>67529</c:v>
                </c:pt>
                <c:pt idx="107">
                  <c:v>66394</c:v>
                </c:pt>
                <c:pt idx="108">
                  <c:v>68914</c:v>
                </c:pt>
                <c:pt idx="109">
                  <c:v>71154</c:v>
                </c:pt>
                <c:pt idx="110">
                  <c:v>67475</c:v>
                </c:pt>
                <c:pt idx="111">
                  <c:v>63380</c:v>
                </c:pt>
                <c:pt idx="112">
                  <c:v>66577</c:v>
                </c:pt>
                <c:pt idx="113">
                  <c:v>72665</c:v>
                </c:pt>
                <c:pt idx="114">
                  <c:v>69877</c:v>
                </c:pt>
                <c:pt idx="115">
                  <c:v>66995</c:v>
                </c:pt>
                <c:pt idx="116">
                  <c:v>64355</c:v>
                </c:pt>
                <c:pt idx="117">
                  <c:v>73139</c:v>
                </c:pt>
                <c:pt idx="118">
                  <c:v>72439</c:v>
                </c:pt>
                <c:pt idx="119">
                  <c:v>70539</c:v>
                </c:pt>
                <c:pt idx="120">
                  <c:v>66799</c:v>
                </c:pt>
                <c:pt idx="121">
                  <c:v>72811</c:v>
                </c:pt>
                <c:pt idx="122">
                  <c:v>80360</c:v>
                </c:pt>
                <c:pt idx="123">
                  <c:v>77654</c:v>
                </c:pt>
                <c:pt idx="124">
                  <c:v>73444</c:v>
                </c:pt>
                <c:pt idx="125">
                  <c:v>80681</c:v>
                </c:pt>
                <c:pt idx="126">
                  <c:v>90117</c:v>
                </c:pt>
                <c:pt idx="127">
                  <c:v>80948</c:v>
                </c:pt>
                <c:pt idx="128">
                  <c:v>76050</c:v>
                </c:pt>
                <c:pt idx="129">
                  <c:v>75729</c:v>
                </c:pt>
                <c:pt idx="130">
                  <c:v>80174</c:v>
                </c:pt>
                <c:pt idx="131">
                  <c:v>84643</c:v>
                </c:pt>
                <c:pt idx="132">
                  <c:v>81544</c:v>
                </c:pt>
                <c:pt idx="133">
                  <c:v>81468</c:v>
                </c:pt>
                <c:pt idx="134">
                  <c:v>81903</c:v>
                </c:pt>
                <c:pt idx="135">
                  <c:v>92055</c:v>
                </c:pt>
                <c:pt idx="136">
                  <c:v>84952</c:v>
                </c:pt>
                <c:pt idx="137">
                  <c:v>78579</c:v>
                </c:pt>
                <c:pt idx="138">
                  <c:v>74731</c:v>
                </c:pt>
                <c:pt idx="139">
                  <c:v>79296</c:v>
                </c:pt>
                <c:pt idx="140">
                  <c:v>80526</c:v>
                </c:pt>
                <c:pt idx="141">
                  <c:v>74231</c:v>
                </c:pt>
                <c:pt idx="142">
                  <c:v>69942</c:v>
                </c:pt>
                <c:pt idx="143">
                  <c:v>75773</c:v>
                </c:pt>
                <c:pt idx="144">
                  <c:v>76045</c:v>
                </c:pt>
                <c:pt idx="145">
                  <c:v>70618</c:v>
                </c:pt>
                <c:pt idx="146">
                  <c:v>65092</c:v>
                </c:pt>
                <c:pt idx="147">
                  <c:v>59619</c:v>
                </c:pt>
                <c:pt idx="148">
                  <c:v>76596</c:v>
                </c:pt>
                <c:pt idx="149">
                  <c:v>70385</c:v>
                </c:pt>
                <c:pt idx="150">
                  <c:v>68152</c:v>
                </c:pt>
                <c:pt idx="151">
                  <c:v>58701</c:v>
                </c:pt>
                <c:pt idx="152">
                  <c:v>74012</c:v>
                </c:pt>
                <c:pt idx="153">
                  <c:v>75942</c:v>
                </c:pt>
                <c:pt idx="154">
                  <c:v>71909</c:v>
                </c:pt>
                <c:pt idx="155">
                  <c:v>69509</c:v>
                </c:pt>
                <c:pt idx="156">
                  <c:v>68254</c:v>
                </c:pt>
                <c:pt idx="157">
                  <c:v>77007</c:v>
                </c:pt>
                <c:pt idx="158">
                  <c:v>71083</c:v>
                </c:pt>
                <c:pt idx="159">
                  <c:v>67528</c:v>
                </c:pt>
                <c:pt idx="160">
                  <c:v>68117</c:v>
                </c:pt>
                <c:pt idx="161">
                  <c:v>72410</c:v>
                </c:pt>
                <c:pt idx="162">
                  <c:v>75604</c:v>
                </c:pt>
                <c:pt idx="163">
                  <c:v>70692</c:v>
                </c:pt>
                <c:pt idx="164">
                  <c:v>70855</c:v>
                </c:pt>
                <c:pt idx="165">
                  <c:v>78748</c:v>
                </c:pt>
                <c:pt idx="166">
                  <c:v>82499</c:v>
                </c:pt>
                <c:pt idx="167">
                  <c:v>79674</c:v>
                </c:pt>
                <c:pt idx="168">
                  <c:v>73055</c:v>
                </c:pt>
                <c:pt idx="169">
                  <c:v>77955</c:v>
                </c:pt>
                <c:pt idx="170">
                  <c:v>75758</c:v>
                </c:pt>
                <c:pt idx="171">
                  <c:v>75859</c:v>
                </c:pt>
                <c:pt idx="172">
                  <c:v>68567</c:v>
                </c:pt>
                <c:pt idx="173">
                  <c:v>71367</c:v>
                </c:pt>
                <c:pt idx="174">
                  <c:v>79858</c:v>
                </c:pt>
                <c:pt idx="175">
                  <c:v>79668</c:v>
                </c:pt>
                <c:pt idx="176">
                  <c:v>77323</c:v>
                </c:pt>
                <c:pt idx="177">
                  <c:v>72803</c:v>
                </c:pt>
                <c:pt idx="178">
                  <c:v>84770</c:v>
                </c:pt>
                <c:pt idx="179">
                  <c:v>82768</c:v>
                </c:pt>
                <c:pt idx="180">
                  <c:v>75669</c:v>
                </c:pt>
                <c:pt idx="181">
                  <c:v>74039</c:v>
                </c:pt>
                <c:pt idx="182">
                  <c:v>78329</c:v>
                </c:pt>
                <c:pt idx="183">
                  <c:v>81907</c:v>
                </c:pt>
                <c:pt idx="184">
                  <c:v>77959</c:v>
                </c:pt>
                <c:pt idx="185">
                  <c:v>78127</c:v>
                </c:pt>
                <c:pt idx="186">
                  <c:v>71112</c:v>
                </c:pt>
                <c:pt idx="187">
                  <c:v>80298</c:v>
                </c:pt>
                <c:pt idx="188">
                  <c:v>78971</c:v>
                </c:pt>
                <c:pt idx="189">
                  <c:v>75847</c:v>
                </c:pt>
                <c:pt idx="190">
                  <c:v>72536</c:v>
                </c:pt>
                <c:pt idx="191">
                  <c:v>78942</c:v>
                </c:pt>
                <c:pt idx="192">
                  <c:v>75980</c:v>
                </c:pt>
                <c:pt idx="193">
                  <c:v>69936</c:v>
                </c:pt>
                <c:pt idx="194">
                  <c:v>66882</c:v>
                </c:pt>
                <c:pt idx="195">
                  <c:v>70858</c:v>
                </c:pt>
                <c:pt idx="196">
                  <c:v>74029</c:v>
                </c:pt>
                <c:pt idx="197">
                  <c:v>70460</c:v>
                </c:pt>
                <c:pt idx="198">
                  <c:v>66752</c:v>
                </c:pt>
                <c:pt idx="199">
                  <c:v>64398</c:v>
                </c:pt>
                <c:pt idx="200">
                  <c:v>70131</c:v>
                </c:pt>
                <c:pt idx="201">
                  <c:v>67517</c:v>
                </c:pt>
                <c:pt idx="202">
                  <c:v>64753</c:v>
                </c:pt>
                <c:pt idx="203">
                  <c:v>55221</c:v>
                </c:pt>
                <c:pt idx="204">
                  <c:v>66897</c:v>
                </c:pt>
                <c:pt idx="205">
                  <c:v>72435</c:v>
                </c:pt>
                <c:pt idx="206">
                  <c:v>66895</c:v>
                </c:pt>
                <c:pt idx="207">
                  <c:v>67041</c:v>
                </c:pt>
                <c:pt idx="208">
                  <c:v>66177</c:v>
                </c:pt>
                <c:pt idx="209">
                  <c:v>72669</c:v>
                </c:pt>
                <c:pt idx="210">
                  <c:v>69747</c:v>
                </c:pt>
                <c:pt idx="211">
                  <c:v>61902</c:v>
                </c:pt>
                <c:pt idx="212">
                  <c:v>61960</c:v>
                </c:pt>
                <c:pt idx="213">
                  <c:v>69990</c:v>
                </c:pt>
                <c:pt idx="214">
                  <c:v>68999</c:v>
                </c:pt>
                <c:pt idx="215">
                  <c:v>65671</c:v>
                </c:pt>
                <c:pt idx="216">
                  <c:v>64769</c:v>
                </c:pt>
                <c:pt idx="217">
                  <c:v>73202</c:v>
                </c:pt>
                <c:pt idx="218">
                  <c:v>68729</c:v>
                </c:pt>
                <c:pt idx="219">
                  <c:v>65623</c:v>
                </c:pt>
                <c:pt idx="220">
                  <c:v>66128</c:v>
                </c:pt>
                <c:pt idx="221">
                  <c:v>70855</c:v>
                </c:pt>
                <c:pt idx="222">
                  <c:v>70765</c:v>
                </c:pt>
                <c:pt idx="223">
                  <c:v>66681</c:v>
                </c:pt>
                <c:pt idx="224">
                  <c:v>63413</c:v>
                </c:pt>
                <c:pt idx="225">
                  <c:v>66200</c:v>
                </c:pt>
                <c:pt idx="226">
                  <c:v>78451</c:v>
                </c:pt>
                <c:pt idx="227">
                  <c:v>80529</c:v>
                </c:pt>
                <c:pt idx="228">
                  <c:v>74802</c:v>
                </c:pt>
                <c:pt idx="229">
                  <c:v>74825</c:v>
                </c:pt>
                <c:pt idx="230">
                  <c:v>80129</c:v>
                </c:pt>
                <c:pt idx="231">
                  <c:v>81350</c:v>
                </c:pt>
                <c:pt idx="232">
                  <c:v>78288</c:v>
                </c:pt>
                <c:pt idx="233">
                  <c:v>74526</c:v>
                </c:pt>
                <c:pt idx="234">
                  <c:v>77912</c:v>
                </c:pt>
                <c:pt idx="235">
                  <c:v>83734</c:v>
                </c:pt>
                <c:pt idx="236">
                  <c:v>81737</c:v>
                </c:pt>
                <c:pt idx="237">
                  <c:v>77379</c:v>
                </c:pt>
                <c:pt idx="238">
                  <c:v>73844</c:v>
                </c:pt>
                <c:pt idx="239">
                  <c:v>78191</c:v>
                </c:pt>
                <c:pt idx="240">
                  <c:v>86207</c:v>
                </c:pt>
                <c:pt idx="241">
                  <c:v>78867</c:v>
                </c:pt>
                <c:pt idx="242">
                  <c:v>79963</c:v>
                </c:pt>
                <c:pt idx="243">
                  <c:v>81384</c:v>
                </c:pt>
                <c:pt idx="244">
                  <c:v>83970</c:v>
                </c:pt>
                <c:pt idx="245">
                  <c:v>79617</c:v>
                </c:pt>
                <c:pt idx="246">
                  <c:v>74858</c:v>
                </c:pt>
                <c:pt idx="247">
                  <c:v>74090</c:v>
                </c:pt>
                <c:pt idx="248">
                  <c:v>74075</c:v>
                </c:pt>
                <c:pt idx="249">
                  <c:v>71668</c:v>
                </c:pt>
                <c:pt idx="250">
                  <c:v>69085</c:v>
                </c:pt>
                <c:pt idx="251">
                  <c:v>63935</c:v>
                </c:pt>
                <c:pt idx="252">
                  <c:v>70645</c:v>
                </c:pt>
                <c:pt idx="253">
                  <c:v>68990</c:v>
                </c:pt>
                <c:pt idx="254">
                  <c:v>70493</c:v>
                </c:pt>
                <c:pt idx="255">
                  <c:v>59231</c:v>
                </c:pt>
                <c:pt idx="256">
                  <c:v>70230</c:v>
                </c:pt>
                <c:pt idx="257">
                  <c:v>79529</c:v>
                </c:pt>
                <c:pt idx="258">
                  <c:v>75165</c:v>
                </c:pt>
                <c:pt idx="259">
                  <c:v>77679</c:v>
                </c:pt>
                <c:pt idx="260">
                  <c:v>74660</c:v>
                </c:pt>
                <c:pt idx="261">
                  <c:v>79329</c:v>
                </c:pt>
                <c:pt idx="262">
                  <c:v>80424</c:v>
                </c:pt>
                <c:pt idx="263">
                  <c:v>80710</c:v>
                </c:pt>
                <c:pt idx="264">
                  <c:v>77563</c:v>
                </c:pt>
                <c:pt idx="265">
                  <c:v>81410</c:v>
                </c:pt>
                <c:pt idx="266">
                  <c:v>82532</c:v>
                </c:pt>
                <c:pt idx="267">
                  <c:v>74796</c:v>
                </c:pt>
                <c:pt idx="268">
                  <c:v>84363</c:v>
                </c:pt>
                <c:pt idx="269">
                  <c:v>80359</c:v>
                </c:pt>
                <c:pt idx="270">
                  <c:v>86057</c:v>
                </c:pt>
                <c:pt idx="271">
                  <c:v>79089</c:v>
                </c:pt>
                <c:pt idx="272">
                  <c:v>80289</c:v>
                </c:pt>
                <c:pt idx="273">
                  <c:v>81008</c:v>
                </c:pt>
                <c:pt idx="274">
                  <c:v>85838</c:v>
                </c:pt>
                <c:pt idx="275">
                  <c:v>87169</c:v>
                </c:pt>
                <c:pt idx="276">
                  <c:v>85546</c:v>
                </c:pt>
                <c:pt idx="277">
                  <c:v>82639</c:v>
                </c:pt>
                <c:pt idx="278">
                  <c:v>89704</c:v>
                </c:pt>
                <c:pt idx="279">
                  <c:v>88460</c:v>
                </c:pt>
                <c:pt idx="280">
                  <c:v>81987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none"/>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tickLblSkip val="52"/>
      </c:catAx>
      <c:valAx>
        <c:axId val="2094734552"/>
        <c:scaling>
          <c:orientation val="minMax"/>
        </c:scaling>
        <c:delete val="0"/>
        <c:axPos val="l"/>
        <c:majorGridlines>
          <c:spPr>
            <a:ln w="6350" cap="flat">
              <a:solidFill>
                <a:srgbClr val="D9DCE1"/>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WRMSSE, all 5,748 series (lower is better)</a:t>
            </a:r>
          </a:p>
        </c:rich>
      </c:tx>
      <c:layout/>
      <c:overlay val="0"/>
    </c:title>
    <c:autoTitleDeleted val="0"/>
    <c:plotArea>
      <c:layout/>
      <c:barChart>
        <c:barDir val="bar"/>
        <c:grouping val="stacked"/>
        <c:varyColors val="0"/>
        <c:ser>
          <c:idx val="0"/>
          <c:order val="0"/>
          <c:tx>
            <c:strRef>
              <c:f>Sheet1!$B$1</c:f>
              <c:strCache>
                <c:ptCount val="1"/>
                <c:pt idx="0">
                  <c:v>0F5C73</c:v>
                </c:pt>
              </c:strCache>
            </c:strRef>
          </c:tx>
          <c:spPr>
            <a:solidFill>
              <a:srgbClr val="0F5C7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Sheet1!$B$2:$B$7</c:f>
              <c:numCache>
                <c:formatCode>General</c:formatCode>
                <c:ptCount val="6"/>
                <c:pt idx="0">
                  <c:v>0.604</c:v>
                </c:pt>
                <c:pt idx="1">
                  <c:v>0</c:v>
                </c:pt>
                <c:pt idx="2">
                  <c:v>0</c:v>
                </c:pt>
                <c:pt idx="3">
                  <c:v>0</c:v>
                </c:pt>
                <c:pt idx="4">
                  <c:v>0</c:v>
                </c:pt>
                <c:pt idx="5">
                  <c:v>0</c:v>
                </c:pt>
              </c:numCache>
            </c:numRef>
          </c:val>
        </c:ser>
        <c:ser>
          <c:idx val="1"/>
          <c:order val="1"/>
          <c:tx>
            <c:strRef>
              <c:f>Sheet1!$C$1</c:f>
              <c:strCache>
                <c:ptCount val="1"/>
                <c:pt idx="0">
                  <c:v>2A78D6</c:v>
                </c:pt>
              </c:strCache>
            </c:strRef>
          </c:tx>
          <c:spPr>
            <a:solidFill>
              <a:srgbClr val="2A78D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Sheet1!$C$2:$C$7</c:f>
              <c:numCache>
                <c:formatCode>General</c:formatCode>
                <c:ptCount val="6"/>
                <c:pt idx="0">
                  <c:v>0</c:v>
                </c:pt>
                <c:pt idx="1">
                  <c:v>0.646</c:v>
                </c:pt>
                <c:pt idx="2">
                  <c:v>0</c:v>
                </c:pt>
                <c:pt idx="3">
                  <c:v>0</c:v>
                </c:pt>
                <c:pt idx="4">
                  <c:v>0</c:v>
                </c:pt>
                <c:pt idx="5">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Sheet1!$D$2:$D$7</c:f>
              <c:numCache>
                <c:formatCode>General</c:formatCode>
                <c:ptCount val="6"/>
                <c:pt idx="0">
                  <c:v>0</c:v>
                </c:pt>
                <c:pt idx="1">
                  <c:v>0</c:v>
                </c:pt>
                <c:pt idx="2">
                  <c:v>0.661</c:v>
                </c:pt>
                <c:pt idx="3">
                  <c:v>0</c:v>
                </c:pt>
                <c:pt idx="4">
                  <c:v>0</c:v>
                </c:pt>
                <c:pt idx="5">
                  <c:v>0</c:v>
                </c:pt>
              </c:numCache>
            </c:numRef>
          </c:val>
        </c:ser>
        <c:ser>
          <c:idx val="3"/>
          <c:order val="3"/>
          <c:tx>
            <c:strRef>
              <c:f>Sheet1!$E$1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Sheet1!$E$2:$E$7</c:f>
              <c:numCache>
                <c:formatCode>General</c:formatCode>
                <c:ptCount val="6"/>
                <c:pt idx="0">
                  <c:v>0</c:v>
                </c:pt>
                <c:pt idx="1">
                  <c:v>0</c:v>
                </c:pt>
                <c:pt idx="2">
                  <c:v>0</c:v>
                </c:pt>
                <c:pt idx="3">
                  <c:v>0.814</c:v>
                </c:pt>
                <c:pt idx="4">
                  <c:v>0</c:v>
                </c:pt>
                <c:pt idx="5">
                  <c:v>0</c:v>
                </c:pt>
              </c:numCache>
            </c:numRef>
          </c:val>
        </c:ser>
        <c:ser>
          <c:idx val="4"/>
          <c:order val="4"/>
          <c:tx>
            <c:strRef>
              <c:f>Sheet1!$F$1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Sheet1!$F$2:$F$7</c:f>
              <c:numCache>
                <c:formatCode>General</c:formatCode>
                <c:ptCount val="6"/>
                <c:pt idx="0">
                  <c:v>0</c:v>
                </c:pt>
                <c:pt idx="1">
                  <c:v>0</c:v>
                </c:pt>
                <c:pt idx="2">
                  <c:v>0</c:v>
                </c:pt>
                <c:pt idx="3">
                  <c:v>0</c:v>
                </c:pt>
                <c:pt idx="4">
                  <c:v>0.892</c:v>
                </c:pt>
                <c:pt idx="5">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Sheet1!$A$2:$A$7</c:f>
              <c:multiLvlStrCache>
                <c:ptCount val="6"/>
                <c:lvl>
                  <c:pt idx="0">
                    <c:v>Ensemble</c:v>
                  </c:pt>
                  <c:pt idx="1">
                    <c:v>LightGBM</c:v>
                  </c:pt>
                  <c:pt idx="2">
                    <c:v>AutoETS</c:v>
                  </c:pt>
                  <c:pt idx="3">
                    <c:v>Seasonal naive</c:v>
                  </c:pt>
                  <c:pt idx="4">
                    <c:v>AutoARIMA</c:v>
                  </c:pt>
                  <c:pt idx="5">
                    <c:v>Chronos</c:v>
                  </c:pt>
                </c:lvl>
              </c:multiLvlStrCache>
            </c:multiLvlStrRef>
          </c:cat>
          <c:val>
            <c:numRef>
              <c:f>Sheet1!$G$2:$G$7</c:f>
              <c:numCache>
                <c:formatCode>General</c:formatCode>
                <c:ptCount val="6"/>
                <c:pt idx="0">
                  <c:v>0</c:v>
                </c:pt>
                <c:pt idx="1">
                  <c:v>0</c:v>
                </c:pt>
                <c:pt idx="2">
                  <c:v>0</c:v>
                </c:pt>
                <c:pt idx="3">
                  <c:v>0</c:v>
                </c:pt>
                <c:pt idx="4">
                  <c:v>0</c:v>
                </c:pt>
                <c:pt idx="5">
                  <c:v>0.949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1"/>
          <c:showCatName val="0"/>
          <c:showSerName val="0"/>
          <c:showPercent val="0"/>
          <c:showBubbleSize val="0"/>
          <c:showLeaderLines val="0"/>
        </c:dLbls>
        <c:gapWidth val="55"/>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Error by level: summed over many items (left) to one item in one store (right)</a:t>
            </a:r>
          </a:p>
        </c:rich>
      </c:tx>
      <c:layout/>
      <c:overlay val="0"/>
    </c:title>
    <c:autoTitleDeleted val="0"/>
    <c:plotArea>
      <c:layout/>
      <c:lineChart>
        <c:varyColors val="0"/>
        <c:ser>
          <c:idx val="0"/>
          <c:order val="0"/>
          <c:tx>
            <c:strRef>
              <c:f>Sheet1!$B$1</c:f>
              <c:strCache>
                <c:ptCount val="1"/>
                <c:pt idx="0">
                  <c:v>LightGBM</c:v>
                </c:pt>
              </c:strCache>
            </c:strRef>
          </c:tx>
          <c:spPr>
            <a:solidFill>
              <a:srgbClr val="2A78D6"/>
            </a:solidFill>
            <a:ln w="25400" cap="flat">
              <a:solidFill>
                <a:srgbClr val="2A78D6"/>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Sheet1!$B$2:$B$7</c:f>
              <c:numCache>
                <c:formatCode>General</c:formatCode>
                <c:ptCount val="6"/>
                <c:pt idx="0">
                  <c:v>0.332</c:v>
                </c:pt>
                <c:pt idx="1">
                  <c:v>0.505</c:v>
                </c:pt>
                <c:pt idx="2">
                  <c:v>0.463</c:v>
                </c:pt>
                <c:pt idx="3">
                  <c:v>0.628</c:v>
                </c:pt>
                <c:pt idx="4">
                  <c:v>1.024</c:v>
                </c:pt>
                <c:pt idx="5">
                  <c:v>0.923</c:v>
                </c:pt>
              </c:numCache>
            </c:numRef>
          </c:val>
          <c:smooth val="0"/>
        </c:ser>
        <c:ser>
          <c:idx val="1"/>
          <c:order val="1"/>
          <c:tx>
            <c:strRef>
              <c:f>Sheet1!$C$1</c:f>
              <c:strCache>
                <c:ptCount val="1"/>
                <c:pt idx="0">
                  <c:v>AutoETS</c:v>
                </c:pt>
              </c:strCache>
            </c:strRef>
          </c:tx>
          <c:spPr>
            <a:solidFill>
              <a:srgbClr val="D55181"/>
            </a:solidFill>
            <a:ln w="25400" cap="flat">
              <a:solidFill>
                <a:srgbClr val="D55181"/>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D55181"/>
              </a:solidFill>
              <a:ln w="9525" cap="flat">
                <a:solidFill>
                  <a:srgbClr val="D55181"/>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Sheet1!$C$2:$C$7</c:f>
              <c:numCache>
                <c:formatCode>General</c:formatCode>
                <c:ptCount val="6"/>
                <c:pt idx="0">
                  <c:v>0.383</c:v>
                </c:pt>
                <c:pt idx="1">
                  <c:v>0.48</c:v>
                </c:pt>
                <c:pt idx="2">
                  <c:v>0.504</c:v>
                </c:pt>
                <c:pt idx="3">
                  <c:v>0.637</c:v>
                </c:pt>
                <c:pt idx="4">
                  <c:v>1.035</c:v>
                </c:pt>
                <c:pt idx="5">
                  <c:v>0.926</c:v>
                </c:pt>
              </c:numCache>
            </c:numRef>
          </c:val>
          <c:smooth val="0"/>
        </c:ser>
        <c:ser>
          <c:idx val="2"/>
          <c:order val="2"/>
          <c:tx>
            <c:strRef>
              <c:f>Sheet1!$D$1</c:f>
              <c:strCache>
                <c:ptCount val="1"/>
                <c:pt idx="0">
                  <c:v>AutoARIMA</c:v>
                </c:pt>
              </c:strCache>
            </c:strRef>
          </c:tx>
          <c:spPr>
            <a:solidFill>
              <a:srgbClr val="1BAF7A"/>
            </a:solidFill>
            <a:ln w="25400" cap="flat">
              <a:solidFill>
                <a:srgbClr val="1BAF7A"/>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1BAF7A"/>
              </a:solidFill>
              <a:ln w="9525" cap="flat">
                <a:solidFill>
                  <a:srgbClr val="1BAF7A"/>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Sheet1!$D$2:$D$7</c:f>
              <c:numCache>
                <c:formatCode>General</c:formatCode>
                <c:ptCount val="6"/>
                <c:pt idx="0">
                  <c:v>0.79</c:v>
                </c:pt>
                <c:pt idx="1">
                  <c:v>0.813</c:v>
                </c:pt>
                <c:pt idx="2">
                  <c:v>0.855</c:v>
                </c:pt>
                <c:pt idx="3">
                  <c:v>0.9</c:v>
                </c:pt>
                <c:pt idx="4">
                  <c:v>1.057</c:v>
                </c:pt>
                <c:pt idx="5">
                  <c:v>0.936</c:v>
                </c:pt>
              </c:numCache>
            </c:numRef>
          </c:val>
          <c:smooth val="0"/>
        </c:ser>
        <c:ser>
          <c:idx val="3"/>
          <c:order val="3"/>
          <c:tx>
            <c:strRef>
              <c:f>Sheet1!$E$1</c:f>
              <c:strCache>
                <c:ptCount val="1"/>
                <c:pt idx="0">
                  <c:v>Chronos</c:v>
                </c:pt>
              </c:strCache>
            </c:strRef>
          </c:tx>
          <c:spPr>
            <a:solidFill>
              <a:srgbClr val="EB6834"/>
            </a:solidFill>
            <a:ln w="25400" cap="flat">
              <a:solidFill>
                <a:srgbClr val="EB6834"/>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Sheet1!$E$2:$E$7</c:f>
              <c:numCache>
                <c:formatCode>General</c:formatCode>
                <c:ptCount val="6"/>
                <c:pt idx="0">
                  <c:v>0.899</c:v>
                </c:pt>
                <c:pt idx="1">
                  <c:v>0.931</c:v>
                </c:pt>
                <c:pt idx="2">
                  <c:v>0.931</c:v>
                </c:pt>
                <c:pt idx="3">
                  <c:v>0.969</c:v>
                </c:pt>
                <c:pt idx="4">
                  <c:v>1.042</c:v>
                </c:pt>
                <c:pt idx="5">
                  <c:v>0.923</c:v>
                </c:pt>
              </c:numCache>
            </c:numRef>
          </c:val>
          <c:smooth val="0"/>
        </c:ser>
        <c:ser>
          <c:idx val="4"/>
          <c:order val="4"/>
          <c:tx>
            <c:strRef>
              <c:f>Sheet1!$F$1</c:f>
              <c:strCache>
                <c:ptCount val="1"/>
                <c:pt idx="0">
                  <c:v>Seasonal naive</c:v>
                </c:pt>
              </c:strCache>
            </c:strRef>
          </c:tx>
          <c:spPr>
            <a:solidFill>
              <a:srgbClr val="9A9993"/>
            </a:solidFill>
            <a:ln w="25400" cap="flat">
              <a:solidFill>
                <a:srgbClr val="9A9993"/>
              </a:solidFill>
              <a:prstDash val="solid"/>
              <a:round/>
            </a:ln>
            <a:effectLst/>
          </c:spPr>
          <c:invertIfNegative val="0"/>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c:symbol val="circle"/>
            <c:size val="7"/>
            <c:spPr>
              <a:solidFill>
                <a:srgbClr val="9A9993"/>
              </a:solidFill>
              <a:ln w="9525" cap="flat">
                <a:solidFill>
                  <a:srgbClr val="9A9993"/>
                </a:solidFill>
                <a:prstDash val="solid"/>
                <a:round/>
              </a:ln>
              <a:effectLst/>
            </c:spPr>
          </c:marker>
          <c:cat>
            <c:multiLvlStrRef>
              <c:f>Sheet1!$A$2:$A$7</c:f>
              <c:multiLvlStrCache>
                <c:ptCount val="6"/>
                <c:lvl>
                  <c:pt idx="0">
                    <c:v>Total</c:v>
                  </c:pt>
                  <c:pt idx="1">
                    <c:v>Store</c:v>
                  </c:pt>
                  <c:pt idx="2">
                    <c:v>Dept</c:v>
                  </c:pt>
                  <c:pt idx="3">
                    <c:v>Store x dept</c:v>
                  </c:pt>
                  <c:pt idx="4">
                    <c:v>Item</c:v>
                  </c:pt>
                  <c:pt idx="5">
                    <c:v>Item x store</c:v>
                  </c:pt>
                </c:lvl>
              </c:multiLvlStrCache>
            </c:multiLvlStrRef>
          </c:cat>
          <c:val>
            <c:numRef>
              <c:f>Sheet1!$F$2:$F$7</c:f>
              <c:numCache>
                <c:formatCode>General</c:formatCode>
                <c:ptCount val="6"/>
                <c:pt idx="0">
                  <c:v>0.511</c:v>
                </c:pt>
                <c:pt idx="1">
                  <c:v>0.598</c:v>
                </c:pt>
                <c:pt idx="2">
                  <c:v>0.627</c:v>
                </c:pt>
                <c:pt idx="3">
                  <c:v>0.739</c:v>
                </c:pt>
                <c:pt idx="4">
                  <c:v>1.244</c:v>
                </c:pt>
                <c:pt idx="5">
                  <c:v>1.167</c:v>
                </c:pt>
              </c:numCache>
            </c:numRef>
          </c:val>
          <c:smooth val="0"/>
        </c:ser>
        <c:dLbls>
          <c:numFmt formatCode="#,##0" sourceLinked="0"/>
          <c:txPr>
            <a:bodyPr/>
            <a:lstStyle/>
            <a:p>
              <a:pPr>
                <a:defRPr b="0" i="0" strike="noStrike" sz="1200" u="none">
                  <a:solidFill>
                    <a:srgbClr val="1F2328"/>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3"/>
          <c:min val="0.2"/>
        </c:scaling>
        <c:delete val="0"/>
        <c:axPos val="l"/>
        <c:majorGridlines>
          <c:spPr>
            <a:ln w="6350" cap="flat">
              <a:solidFill>
                <a:srgbClr val="D9DCE1"/>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F2328"/>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2328"/>
                </a:solidFill>
                <a:latin typeface="+mn-lt"/>
              </a:defRPr>
            </a:pPr>
            <a:r>
              <a:rPr sz="1400" b="0" i="0" u="none" strike="noStrike">
                <a:solidFill>
                  <a:srgbClr val="1F2328"/>
                </a:solidFill>
                <a:latin typeface="+mn-lt"/>
              </a:rPr>
              <a:t>12 store × dept totals, WRMSSE (pale = summed item forecasts)</a:t>
            </a:r>
          </a:p>
        </c:rich>
      </c:tx>
      <c:layout/>
      <c:overlay val="0"/>
    </c:title>
    <c:autoTitleDeleted val="0"/>
    <c:plotArea>
      <c:layout/>
      <c:barChart>
        <c:barDir val="bar"/>
        <c:grouping val="stacked"/>
        <c:varyColors val="0"/>
        <c:ser>
          <c:idx val="0"/>
          <c:order val="0"/>
          <c:tx>
            <c:strRef>
              <c:f>Sheet1!$B$1</c:f>
              <c:strCache>
                <c:ptCount val="1"/>
                <c:pt idx="0">
                  <c:v>9FC0CB</c:v>
                </c:pt>
              </c:strCache>
            </c:strRef>
          </c:tx>
          <c:spPr>
            <a:solidFill>
              <a:srgbClr val="9FC0CB"/>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Sheet1!$B$2:$B$12</c:f>
              <c:numCache>
                <c:formatCode>General</c:formatCode>
                <c:ptCount val="11"/>
                <c:pt idx="0">
                  <c:v>0.579</c:v>
                </c:pt>
                <c:pt idx="1">
                  <c:v>0</c:v>
                </c:pt>
                <c:pt idx="2">
                  <c:v>0</c:v>
                </c:pt>
                <c:pt idx="3">
                  <c:v>0</c:v>
                </c:pt>
                <c:pt idx="4">
                  <c:v>0</c:v>
                </c:pt>
                <c:pt idx="5">
                  <c:v>0</c:v>
                </c:pt>
                <c:pt idx="6">
                  <c:v>0</c:v>
                </c:pt>
                <c:pt idx="7">
                  <c:v>0</c:v>
                </c:pt>
                <c:pt idx="8">
                  <c:v>0</c:v>
                </c:pt>
                <c:pt idx="9">
                  <c:v>0</c:v>
                </c:pt>
                <c:pt idx="10">
                  <c:v>0</c:v>
                </c:pt>
              </c:numCache>
            </c:numRef>
          </c:val>
        </c:ser>
        <c:ser>
          <c:idx val="1"/>
          <c:order val="1"/>
          <c:tx>
            <c:strRef>
              <c:f>Sheet1!$C$1</c:f>
              <c:strCache>
                <c:ptCount val="1"/>
                <c:pt idx="0">
                  <c:v>4A3AA7</c:v>
                </c:pt>
              </c:strCache>
            </c:strRef>
          </c:tx>
          <c:spPr>
            <a:solidFill>
              <a:srgbClr val="4A3AA7"/>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Sheet1!$C$2:$C$12</c:f>
              <c:numCache>
                <c:formatCode>General</c:formatCode>
                <c:ptCount val="11"/>
                <c:pt idx="0">
                  <c:v>0</c:v>
                </c:pt>
                <c:pt idx="1">
                  <c:v>0.579</c:v>
                </c:pt>
                <c:pt idx="2">
                  <c:v>0.583</c:v>
                </c:pt>
                <c:pt idx="3">
                  <c:v>0</c:v>
                </c:pt>
                <c:pt idx="4">
                  <c:v>0</c:v>
                </c:pt>
                <c:pt idx="5">
                  <c:v>0</c:v>
                </c:pt>
                <c:pt idx="6">
                  <c:v>0</c:v>
                </c:pt>
                <c:pt idx="7">
                  <c:v>0</c:v>
                </c:pt>
                <c:pt idx="8">
                  <c:v>0</c:v>
                </c:pt>
                <c:pt idx="9">
                  <c:v>0</c:v>
                </c:pt>
                <c:pt idx="10">
                  <c:v>0</c:v>
                </c:pt>
              </c:numCache>
            </c:numRef>
          </c:val>
        </c:ser>
        <c:ser>
          <c:idx val="2"/>
          <c:order val="2"/>
          <c:tx>
            <c:strRef>
              <c:f>Sheet1!$D$1</c:f>
              <c:strCache>
                <c:ptCount val="1"/>
                <c:pt idx="0">
                  <c:v>D55181</c:v>
                </c:pt>
              </c:strCache>
            </c:strRef>
          </c:tx>
          <c:spPr>
            <a:solidFill>
              <a:srgbClr val="D55181"/>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Sheet1!$D$2:$D$12</c:f>
              <c:numCache>
                <c:formatCode>General</c:formatCode>
                <c:ptCount val="11"/>
                <c:pt idx="0">
                  <c:v>0</c:v>
                </c:pt>
                <c:pt idx="1">
                  <c:v>0</c:v>
                </c:pt>
                <c:pt idx="2">
                  <c:v>0</c:v>
                </c:pt>
                <c:pt idx="3">
                  <c:v>0.626</c:v>
                </c:pt>
                <c:pt idx="4">
                  <c:v>0</c:v>
                </c:pt>
                <c:pt idx="5">
                  <c:v>0</c:v>
                </c:pt>
                <c:pt idx="6">
                  <c:v>0</c:v>
                </c:pt>
                <c:pt idx="7">
                  <c:v>0</c:v>
                </c:pt>
                <c:pt idx="8">
                  <c:v>0</c:v>
                </c:pt>
                <c:pt idx="9">
                  <c:v>0</c:v>
                </c:pt>
                <c:pt idx="10">
                  <c:v>0</c:v>
                </c:pt>
              </c:numCache>
            </c:numRef>
          </c:val>
        </c:ser>
        <c:ser>
          <c:idx val="3"/>
          <c:order val="3"/>
          <c:tx>
            <c:strRef>
              <c:f>Sheet1!$E$1</c:f>
              <c:strCache>
                <c:ptCount val="1"/>
                <c:pt idx="0">
                  <c:v>AFCDF2</c:v>
                </c:pt>
              </c:strCache>
            </c:strRef>
          </c:tx>
          <c:spPr>
            <a:solidFill>
              <a:srgbClr val="AFCDF2"/>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Sheet1!$E$2:$E$12</c:f>
              <c:numCache>
                <c:formatCode>General</c:formatCode>
                <c:ptCount val="11"/>
                <c:pt idx="0">
                  <c:v>0</c:v>
                </c:pt>
                <c:pt idx="1">
                  <c:v>0</c:v>
                </c:pt>
                <c:pt idx="2">
                  <c:v>0</c:v>
                </c:pt>
                <c:pt idx="3">
                  <c:v>0</c:v>
                </c:pt>
                <c:pt idx="4">
                  <c:v>0.628</c:v>
                </c:pt>
                <c:pt idx="5">
                  <c:v>0</c:v>
                </c:pt>
                <c:pt idx="6">
                  <c:v>0</c:v>
                </c:pt>
                <c:pt idx="7">
                  <c:v>0</c:v>
                </c:pt>
                <c:pt idx="8">
                  <c:v>0</c:v>
                </c:pt>
                <c:pt idx="9">
                  <c:v>0</c:v>
                </c:pt>
                <c:pt idx="10">
                  <c:v>0</c:v>
                </c:pt>
              </c:numCache>
            </c:numRef>
          </c:val>
        </c:ser>
        <c:ser>
          <c:idx val="4"/>
          <c:order val="4"/>
          <c:tx>
            <c:strRef>
              <c:f>Sheet1!$F$1</c:f>
              <c:strCache>
                <c:ptCount val="1"/>
                <c:pt idx="0">
                  <c:v>EDB9CC</c:v>
                </c:pt>
              </c:strCache>
            </c:strRef>
          </c:tx>
          <c:spPr>
            <a:solidFill>
              <a:srgbClr val="EDB9CC"/>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Sheet1!$F$2:$F$12</c:f>
              <c:numCache>
                <c:formatCode>General</c:formatCode>
                <c:ptCount val="11"/>
                <c:pt idx="0">
                  <c:v>0</c:v>
                </c:pt>
                <c:pt idx="1">
                  <c:v>0</c:v>
                </c:pt>
                <c:pt idx="2">
                  <c:v>0</c:v>
                </c:pt>
                <c:pt idx="3">
                  <c:v>0</c:v>
                </c:pt>
                <c:pt idx="4">
                  <c:v>0</c:v>
                </c:pt>
                <c:pt idx="5">
                  <c:v>0.637</c:v>
                </c:pt>
                <c:pt idx="6">
                  <c:v>0</c:v>
                </c:pt>
                <c:pt idx="7">
                  <c:v>0</c:v>
                </c:pt>
                <c:pt idx="8">
                  <c:v>0</c:v>
                </c:pt>
                <c:pt idx="9">
                  <c:v>0</c:v>
                </c:pt>
                <c:pt idx="10">
                  <c:v>0</c:v>
                </c:pt>
              </c:numCache>
            </c:numRef>
          </c:val>
        </c:ser>
        <c:ser>
          <c:idx val="5"/>
          <c:order val="5"/>
          <c:tx>
            <c:strRef>
              <c:f>Sheet1!$G$1</c:f>
              <c:strCache>
                <c:ptCount val="1"/>
                <c:pt idx="0">
                  <c:v>EB6834</c:v>
                </c:pt>
              </c:strCache>
            </c:strRef>
          </c:tx>
          <c:spPr>
            <a:solidFill>
              <a:srgbClr val="EB6834"/>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Sheet1!$G$2:$G$12</c:f>
              <c:numCache>
                <c:formatCode>General</c:formatCode>
                <c:ptCount val="11"/>
                <c:pt idx="0">
                  <c:v>0</c:v>
                </c:pt>
                <c:pt idx="1">
                  <c:v>0</c:v>
                </c:pt>
                <c:pt idx="2">
                  <c:v>0</c:v>
                </c:pt>
                <c:pt idx="3">
                  <c:v>0</c:v>
                </c:pt>
                <c:pt idx="4">
                  <c:v>0</c:v>
                </c:pt>
                <c:pt idx="5">
                  <c:v>0</c:v>
                </c:pt>
                <c:pt idx="6">
                  <c:v>0.637</c:v>
                </c:pt>
                <c:pt idx="7">
                  <c:v>0</c:v>
                </c:pt>
                <c:pt idx="8">
                  <c:v>0</c:v>
                </c:pt>
                <c:pt idx="9">
                  <c:v>0</c:v>
                </c:pt>
                <c:pt idx="10">
                  <c:v>0</c:v>
                </c:pt>
              </c:numCache>
            </c:numRef>
          </c:val>
        </c:ser>
        <c:ser>
          <c:idx val="6"/>
          <c:order val="6"/>
          <c:tx>
            <c:strRef>
              <c:f>Sheet1!$H$1</c:f>
              <c:strCache>
                <c:ptCount val="1"/>
                <c:pt idx="0">
                  <c:v>1BAF7A</c:v>
                </c:pt>
              </c:strCache>
            </c:strRef>
          </c:tx>
          <c:spPr>
            <a:solidFill>
              <a:srgbClr val="1BAF7A"/>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Sheet1!$H$2:$H$12</c:f>
              <c:numCache>
                <c:formatCode>General</c:formatCode>
                <c:ptCount val="11"/>
                <c:pt idx="0">
                  <c:v>0</c:v>
                </c:pt>
                <c:pt idx="1">
                  <c:v>0</c:v>
                </c:pt>
                <c:pt idx="2">
                  <c:v>0</c:v>
                </c:pt>
                <c:pt idx="3">
                  <c:v>0</c:v>
                </c:pt>
                <c:pt idx="4">
                  <c:v>0</c:v>
                </c:pt>
                <c:pt idx="5">
                  <c:v>0</c:v>
                </c:pt>
                <c:pt idx="6">
                  <c:v>0</c:v>
                </c:pt>
                <c:pt idx="7">
                  <c:v>0.644</c:v>
                </c:pt>
                <c:pt idx="8">
                  <c:v>0</c:v>
                </c:pt>
                <c:pt idx="9">
                  <c:v>0</c:v>
                </c:pt>
                <c:pt idx="10">
                  <c:v>0</c:v>
                </c:pt>
              </c:numCache>
            </c:numRef>
          </c:val>
        </c:ser>
        <c:ser>
          <c:idx val="7"/>
          <c:order val="7"/>
          <c:tx>
            <c:strRef>
              <c:f>Sheet1!$I$1</c:f>
              <c:strCache>
                <c:ptCount val="1"/>
                <c:pt idx="0">
                  <c:v>9A9993</c:v>
                </c:pt>
              </c:strCache>
            </c:strRef>
          </c:tx>
          <c:spPr>
            <a:solidFill>
              <a:srgbClr val="9A9993"/>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Sheet1!$I$2:$I$12</c:f>
              <c:numCache>
                <c:formatCode>General</c:formatCode>
                <c:ptCount val="11"/>
                <c:pt idx="0">
                  <c:v>0</c:v>
                </c:pt>
                <c:pt idx="1">
                  <c:v>0</c:v>
                </c:pt>
                <c:pt idx="2">
                  <c:v>0</c:v>
                </c:pt>
                <c:pt idx="3">
                  <c:v>0</c:v>
                </c:pt>
                <c:pt idx="4">
                  <c:v>0</c:v>
                </c:pt>
                <c:pt idx="5">
                  <c:v>0</c:v>
                </c:pt>
                <c:pt idx="6">
                  <c:v>0</c:v>
                </c:pt>
                <c:pt idx="7">
                  <c:v>0</c:v>
                </c:pt>
                <c:pt idx="8">
                  <c:v>0.739</c:v>
                </c:pt>
                <c:pt idx="9">
                  <c:v>0</c:v>
                </c:pt>
                <c:pt idx="10">
                  <c:v>0</c:v>
                </c:pt>
              </c:numCache>
            </c:numRef>
          </c:val>
        </c:ser>
        <c:ser>
          <c:idx val="8"/>
          <c:order val="8"/>
          <c:tx>
            <c:strRef>
              <c:f>Sheet1!$J$1</c:f>
              <c:strCache>
                <c:ptCount val="1"/>
                <c:pt idx="0">
                  <c:v>A6DCC6</c:v>
                </c:pt>
              </c:strCache>
            </c:strRef>
          </c:tx>
          <c:spPr>
            <a:solidFill>
              <a:srgbClr val="A6DCC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Sheet1!$J$2:$J$12</c:f>
              <c:numCache>
                <c:formatCode>General</c:formatCode>
                <c:ptCount val="11"/>
                <c:pt idx="0">
                  <c:v>0</c:v>
                </c:pt>
                <c:pt idx="1">
                  <c:v>0</c:v>
                </c:pt>
                <c:pt idx="2">
                  <c:v>0</c:v>
                </c:pt>
                <c:pt idx="3">
                  <c:v>0</c:v>
                </c:pt>
                <c:pt idx="4">
                  <c:v>0</c:v>
                </c:pt>
                <c:pt idx="5">
                  <c:v>0</c:v>
                </c:pt>
                <c:pt idx="6">
                  <c:v>0</c:v>
                </c:pt>
                <c:pt idx="7">
                  <c:v>0</c:v>
                </c:pt>
                <c:pt idx="8">
                  <c:v>0</c:v>
                </c:pt>
                <c:pt idx="9">
                  <c:v>0.9</c:v>
                </c:pt>
                <c:pt idx="10">
                  <c:v>0</c:v>
                </c:pt>
              </c:numCache>
            </c:numRef>
          </c:val>
        </c:ser>
        <c:ser>
          <c:idx val="9"/>
          <c:order val="9"/>
          <c:tx>
            <c:strRef>
              <c:f>Sheet1!$K$1</c:f>
              <c:strCache>
                <c:ptCount val="1"/>
                <c:pt idx="0">
                  <c:v>F6BFA6</c:v>
                </c:pt>
              </c:strCache>
            </c:strRef>
          </c:tx>
          <c:spPr>
            <a:solidFill>
              <a:srgbClr val="F6BFA6"/>
            </a:solidFill>
            <a:effectLst/>
          </c:spPr>
          <c:invertIfNegative val="0"/>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cat>
            <c:multiLvlStrRef>
              <c:f>Sheet1!$A$2:$A$12</c:f>
              <c:multiLvlStrCache>
                <c:ptCount val="11"/>
                <c:lvl>
                  <c:pt idx="0">
                    <c:v>Ensemble (sum of items)  0.579</c:v>
                  </c:pt>
                  <c:pt idx="1">
                    <c:v>Claude (named)  0.579</c:v>
                  </c:pt>
                  <c:pt idx="2">
                    <c:v>Claude (blind)  0.583</c:v>
                  </c:pt>
                  <c:pt idx="3">
                    <c:v>AutoETS (direct)  0.626</c:v>
                  </c:pt>
                  <c:pt idx="4">
                    <c:v>LightGBM (sum of items)  0.628</c:v>
                  </c:pt>
                  <c:pt idx="5">
                    <c:v>AutoETS (sum of items)  0.637</c:v>
                  </c:pt>
                  <c:pt idx="6">
                    <c:v>Chronos (direct)  0.637</c:v>
                  </c:pt>
                  <c:pt idx="7">
                    <c:v>AutoARIMA (direct)  0.644</c:v>
                  </c:pt>
                  <c:pt idx="8">
                    <c:v>Seasonal naive (direct)  0.739</c:v>
                  </c:pt>
                  <c:pt idx="9">
                    <c:v>AutoARIMA (sum of items)  0.900</c:v>
                  </c:pt>
                  <c:pt idx="10">
                    <c:v>Chronos (sum of items)  0.969</c:v>
                  </c:pt>
                </c:lvl>
              </c:multiLvlStrCache>
            </c:multiLvlStrRef>
          </c:cat>
          <c:val>
            <c:numRef>
              <c:f>Sheet1!$K$2:$K$12</c:f>
              <c:numCache>
                <c:formatCode>General</c:formatCode>
                <c:ptCount val="11"/>
                <c:pt idx="0">
                  <c:v>0</c:v>
                </c:pt>
                <c:pt idx="1">
                  <c:v>0</c:v>
                </c:pt>
                <c:pt idx="2">
                  <c:v>0</c:v>
                </c:pt>
                <c:pt idx="3">
                  <c:v>0</c:v>
                </c:pt>
                <c:pt idx="4">
                  <c:v>0</c:v>
                </c:pt>
                <c:pt idx="5">
                  <c:v>0</c:v>
                </c:pt>
                <c:pt idx="6">
                  <c:v>0</c:v>
                </c:pt>
                <c:pt idx="7">
                  <c:v>0</c:v>
                </c:pt>
                <c:pt idx="8">
                  <c:v>0</c:v>
                </c:pt>
                <c:pt idx="9">
                  <c:v>0</c:v>
                </c:pt>
                <c:pt idx="10">
                  <c:v>0.969</c:v>
                </c:pt>
              </c:numCache>
            </c:numRef>
          </c:val>
        </c:ser>
        <c:dLbls>
          <c:numFmt formatCode="0.000;;;" sourceLinked="0"/>
          <c:txPr>
            <a:bodyPr/>
            <a:lstStyle/>
            <a:p>
              <a:pPr>
                <a:defRPr b="0" i="0" strike="noStrike" sz="1200" u="none">
                  <a:solidFill>
                    <a:srgbClr val="FFFFFF"/>
                  </a:solidFill>
                  <a:latin typeface="+mn-lt"/>
                </a:defRPr>
              </a:pPr>
            </a:p>
          </c:txPr>
          <c:dLblPos val="inEnd"/>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b"/>
        <c:majorGridlines>
          <c:spPr>
            <a:ln w="6350" cap="flat">
              <a:solidFill>
                <a:srgbClr val="D9DCE1"/>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6B6A66"/>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(0:45)
Good afternoon, we're Group 3. A retail forecast has three jobs: be accurate, be cheap and fast enough to run every day for thousands of products, and support good stocking decisions. In Walmart's M5 forecasting competition, LightGBM, a machine-learning method, dominated the leaderboard and became the industry default. Since then, AI foundation models, pre-trained on huge datasets, can forecast a product they have never seen, with no training at all. So we ask: can these AI models beat traditional statistical and machine-learning methods, on accuracy and on efficiency?
TRANSITION: Here is our data and how we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1 (1:20)
We used Walmart's M5 data: all 1,437 food items in four California stores, so 5,748 daily series, each one item in one store, from 2011 to 2016.
Every model trains on data up to May 22, 2016, and forecasts the next 28 days, the official M5 test window, which no model sees. The one model we tuned, LightGBM, was tuned only on the last 28 training days.
Three features make this data hard. Sales follow a weekly rhythm: weekends sell about 20% above an average day. Food-stamp payment days add about 10%. And demand is sparse: the typical item sells nothing on half of all days.
We score accuracy with WRMSSE, the competition's own metric: it scales each product's error by how hard it is to forecast and weights it by dollar sales. Lower is better, and below one beats a naive forecast. One caveat up front: this is a single 28-day window.
TRANSITION: Speaker 2 will introduce the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We compared five models. AutoETS and AutoARIMA are classic time series models: they fit one model to each product's own history, with a weekly cycle.
LightGBM is the dominant approach for this kind of retail data; it dominated the M5 competition. It is one machine-learning model trained across all products at once, which then predicts each product. It also sees prices, holidays and food-stamp days.
Chronos is Amazon's pre-trained AI model for time series, trained on about 100 billion data points from energy, traffic, weather and more. It was not trained on M5 or on any retail data: the Chronos paper lists M5 as a held-out test set, so this is a true zero-shot test. Seasonal naive, 'same weekday last week', is the benchmark.
We also test the simplest possible combination: an unweighted average of AutoETS and LightGBM. Note that the inputs differ: only LightGBM sees prices and the calendar.
TRANSITION: So how accurate were they?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(1:05)
Here's the first surprise. Among single models, the M5 champion still wins: LightGBM is the most accurate. But a far simpler statistical model, AutoETS, finishes almost level with it, just 2% behind. And the best forecast came from neither of them on its own: we simply averaged the two, with no tuning at all, and that average beat every model, at 0.604.
Why does that work? The two models get things wrong in different ways. AutoETS follows each product's own rhythm; LightGBM learns what all products have in common. Averaging them cancels part of each one's mistakes. Our teammate's Shelf Signal study found exactly the same thing on a different store.
And the pre-trained AI, Chronos, sits at the bottom of this chart, behind even the simple benchmark. (OPTIONAL) Though by a different measure, average error per item, it is actually the best; it just forecasts too low overall, and this metric punishes errors that add up.
POINT AT: the top bar (0.604), then the Chronos bar at the bottom.
TRANSITION: But one overall score hides where those differences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2 (1:10)
So where does that gap come from? Look at the left side of this chart: whole stores and departments. Here LightGBM and AutoETS are far ahead, because they see the weekend rush. AutoARIMA and Chronos forecast one product at a time, and for a product that sells one or two units a day, their best guess is a flat line. Add up thousands of flat lines, and you miss every Saturday.
Now look at the right side: a single product in a single store. Here the lines come together. For one product, picking the best model is close to a coin flip, because one product's daily sales are mostly noise. Close isn't a proven tie, but no model stands out.
And this is where the AI shines: speed. Chronos produces all 5,748 forecasts in about ten seconds, with no training. LightGBM and AutoETS need about a minute and a half; AutoARIMA needs 39 minutes.
TRANSITION: So a specialist AI is fast. What about a generalist AI that reads and reasons? Speaker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(1:15)
As an experiment, we also tried Claude, a general-purpose language model. Our code sends each product's last year of sales to Claude through its API, as text, one row per day, with the same calendar and price information LightGBM sees, and it returns a 28-day forecast with a short explanation. Running all 5,748 series would cost hundreds of dollars, so we tested a subset: 100 random items and the 12 store-by-department totals, for $13.54, and compared every model on exactly those series.
On the totals, Claude scored 0.58, level with the AutoETS-plus-LightGBM average and better than any single model. So it matched the best traditional approach, but did not beat it. On the 100 items, Claude came third, behind AutoETS and AutoARIMA.
For fairness, we also fitted the other models directly on the totals instead of summing item forecasts, and that mattered: AutoARIMA improved from 0.90 to 0.64 and Chronos from 0.97 to 0.64. How you build a total matters as much as which model you use.
How is Claude different from Chronos? Both are pre-trained and need no training on our data. But Chronos was trained on numbers, returns quantiles in seconds for free, and gives the same answer every time. Claude was trained on text, reads our data as text, explains itself, costs about six cents per forecast, and may answer slightly differently on a rerun.
TRANSITION: Using a language model also brings specific risks.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3 (0:55)
Forecasting with a language model has four risks. First, contamination: the M5 data is public, so Claude may have seen it in training. Our safeguard was the named-versus-blind test: we removed product names, dates and the year. Accuracy didn't change, 0.579 versus 0.583, so real names gave it no advantage.
Second, outputs can vary between runs; we fixed the prompt and model and saved every response. Third, cost and scale, which is why we used a subset and compared every model on the same subset. Fourth, unusable answers: a language model might not reply with exactly 28 clean numbers. We made it answer in a fixed format and checked every reply, and all 224 requests, 112 series each run twice, came back usable.
But be clear about the limit: the blind test reduces identity cues; it cannot guarantee contamination is excluded, because the sales pattern itself could still be recognised.
BACKGROUND (not to read aloud): Our code asked Claude for 28 daily forecasts in a fixed JSON format, one number per day. The risk is that a chatbot answers with prose, skips days or adds extras, which a program can't use. We required that format, checked each reply had exactly 28 days, and retried automatically if a reply failed the check. '224 requests' = 112 series (12 store x department totals + 100 items) x 2 versions (named and blind). All 224 came back usable. If asked: every reply is saved in our repo, so anyone can re-score Claude's forecasts without calling it again.
TRANSITION: Speaker 4 will wrap up and show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(1:45)
So, can AI foundation models beat traditional methods? Our answer: not yet on accuracy, yes on speed. LightGBM, AutoETS and their simple average were the three most accurate. Chronos was the clear winner on speed: ten seconds, no training.
Our results have limits. First, Claude was tested on a subset, and our blind test can't fully rule out that it saw this public data. Second, sales are not demand: when a shelf is empty, sales show zero even if customers wanted the product.
And the most important limitation for a business: accuracy isn't the real goal. Ordering stock is a newsvendor problem with two different costs. If you order too little, you lose the margin on every sale you miss; that's the underage cost. If you order too much, unsold food is wasted at its cost; that's the overage cost. Because those costs depend on the margin, the best order isn't the forecast itself but a quantile of demand, and our accuracy metrics treat over- and under-forecasting the same. When we turned each model's forecasts into orders, the profit differences at typical margins were within chance; only at an 80% margin, where running out is expensive, did the more accurate LightGBM earn significantly more.
So our recommendation: average a statistical model like AutoETS with LightGBM, use Chronos where speed or a lack of training data matters, and choose models on the metric that matches the business decision. Our next step is a rolling backtest over several windows.
Let me show you the business problem in our dashboard.
TRANSITION: click the screenshot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4 (1:30 demo + 0:15 close)
[Click the screenshot to open the dashboard. If the internet fails, play the screen recording.]
(0:00-0:20) FORECAST EXPLORER. This is Shelf Signal, which extends our teammate's original dashboard with all our models. Here's one store's department total: the black line is actual sales, and you can switch each model on and off. The ensemble and LightGBM follow the weekend peaks; Chronos runs low.
(0:20-0:40) AI LAB. Here Claude explains its own forecast in plain English, and this chart is the named-versus-blind test: every point sits on the diagonal, so real names gave it no advantage.
(0:40-1:30) ORDER PLANNER. Now the business problem. For this item, the model forecasts about eight units for the day. At a 50% margin, the best order is the median of demand. Drop the margin to 20%: a wasted unit now costs four times a lost sale, so the order falls. Raise it to 80%: a lost sale costs four times a wasted unit, so we order more. Same forecast, different decision. The table scores every model's orders against actual sales: the profit ranking isn't the same as the accuracy ranking, and at typical margins the differences are small.
(close) That's our project: traditional methods still lead on accuracy, AI wins on speed, and the right order depends on your costs. Thank you, and we're happy to take questions.
[Press Cmd+Tab to return to the slides for Q&amp;A.]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3" name="Text 0"/>
          <p:cNvSpPr/>
          <p:nvPr/>
        </p:nvSpPr>
        <p:spPr>
          <a:xfrm>
            <a:off x="548640" y="6400800"/>
            <a:ext cx="7315200" cy="274320"/>
          </a:xfrm>
          <a:prstGeom prst="rect">
            <a:avLst/>
          </a:prstGeom>
          <a:noFill/>
          <a:ln/>
        </p:spPr>
        <p:txBody>
          <a:bodyPr wrap="square" lIns="0" tIns="0" rIns="0" bIns="0" rtlCol="0" anchor="ctr"/>
          <a:lstStyle/>
          <a:p>
            <a:pPr indent="0" marL="0">
              <a:buNone/>
            </a:pPr>
            <a:r>
              <a:rPr lang="en-US" sz="1000" dirty="0">
                <a:solidFill>
                  <a:schemeClr val="tx2"/>
                </a:solidFill>
              </a:rPr>
              <a:t>Group 3 · Time Series Analysis and Forecasting · UCLA Anderson</a:t>
            </a:r>
            <a:endParaRPr lang="en-US" sz="10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2.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3.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4.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shihan-2002.github.io/shelf-signal-dashboard/#planner" TargetMode="External"/><Relationship Id="rId3" Type="http://schemas.openxmlformats.org/officeDocument/2006/relationships/hyperlink" Target="https://shihan-2002.github.io/shelf-signal-dashboard/#planner" TargetMode="External"/><Relationship Id="rId4" Type="http://schemas.openxmlformats.org/officeDocument/2006/relationships/hyperlink" Target="https://shihan-2002.github.io/shelf-signal-dashboard/#planner" TargetMode="External"/><Relationship Id="rId1" Type="http://schemas.openxmlformats.org/officeDocument/2006/relationships/image" Target="../media/image-9-1.png"/><Relationship Id="rId5" Type="http://schemas.openxmlformats.org/officeDocument/2006/relationships/image" Target="../media/image-9-2.png"/><Relationship Id="rId6" Type="http://schemas.openxmlformats.org/officeDocument/2006/relationships/image" Target="../media/image-9-3.png"/><Relationship Id="rId7" Type="http://schemas.openxmlformats.org/officeDocument/2006/relationships/image" Target="../media/image-9-4.png"/><Relationship Id="rId8" Type="http://schemas.openxmlformats.org/officeDocument/2006/relationships/slideLayout" Target="../slideLayouts/slideLayout3.xml"/><Relationship Id="rId9"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640080" y="548640"/>
            <a:ext cx="10881360" cy="1097280"/>
          </a:xfrm>
          <a:prstGeom prst="rect">
            <a:avLst/>
          </a:prstGeom>
          <a:noFill/>
          <a:ln/>
        </p:spPr>
        <p:txBody>
          <a:bodyPr wrap="square" rtlCol="0" anchor="b"/>
          <a:lstStyle/>
          <a:p>
            <a:pPr algn="l" indent="0" marL="0">
              <a:buNone/>
            </a:pPr>
            <a:r>
              <a:rPr lang="en-US" sz="4400" b="1" dirty="0">
                <a:solidFill>
                  <a:schemeClr val="bg1"/>
                </a:solidFill>
              </a:rPr>
              <a:t>Can AI Foundation Models Beat Traditional Statistical Models?</a:t>
            </a:r>
            <a:endParaRPr lang="en-US" sz="4400" dirty="0"/>
          </a:p>
        </p:txBody>
      </p:sp>
      <p:sp>
        <p:nvSpPr>
          <p:cNvPr id="3" name="Text 0"/>
          <p:cNvSpPr/>
          <p:nvPr>
            <p:ph idx="101" type="body" hasCustomPrompt="1"/>
          </p:nvPr>
        </p:nvSpPr>
        <p:spPr>
          <a:xfrm>
            <a:off x="640080" y="1691640"/>
            <a:ext cx="10881360" cy="548640"/>
          </a:xfrm>
          <a:prstGeom prst="rect">
            <a:avLst/>
          </a:prstGeom>
          <a:noFill/>
          <a:ln/>
        </p:spPr>
        <p:txBody>
          <a:bodyPr wrap="square" rtlCol="0" anchor="t"/>
          <a:lstStyle/>
          <a:p>
            <a:pPr algn="l" indent="0" marL="0">
              <a:buNone/>
            </a:pPr>
            <a:r>
              <a:rPr lang="en-US" sz="2000" dirty="0">
                <a:solidFill>
                  <a:schemeClr val="bg2"/>
                </a:solidFill>
              </a:rPr>
              <a:t>Retail forecasting has to balance accuracy, efficiency and business value</a:t>
            </a:r>
            <a:endParaRPr lang="en-US" sz="2000" dirty="0"/>
          </a:p>
        </p:txBody>
      </p:sp>
      <p:sp>
        <p:nvSpPr>
          <p:cNvPr id="4" name="question 1"/>
          <p:cNvSpPr/>
          <p:nvPr/>
        </p:nvSpPr>
        <p:spPr>
          <a:xfrm>
            <a:off x="640080" y="2514600"/>
            <a:ext cx="5349240" cy="1234440"/>
          </a:xfrm>
          <a:prstGeom prst="roundRect">
            <a:avLst>
              <a:gd name="adj" fmla="val 8889"/>
            </a:avLst>
          </a:prstGeom>
          <a:solidFill>
            <a:srgbClr val="2A3B55"/>
          </a:solidFill>
          <a:ln w="12700">
            <a:solidFill>
              <a:srgbClr val="2A3B55"/>
            </a:solidFill>
            <a:prstDash val="solid"/>
          </a:ln>
        </p:spPr>
      </p:sp>
      <p:sp>
        <p:nvSpPr>
          <p:cNvPr id="5" name="Text 3"/>
          <p:cNvSpPr txBox="1"/>
          <p:nvPr/>
        </p:nvSpPr>
        <p:spPr>
          <a:xfrm>
            <a:off x="914400" y="2514600"/>
            <a:ext cx="548640" cy="1234440"/>
          </a:xfrm>
          <a:prstGeom prst="rect">
            <a:avLst/>
          </a:prstGeom>
          <a:noFill/>
          <a:ln/>
        </p:spPr>
        <p:txBody>
          <a:bodyPr wrap="square" lIns="0" tIns="0" rIns="0" bIns="0" rtlCol="0" anchor="ctr"/>
          <a:lstStyle/>
          <a:p>
            <a:pPr indent="0" marL="0">
              <a:buNone/>
            </a:pPr>
            <a:r>
              <a:rPr lang="en-US" sz="4000" b="1" dirty="0">
                <a:solidFill>
                  <a:srgbClr val="4A3AA7"/>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55448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Can pre-trained AI forecast as well as traditional methods, and faster?</a:t>
            </a:r>
            <a:endParaRPr lang="en-US" sz="1800" dirty="0"/>
          </a:p>
        </p:txBody>
      </p:sp>
      <p:sp>
        <p:nvSpPr>
          <p:cNvPr id="7" name="question 2"/>
          <p:cNvSpPr/>
          <p:nvPr/>
        </p:nvSpPr>
        <p:spPr>
          <a:xfrm>
            <a:off x="6172200" y="2514600"/>
            <a:ext cx="5349240" cy="1234440"/>
          </a:xfrm>
          <a:prstGeom prst="roundRect">
            <a:avLst>
              <a:gd name="adj" fmla="val 8889"/>
            </a:avLst>
          </a:prstGeom>
          <a:solidFill>
            <a:srgbClr val="2A3B55"/>
          </a:solidFill>
          <a:ln w="12700">
            <a:solidFill>
              <a:srgbClr val="2A3B55"/>
            </a:solidFill>
            <a:prstDash val="solid"/>
          </a:ln>
        </p:spPr>
      </p:sp>
      <p:sp>
        <p:nvSpPr>
          <p:cNvPr id="8" name="Text 6"/>
          <p:cNvSpPr txBox="1"/>
          <p:nvPr/>
        </p:nvSpPr>
        <p:spPr>
          <a:xfrm>
            <a:off x="6446520" y="2514600"/>
            <a:ext cx="548640" cy="1234440"/>
          </a:xfrm>
          <a:prstGeom prst="rect">
            <a:avLst/>
          </a:prstGeom>
          <a:noFill/>
          <a:ln/>
        </p:spPr>
        <p:txBody>
          <a:bodyPr wrap="square" lIns="0" tIns="0" rIns="0" bIns="0" rtlCol="0" anchor="ctr"/>
          <a:lstStyle/>
          <a:p>
            <a:pPr indent="0" marL="0">
              <a:buNone/>
            </a:pPr>
            <a:r>
              <a:rPr lang="en-US" sz="4000" b="1" dirty="0">
                <a:solidFill>
                  <a:srgbClr val="F2B33D"/>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7086600" y="2514600"/>
            <a:ext cx="4206240" cy="1234440"/>
          </a:xfrm>
          <a:prstGeom prst="rect">
            <a:avLst/>
          </a:prstGeom>
          <a:noFill/>
          <a:ln/>
        </p:spPr>
        <p:txBody>
          <a:bodyPr wrap="square" lIns="0" tIns="0" rIns="0" bIns="0" rtlCol="0" anchor="ctr"/>
          <a:lstStyle/>
          <a:p>
            <a:pPr indent="0" marL="0">
              <a:buNone/>
            </a:pPr>
            <a:r>
              <a:rPr lang="en-US" sz="1800" dirty="0">
                <a:solidFill>
                  <a:schemeClr val="bg1"/>
                </a:solidFill>
              </a:rPr>
              <a:t>Does a better forecast mean a better replenishment decision?</a:t>
            </a:r>
            <a:endParaRPr lang="en-US" sz="1800" dirty="0"/>
          </a:p>
        </p:txBody>
      </p:sp>
      <p:sp>
        <p:nvSpPr>
          <p:cNvPr id="10" name="Sales history circle"/>
          <p:cNvSpPr/>
          <p:nvPr/>
        </p:nvSpPr>
        <p:spPr>
          <a:xfrm>
            <a:off x="1097280" y="4160520"/>
            <a:ext cx="777240" cy="777240"/>
          </a:xfrm>
          <a:prstGeom prst="ellipse">
            <a:avLst/>
          </a:prstGeom>
          <a:solidFill>
            <a:srgbClr val="3A4D6B"/>
          </a:solidFill>
          <a:ln w="12700">
            <a:solidFill>
              <a:srgbClr val="3A4D6B"/>
            </a:solidFill>
            <a:prstDash val="solid"/>
          </a:ln>
        </p:spPr>
      </p:sp>
      <p:pic>
        <p:nvPicPr>
          <p:cNvPr id="11" name="Sales history icon" descr="preencoded.png">    </p:cNvPr>
          <p:cNvPicPr>
            <a:picLocks noChangeAspect="1"/>
          </p:cNvPicPr>
          <p:nvPr/>
        </p:nvPicPr>
        <p:blipFill>
          <a:blip r:embed="rId1"/>
          <a:stretch>
            <a:fillRect/>
          </a:stretch>
        </p:blipFill>
        <p:spPr>
          <a:xfrm>
            <a:off x="1283818" y="4347058"/>
            <a:ext cx="404165" cy="404165"/>
          </a:xfrm>
          <a:prstGeom prst="rect">
            <a:avLst/>
          </a:prstGeom>
        </p:spPr>
      </p:pic>
      <p:sp>
        <p:nvSpPr>
          <p:cNvPr id="12" name="Text 9"/>
          <p:cNvSpPr txBox="1"/>
          <p:nvPr/>
        </p:nvSpPr>
        <p:spPr>
          <a:xfrm>
            <a:off x="6400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Sales history</a:t>
            </a:r>
            <a:endParaRPr lang="en-US" sz="1500" dirty="0"/>
          </a:p>
        </p:txBody>
      </p:sp>
      <p:sp>
        <p:nvSpPr>
          <p:cNvPr id="13" name="Text 10"/>
          <p:cNvSpPr txBox="1"/>
          <p:nvPr/>
        </p:nvSpPr>
        <p:spPr>
          <a:xfrm>
            <a:off x="22860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4" name="Forecast circle"/>
          <p:cNvSpPr/>
          <p:nvPr/>
        </p:nvSpPr>
        <p:spPr>
          <a:xfrm>
            <a:off x="3840480" y="4160520"/>
            <a:ext cx="777240" cy="777240"/>
          </a:xfrm>
          <a:prstGeom prst="ellipse">
            <a:avLst/>
          </a:prstGeom>
          <a:solidFill>
            <a:srgbClr val="2A78D6"/>
          </a:solidFill>
          <a:ln w="12700">
            <a:solidFill>
              <a:srgbClr val="2A78D6"/>
            </a:solidFill>
            <a:prstDash val="solid"/>
          </a:ln>
        </p:spPr>
      </p:sp>
      <p:pic>
        <p:nvPicPr>
          <p:cNvPr id="15" name="Forecast icon" descr="preencoded.png">    </p:cNvPr>
          <p:cNvPicPr>
            <a:picLocks noChangeAspect="1"/>
          </p:cNvPicPr>
          <p:nvPr/>
        </p:nvPicPr>
        <p:blipFill>
          <a:blip r:embed="rId2"/>
          <a:stretch>
            <a:fillRect/>
          </a:stretch>
        </p:blipFill>
        <p:spPr>
          <a:xfrm>
            <a:off x="4027018" y="4347058"/>
            <a:ext cx="404165" cy="404165"/>
          </a:xfrm>
          <a:prstGeom prst="rect">
            <a:avLst/>
          </a:prstGeom>
        </p:spPr>
      </p:pic>
      <p:sp>
        <p:nvSpPr>
          <p:cNvPr id="16" name="Text 12"/>
          <p:cNvSpPr txBox="1"/>
          <p:nvPr/>
        </p:nvSpPr>
        <p:spPr>
          <a:xfrm>
            <a:off x="33832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Forecast</a:t>
            </a:r>
            <a:endParaRPr lang="en-US" sz="1500" dirty="0"/>
          </a:p>
        </p:txBody>
      </p:sp>
      <p:sp>
        <p:nvSpPr>
          <p:cNvPr id="17" name="Text 13"/>
          <p:cNvSpPr txBox="1"/>
          <p:nvPr/>
        </p:nvSpPr>
        <p:spPr>
          <a:xfrm>
            <a:off x="50292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18" name="Order circle"/>
          <p:cNvSpPr/>
          <p:nvPr/>
        </p:nvSpPr>
        <p:spPr>
          <a:xfrm>
            <a:off x="6583680" y="4160520"/>
            <a:ext cx="777240" cy="777240"/>
          </a:xfrm>
          <a:prstGeom prst="ellipse">
            <a:avLst/>
          </a:prstGeom>
          <a:solidFill>
            <a:srgbClr val="F2B33D"/>
          </a:solidFill>
          <a:ln w="12700">
            <a:solidFill>
              <a:srgbClr val="F2B33D"/>
            </a:solidFill>
            <a:prstDash val="solid"/>
          </a:ln>
        </p:spPr>
      </p:sp>
      <p:pic>
        <p:nvPicPr>
          <p:cNvPr id="19" name="Order icon" descr="preencoded.png">    </p:cNvPr>
          <p:cNvPicPr>
            <a:picLocks noChangeAspect="1"/>
          </p:cNvPicPr>
          <p:nvPr/>
        </p:nvPicPr>
        <p:blipFill>
          <a:blip r:embed="rId3"/>
          <a:stretch>
            <a:fillRect/>
          </a:stretch>
        </p:blipFill>
        <p:spPr>
          <a:xfrm>
            <a:off x="6770218" y="4347058"/>
            <a:ext cx="404165" cy="404165"/>
          </a:xfrm>
          <a:prstGeom prst="rect">
            <a:avLst/>
          </a:prstGeom>
        </p:spPr>
      </p:pic>
      <p:sp>
        <p:nvSpPr>
          <p:cNvPr id="20" name="Text 15"/>
          <p:cNvSpPr txBox="1"/>
          <p:nvPr/>
        </p:nvSpPr>
        <p:spPr>
          <a:xfrm>
            <a:off x="61264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Order</a:t>
            </a:r>
            <a:endParaRPr lang="en-US" sz="1500" dirty="0"/>
          </a:p>
        </p:txBody>
      </p:sp>
      <p:sp>
        <p:nvSpPr>
          <p:cNvPr id="21" name="Text 16"/>
          <p:cNvSpPr txBox="1"/>
          <p:nvPr/>
        </p:nvSpPr>
        <p:spPr>
          <a:xfrm>
            <a:off x="7772400" y="4160520"/>
            <a:ext cx="1097280" cy="777240"/>
          </a:xfrm>
          <a:prstGeom prst="rect">
            <a:avLst/>
          </a:prstGeom>
          <a:noFill/>
          <a:ln/>
        </p:spPr>
        <p:txBody>
          <a:bodyPr wrap="square" lIns="0" tIns="0" rIns="0" bIns="0" rtlCol="0" anchor="ctr"/>
          <a:lstStyle/>
          <a:p>
            <a:pPr algn="ctr" indent="0" marL="0">
              <a:buNone/>
            </a:pPr>
            <a:r>
              <a:rPr lang="en-US" sz="3000" dirty="0">
                <a:solidFill>
                  <a:srgbClr val="9A9993"/>
                </a:solidFill>
              </a:rPr>
              <a:t>→</a:t>
            </a:r>
            <a:endParaRPr lang="en-US" sz="3000" dirty="0"/>
          </a:p>
        </p:txBody>
      </p:sp>
      <p:sp>
        <p:nvSpPr>
          <p:cNvPr id="22" name="Shelf circle"/>
          <p:cNvSpPr/>
          <p:nvPr/>
        </p:nvSpPr>
        <p:spPr>
          <a:xfrm>
            <a:off x="9326880" y="4160520"/>
            <a:ext cx="777240" cy="777240"/>
          </a:xfrm>
          <a:prstGeom prst="ellipse">
            <a:avLst/>
          </a:prstGeom>
          <a:solidFill>
            <a:srgbClr val="3A4D6B"/>
          </a:solidFill>
          <a:ln w="12700">
            <a:solidFill>
              <a:srgbClr val="3A4D6B"/>
            </a:solidFill>
            <a:prstDash val="solid"/>
          </a:ln>
        </p:spPr>
      </p:sp>
      <p:pic>
        <p:nvPicPr>
          <p:cNvPr id="23" name="Shelf icon" descr="preencoded.png">    </p:cNvPr>
          <p:cNvPicPr>
            <a:picLocks noChangeAspect="1"/>
          </p:cNvPicPr>
          <p:nvPr/>
        </p:nvPicPr>
        <p:blipFill>
          <a:blip r:embed="rId4"/>
          <a:stretch>
            <a:fillRect/>
          </a:stretch>
        </p:blipFill>
        <p:spPr>
          <a:xfrm>
            <a:off x="9513418" y="4347058"/>
            <a:ext cx="404165" cy="404165"/>
          </a:xfrm>
          <a:prstGeom prst="rect">
            <a:avLst/>
          </a:prstGeom>
        </p:spPr>
      </p:pic>
      <p:sp>
        <p:nvSpPr>
          <p:cNvPr id="24" name="Text 18"/>
          <p:cNvSpPr txBox="1"/>
          <p:nvPr/>
        </p:nvSpPr>
        <p:spPr>
          <a:xfrm>
            <a:off x="8869680" y="5029200"/>
            <a:ext cx="1691640" cy="365760"/>
          </a:xfrm>
          <a:prstGeom prst="rect">
            <a:avLst/>
          </a:prstGeom>
          <a:noFill/>
          <a:ln/>
        </p:spPr>
        <p:txBody>
          <a:bodyPr wrap="square" lIns="0" tIns="0" rIns="0" bIns="0" rtlCol="0" anchor="ctr"/>
          <a:lstStyle/>
          <a:p>
            <a:pPr algn="ctr" indent="0" marL="0">
              <a:buNone/>
            </a:pPr>
            <a:r>
              <a:rPr lang="en-US" sz="1500" dirty="0">
                <a:solidFill>
                  <a:schemeClr val="bg2"/>
                </a:solidFill>
              </a:rPr>
              <a:t>Shelf</a:t>
            </a:r>
            <a:endParaRPr lang="en-US" sz="1500" dirty="0"/>
          </a:p>
        </p:txBody>
      </p:sp>
      <p:sp>
        <p:nvSpPr>
          <p:cNvPr id="25" name="Text 19"/>
          <p:cNvSpPr txBox="1"/>
          <p:nvPr/>
        </p:nvSpPr>
        <p:spPr>
          <a:xfrm>
            <a:off x="640080" y="6035040"/>
            <a:ext cx="10881360" cy="365760"/>
          </a:xfrm>
          <a:prstGeom prst="rect">
            <a:avLst/>
          </a:prstGeom>
          <a:noFill/>
          <a:ln/>
        </p:spPr>
        <p:txBody>
          <a:bodyPr wrap="square" lIns="0" tIns="0" rIns="0" bIns="0" rtlCol="0" anchor="ctr"/>
          <a:lstStyle/>
          <a:p>
            <a:pPr indent="0" marL="0">
              <a:buNone/>
            </a:pPr>
            <a:r>
              <a:rPr lang="en-US" sz="1300" dirty="0">
                <a:solidFill>
                  <a:schemeClr val="bg2"/>
                </a:solidFill>
              </a:rPr>
              <a:t>Group 3: Charlotte Zhu, Shihan Wang, Jing Chang, Rachel Liu · Time Series Analysis and Forecasting · UCLA Anderson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5,748 daily series, one 28-day test window</a:t>
            </a:r>
            <a:endParaRPr lang="en-US" sz="3400" dirty="0"/>
          </a:p>
        </p:txBody>
      </p:sp>
      <p:sp>
        <p:nvSpPr>
          <p:cNvPr id="3" name="train bar"/>
          <p:cNvSpPr/>
          <p:nvPr/>
        </p:nvSpPr>
        <p:spPr>
          <a:xfrm>
            <a:off x="548640" y="1325880"/>
            <a:ext cx="9326880" cy="685800"/>
          </a:xfrm>
          <a:prstGeom prst="roundRect">
            <a:avLst>
              <a:gd name="adj" fmla="val 10667"/>
            </a:avLst>
          </a:prstGeom>
          <a:solidFill>
            <a:srgbClr val="1B2A41"/>
          </a:solidFill>
          <a:ln w="12700">
            <a:solidFill>
              <a:srgbClr val="1B2A41"/>
            </a:solidFill>
            <a:prstDash val="solid"/>
          </a:ln>
        </p:spPr>
      </p:sp>
      <p:sp>
        <p:nvSpPr>
          <p:cNvPr id="4" name="Text 2"/>
          <p:cNvSpPr txBox="1"/>
          <p:nvPr/>
        </p:nvSpPr>
        <p:spPr>
          <a:xfrm>
            <a:off x="777240" y="1325880"/>
            <a:ext cx="8961120" cy="685800"/>
          </a:xfrm>
          <a:prstGeom prst="rect">
            <a:avLst/>
          </a:prstGeom>
          <a:noFill/>
          <a:ln/>
        </p:spPr>
        <p:txBody>
          <a:bodyPr wrap="square" lIns="0" tIns="0" rIns="0" bIns="0" rtlCol="0" anchor="ctr"/>
          <a:lstStyle/>
          <a:p>
            <a:pPr indent="0" marL="0">
              <a:buNone/>
            </a:pPr>
            <a:r>
              <a:rPr lang="en-US" sz="1500" b="1" dirty="0">
                <a:solidFill>
                  <a:srgbClr val="FFFFFF"/>
                </a:solidFill>
              </a:rPr>
              <a:t>Training: Jan 29, 2011 – May 22, 2016 (1,941 days) · models fitted and tuned here</a:t>
            </a:r>
            <a:endParaRPr lang="en-US" sz="1500" dirty="0"/>
          </a:p>
        </p:txBody>
      </p:sp>
      <p:sp>
        <p:nvSpPr>
          <p:cNvPr id="5" name="test bar"/>
          <p:cNvSpPr/>
          <p:nvPr/>
        </p:nvSpPr>
        <p:spPr>
          <a:xfrm>
            <a:off x="9966960" y="1325880"/>
            <a:ext cx="1645920" cy="685800"/>
          </a:xfrm>
          <a:prstGeom prst="roundRect">
            <a:avLst>
              <a:gd name="adj" fmla="val 10667"/>
            </a:avLst>
          </a:prstGeom>
          <a:solidFill>
            <a:srgbClr val="F2B33D"/>
          </a:solidFill>
          <a:ln w="12700">
            <a:solidFill>
              <a:srgbClr val="F2B33D"/>
            </a:solidFill>
            <a:prstDash val="solid"/>
          </a:ln>
        </p:spPr>
      </p:sp>
      <p:sp>
        <p:nvSpPr>
          <p:cNvPr id="6" name="Text 4"/>
          <p:cNvSpPr txBox="1"/>
          <p:nvPr/>
        </p:nvSpPr>
        <p:spPr>
          <a:xfrm>
            <a:off x="9966960" y="1325880"/>
            <a:ext cx="1645920" cy="685800"/>
          </a:xfrm>
          <a:prstGeom prst="rect">
            <a:avLst/>
          </a:prstGeom>
          <a:noFill/>
          <a:ln/>
        </p:spPr>
        <p:txBody>
          <a:bodyPr wrap="square" lIns="0" tIns="0" rIns="0" bIns="0" rtlCol="0" anchor="ctr"/>
          <a:lstStyle/>
          <a:p>
            <a:pPr algn="ctr" indent="0" marL="0">
              <a:buNone/>
            </a:pPr>
            <a:r>
              <a:rPr lang="en-US" sz="1500" b="1" dirty="0">
                <a:solidFill>
                  <a:srgbClr val="1F2328"/>
                </a:solidFill>
              </a:rPr>
              <a:t>Test: 28 days</a:t>
            </a:r>
            <a:endParaRPr lang="en-US" sz="1500" dirty="0"/>
          </a:p>
        </p:txBody>
      </p:sp>
      <p:sp>
        <p:nvSpPr>
          <p:cNvPr id="7" name="Text 5"/>
          <p:cNvSpPr txBox="1"/>
          <p:nvPr/>
        </p:nvSpPr>
        <p:spPr>
          <a:xfrm>
            <a:off x="548640" y="2103120"/>
            <a:ext cx="11064240" cy="320040"/>
          </a:xfrm>
          <a:prstGeom prst="rect">
            <a:avLst/>
          </a:prstGeom>
          <a:noFill/>
          <a:ln/>
        </p:spPr>
        <p:txBody>
          <a:bodyPr wrap="square" lIns="0" tIns="0" rIns="0" bIns="0" rtlCol="0" anchor="ctr"/>
          <a:lstStyle/>
          <a:p>
            <a:pPr indent="0" marL="0">
              <a:buNone/>
            </a:pPr>
            <a:r>
              <a:rPr lang="en-US" sz="1300" dirty="0">
                <a:solidFill>
                  <a:srgbClr val="6B6A66"/>
                </a:solidFill>
              </a:rPr>
              <a:t>May 23 – Jun 19, 2016, never seen by any model. LightGBM tuning used only the last 28 training days.</a:t>
            </a:r>
            <a:endParaRPr lang="en-US" sz="1300" dirty="0"/>
          </a:p>
        </p:txBody>
      </p:sp>
      <p:graphicFrame>
        <p:nvGraphicFramePr>
          <p:cNvPr id="8" name="weekly sales chart" descr=""/>
          <p:cNvGraphicFramePr/>
          <p:nvPr/>
        </p:nvGraphicFramePr>
        <p:xfrm>
          <a:off x="548640" y="2606040"/>
          <a:ext cx="6766560" cy="3566160"/>
        </p:xfrm>
        <a:graphic xmlns:a="http://schemas.openxmlformats.org/drawingml/2006/main">
          <a:graphicData uri="http://schemas.openxmlformats.org/drawingml/2006/chart">
            <c:chart xmlns:c="http://schemas.openxmlformats.org/drawingml/2006/chart" r:id="rId1"/>
          </a:graphicData>
        </a:graphic>
      </p:graphicFrame>
      <p:sp>
        <p:nvSpPr>
          <p:cNvPr id="9" name="data card 0"/>
          <p:cNvSpPr/>
          <p:nvPr/>
        </p:nvSpPr>
        <p:spPr>
          <a:xfrm>
            <a:off x="7680960" y="2697480"/>
            <a:ext cx="3931920" cy="1051560"/>
          </a:xfrm>
          <a:prstGeom prst="roundRect">
            <a:avLst>
              <a:gd name="adj" fmla="val 10435"/>
            </a:avLst>
          </a:prstGeom>
          <a:solidFill>
            <a:schemeClr val="bg2"/>
          </a:solidFill>
          <a:ln w="12700">
            <a:solidFill>
              <a:schemeClr val="bg2"/>
            </a:solidFill>
            <a:prstDash val="solid"/>
          </a:ln>
        </p:spPr>
      </p:sp>
      <p:sp>
        <p:nvSpPr>
          <p:cNvPr id="10" name="Text 7"/>
          <p:cNvSpPr txBox="1"/>
          <p:nvPr/>
        </p:nvSpPr>
        <p:spPr>
          <a:xfrm>
            <a:off x="7909560" y="278892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4 stores × 1,437 items</a:t>
            </a:r>
            <a:endParaRPr lang="en-US" sz="1800" dirty="0"/>
          </a:p>
        </p:txBody>
      </p:sp>
      <p:sp>
        <p:nvSpPr>
          <p:cNvPr id="11" name="Text 8"/>
          <p:cNvSpPr txBox="1"/>
          <p:nvPr/>
        </p:nvSpPr>
        <p:spPr>
          <a:xfrm>
            <a:off x="7909560" y="3200400"/>
            <a:ext cx="3566160" cy="502920"/>
          </a:xfrm>
          <a:prstGeom prst="rect">
            <a:avLst/>
          </a:prstGeom>
          <a:noFill/>
          <a:ln/>
        </p:spPr>
        <p:txBody>
          <a:bodyPr wrap="square" lIns="0" tIns="0" rIns="0" bIns="0" rtlCol="0" anchor="t"/>
          <a:lstStyle/>
          <a:p>
            <a:pPr indent="0" marL="0">
              <a:buNone/>
            </a:pPr>
            <a:r>
              <a:rPr lang="en-US" sz="1300" dirty="0">
                <a:solidFill>
                  <a:schemeClr val="tx1"/>
                </a:solidFill>
              </a:rPr>
              <a:t>California, food category = 5,748 item × store series</a:t>
            </a:r>
            <a:endParaRPr lang="en-US" sz="1300" dirty="0"/>
          </a:p>
        </p:txBody>
      </p:sp>
      <p:sp>
        <p:nvSpPr>
          <p:cNvPr id="12" name="data card 1"/>
          <p:cNvSpPr/>
          <p:nvPr/>
        </p:nvSpPr>
        <p:spPr>
          <a:xfrm>
            <a:off x="7680960" y="3886200"/>
            <a:ext cx="3931920" cy="1051560"/>
          </a:xfrm>
          <a:prstGeom prst="roundRect">
            <a:avLst>
              <a:gd name="adj" fmla="val 10435"/>
            </a:avLst>
          </a:prstGeom>
          <a:solidFill>
            <a:schemeClr val="bg2"/>
          </a:solidFill>
          <a:ln w="12700">
            <a:solidFill>
              <a:schemeClr val="bg2"/>
            </a:solidFill>
            <a:prstDash val="solid"/>
          </a:ln>
        </p:spPr>
      </p:sp>
      <p:sp>
        <p:nvSpPr>
          <p:cNvPr id="13" name="Text 10"/>
          <p:cNvSpPr txBox="1"/>
          <p:nvPr/>
        </p:nvSpPr>
        <p:spPr>
          <a:xfrm>
            <a:off x="7909560" y="3977640"/>
            <a:ext cx="3566160" cy="411480"/>
          </a:xfrm>
          <a:prstGeom prst="rect">
            <a:avLst/>
          </a:prstGeom>
          <a:noFill/>
          <a:ln/>
        </p:spPr>
        <p:txBody>
          <a:bodyPr wrap="square" lIns="0" tIns="0" rIns="0" bIns="0" rtlCol="0" anchor="ctr"/>
          <a:lstStyle/>
          <a:p>
            <a:pPr indent="0" marL="0">
              <a:buNone/>
            </a:pPr>
            <a:r>
              <a:rPr lang="en-US" sz="1800" b="1" dirty="0">
                <a:solidFill>
                  <a:schemeClr val="tx2"/>
                </a:solidFill>
                <a:latin typeface="Cambria" pitchFamily="34" charset="0"/>
                <a:ea typeface="Cambria" pitchFamily="34" charset="-122"/>
                <a:cs typeface="Cambria" pitchFamily="34" charset="-120"/>
              </a:rPr>
              <a:t>WRMSSE</a:t>
            </a:r>
            <a:endParaRPr lang="en-US" sz="1800" dirty="0"/>
          </a:p>
        </p:txBody>
      </p:sp>
      <p:sp>
        <p:nvSpPr>
          <p:cNvPr id="14" name="Text 11"/>
          <p:cNvSpPr txBox="1"/>
          <p:nvPr/>
        </p:nvSpPr>
        <p:spPr>
          <a:xfrm>
            <a:off x="7909560" y="4389120"/>
            <a:ext cx="3566160" cy="502920"/>
          </a:xfrm>
          <a:prstGeom prst="rect">
            <a:avLst/>
          </a:prstGeom>
          <a:noFill/>
          <a:ln/>
        </p:spPr>
        <p:txBody>
          <a:bodyPr wrap="square" lIns="0" tIns="0" rIns="0" bIns="0" rtlCol="0" anchor="t"/>
          <a:lstStyle/>
          <a:p>
            <a:pPr indent="0" marL="0">
              <a:buNone/>
            </a:pPr>
            <a:r>
              <a:rPr lang="en-US" sz="1300" dirty="0">
                <a:solidFill>
                  <a:schemeClr val="tx1"/>
                </a:solidFill>
              </a:rPr>
              <a:t>The official M5 score: scaled, sales-weighted error; below 1 beats naive</a:t>
            </a:r>
            <a:endParaRPr lang="en-US" sz="1300" dirty="0"/>
          </a:p>
        </p:txBody>
      </p:sp>
      <p:sp>
        <p:nvSpPr>
          <p:cNvPr id="15" name="data card 2"/>
          <p:cNvSpPr/>
          <p:nvPr/>
        </p:nvSpPr>
        <p:spPr>
          <a:xfrm>
            <a:off x="7680960" y="5074920"/>
            <a:ext cx="3931920" cy="1051560"/>
          </a:xfrm>
          <a:prstGeom prst="roundRect">
            <a:avLst>
              <a:gd name="adj" fmla="val 10435"/>
            </a:avLst>
          </a:prstGeom>
          <a:solidFill>
            <a:schemeClr val="bg2"/>
          </a:solidFill>
          <a:ln w="12700">
            <a:solidFill>
              <a:schemeClr val="bg2"/>
            </a:solidFill>
            <a:prstDash val="solid"/>
          </a:ln>
        </p:spPr>
      </p:sp>
      <p:sp>
        <p:nvSpPr>
          <p:cNvPr id="16" name="Text 13"/>
          <p:cNvSpPr txBox="1"/>
          <p:nvPr/>
        </p:nvSpPr>
        <p:spPr>
          <a:xfrm>
            <a:off x="7909560" y="5166360"/>
            <a:ext cx="3566160" cy="411480"/>
          </a:xfrm>
          <a:prstGeom prst="rect">
            <a:avLst/>
          </a:prstGeom>
          <a:noFill/>
          <a:ln/>
        </p:spPr>
        <p:txBody>
          <a:bodyPr wrap="square" lIns="0" tIns="0" rIns="0" bIns="0" rtlCol="0" anchor="ctr"/>
          <a:lstStyle/>
          <a:p>
            <a:pPr indent="0" marL="0">
              <a:buNone/>
            </a:pPr>
            <a:r>
              <a:rPr lang="en-US" sz="1800" b="1" dirty="0">
                <a:solidFill>
                  <a:srgbClr val="EB6834"/>
                </a:solidFill>
                <a:latin typeface="Cambria" pitchFamily="34" charset="0"/>
                <a:ea typeface="Cambria" pitchFamily="34" charset="-122"/>
                <a:cs typeface="Cambria" pitchFamily="34" charset="-120"/>
              </a:rPr>
              <a:t>One test window</a:t>
            </a:r>
            <a:endParaRPr lang="en-US" sz="1800" dirty="0"/>
          </a:p>
        </p:txBody>
      </p:sp>
      <p:sp>
        <p:nvSpPr>
          <p:cNvPr id="17" name="Text 14"/>
          <p:cNvSpPr txBox="1"/>
          <p:nvPr/>
        </p:nvSpPr>
        <p:spPr>
          <a:xfrm>
            <a:off x="7909560" y="5577840"/>
            <a:ext cx="3566160" cy="502920"/>
          </a:xfrm>
          <a:prstGeom prst="rect">
            <a:avLst/>
          </a:prstGeom>
          <a:noFill/>
          <a:ln/>
        </p:spPr>
        <p:txBody>
          <a:bodyPr wrap="square" lIns="0" tIns="0" rIns="0" bIns="0" rtlCol="0" anchor="t"/>
          <a:lstStyle/>
          <a:p>
            <a:pPr indent="0" marL="0">
              <a:buNone/>
            </a:pPr>
            <a:r>
              <a:rPr lang="en-US" sz="1300" dirty="0">
                <a:solidFill>
                  <a:schemeClr val="tx1"/>
                </a:solidFill>
              </a:rPr>
              <a:t>All results come from a single 28 days; rankings could shift</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Five models plus a simple average</a:t>
            </a:r>
            <a:endParaRPr lang="en-US" sz="3400" dirty="0"/>
          </a:p>
        </p:txBody>
      </p:sp>
      <p:graphicFrame>
        <p:nvGraphicFramePr>
          <p:cNvPr id="4" name="model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920240"/>
                <a:gridCol w="2194560"/>
                <a:gridCol w="4206240"/>
                <a:gridCol w="2743200"/>
              </a:tblGrid>
              <a:tr h="512064">
                <a:tc>
                  <a:txBody>
                    <a:bodyPr/>
                    <a:lstStyle/>
                    <a:p>
                      <a:pPr indent="0" marL="0">
                        <a:buNone/>
                      </a:pPr>
                      <a:r>
                        <a:rPr lang="en-US" sz="1500" b="1" dirty="0">
                          <a:solidFill>
                            <a:srgbClr val="FFFFFF"/>
                          </a:solidFill>
                        </a:rPr>
                        <a:t>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Family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How it is fitted</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c>
                  <a:txBody>
                    <a:bodyPr/>
                    <a:lstStyle/>
                    <a:p>
                      <a:pPr indent="0" marL="0">
                        <a:buNone/>
                      </a:pPr>
                      <a:r>
                        <a:rPr lang="en-US" sz="1500" b="1" dirty="0">
                          <a:solidFill>
                            <a:srgbClr val="FFFFFF"/>
                          </a:solidFill>
                        </a:rPr>
                        <a:t>What it sees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solidFill>
                      <a:srgbClr val="1B2A41"/>
                    </a:solidFill>
                  </a:tcPr>
                </a:tc>
              </a:tr>
              <a:tr h="512064">
                <a:tc>
                  <a:txBody>
                    <a:bodyPr/>
                    <a:lstStyle/>
                    <a:p>
                      <a:pPr indent="0" marL="0">
                        <a:buNone/>
                      </a:pPr>
                      <a:r>
                        <a:rPr lang="en-US" sz="1500" b="1" dirty="0">
                          <a:solidFill>
                            <a:srgbClr val="D55181"/>
                          </a:solidFill>
                        </a:rPr>
                        <a:t>AutoETS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(exponential smoothing)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1BAF7A"/>
                          </a:solidFill>
                        </a:rPr>
                        <a:t>AutoARIMA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Statistics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per series (seasonal ARIMA)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2A78D6"/>
                          </a:solidFill>
                        </a:rPr>
                        <a:t>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Machine learning</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One model trained across all items, predicts each item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History + price, calendar, SNAP</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EB6834"/>
                          </a:solidFill>
                        </a:rPr>
                        <a:t>Chronos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AI foundation model</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Pre-trained by Amazon, zero-shot: no training on our data</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Own history</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0F5C73"/>
                          </a:solidFill>
                        </a:rPr>
                        <a:t>Ensemble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Combination</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Unweighted average of AutoETS and LightGBM</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Their two forecasts</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r h="512064">
                <a:tc>
                  <a:txBody>
                    <a:bodyPr/>
                    <a:lstStyle/>
                    <a:p>
                      <a:pPr indent="0" marL="0">
                        <a:buNone/>
                      </a:pPr>
                      <a:r>
                        <a:rPr lang="en-US" sz="1500" b="1" dirty="0">
                          <a:solidFill>
                            <a:srgbClr val="9A9993"/>
                          </a:solidFill>
                        </a:rPr>
                        <a:t>Seasonal naive</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Benchmark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Repeats the same weekday 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c>
                  <a:txBody>
                    <a:bodyPr/>
                    <a:lstStyle/>
                    <a:p>
                      <a:pPr indent="0" marL="0">
                        <a:buNone/>
                      </a:pPr>
                      <a:r>
                        <a:rPr lang="en-US" sz="1500" dirty="0">
                          <a:solidFill>
                            <a:srgbClr val="1F2328"/>
                          </a:solidFill>
                        </a:rPr>
                        <a:t>Last week</a:t>
                      </a:r>
                      <a:endParaRPr lang="en-US" sz="1500" dirty="0"/>
                    </a:p>
                  </a:txBody>
                  <a:tcPr marL="73152" marR="73152" marT="73152" marB="73152" anchor="ctr">
                    <a:lnL w="9525" cap="flat" cmpd="sng" algn="ctr">
                      <a:solidFill>
                        <a:srgbClr val="D9DCE1"/>
                      </a:solidFill>
                      <a:prstDash val="solid"/>
                      <a:round/>
                      <a:headEnd type="none" w="med" len="med"/>
                      <a:tailEnd type="none" w="med" len="med"/>
                    </a:lnL>
                    <a:lnR w="9525" cap="flat" cmpd="sng" algn="ctr">
                      <a:solidFill>
                        <a:srgbClr val="D9DCE1"/>
                      </a:solidFill>
                      <a:prstDash val="solid"/>
                      <a:round/>
                      <a:headEnd type="none" w="med" len="med"/>
                      <a:tailEnd type="none" w="med" len="med"/>
                    </a:lnR>
                    <a:lnT w="9525" cap="flat" cmpd="sng" algn="ctr">
                      <a:solidFill>
                        <a:srgbClr val="D9DCE1"/>
                      </a:solidFill>
                      <a:prstDash val="solid"/>
                      <a:round/>
                      <a:headEnd type="none" w="med" len="med"/>
                      <a:tailEnd type="none" w="med" len="med"/>
                    </a:lnT>
                    <a:lnB w="9525" cap="flat" cmpd="sng" algn="ctr">
                      <a:solidFill>
                        <a:srgbClr val="D9DCE1"/>
                      </a:solidFill>
                      <a:prstDash val="solid"/>
                      <a:round/>
                      <a:headEnd type="none" w="med" len="med"/>
                      <a:tailEnd type="none" w="med" len="med"/>
                    </a:lnB>
                  </a:tcPr>
                </a:tc>
              </a:tr>
            </a:tbl>
          </a:graphicData>
        </a:graphic>
      </p:graphicFrame>
      <p:sp>
        <p:nvSpPr>
          <p:cNvPr id="4" name="inputs note"/>
          <p:cNvSpPr/>
          <p:nvPr/>
        </p:nvSpPr>
        <p:spPr>
          <a:xfrm>
            <a:off x="548640" y="5257800"/>
            <a:ext cx="11064240" cy="777240"/>
          </a:xfrm>
          <a:prstGeom prst="roundRect">
            <a:avLst>
              <a:gd name="adj" fmla="val 14118"/>
            </a:avLst>
          </a:prstGeom>
          <a:solidFill>
            <a:schemeClr val="bg2"/>
          </a:solidFill>
          <a:ln w="12700">
            <a:solidFill>
              <a:schemeClr val="bg2"/>
            </a:solidFill>
            <a:prstDash val="solid"/>
          </a:ln>
        </p:spPr>
      </p:sp>
      <p:sp>
        <p:nvSpPr>
          <p:cNvPr id="5" name="Text 2"/>
          <p:cNvSpPr txBox="1"/>
          <p:nvPr/>
        </p:nvSpPr>
        <p:spPr>
          <a:xfrm>
            <a:off x="822960" y="5257800"/>
            <a:ext cx="10607040" cy="777240"/>
          </a:xfrm>
          <a:prstGeom prst="rect">
            <a:avLst/>
          </a:prstGeom>
          <a:noFill/>
          <a:ln/>
        </p:spPr>
        <p:txBody>
          <a:bodyPr wrap="square" lIns="0" tIns="0" rIns="0" bIns="0" rtlCol="0" anchor="ctr"/>
          <a:lstStyle/>
          <a:p>
            <a:pPr indent="0" marL="0">
              <a:buNone/>
            </a:pPr>
            <a:r>
              <a:rPr lang="en-US" sz="1500" b="1" dirty="0">
                <a:solidFill>
                  <a:schemeClr val="tx2"/>
                </a:solidFill>
              </a:rPr>
              <a:t>Inputs differ: </a:t>
            </a:r>
            <a:pPr indent="0" marL="0">
              <a:buNone/>
            </a:pPr>
            <a:r>
              <a:rPr lang="en-US" sz="1500" dirty="0">
                <a:solidFill>
                  <a:schemeClr val="tx2"/>
                </a:solidFill>
              </a:rPr>
              <a:t>AutoETS, AutoARIMA and Chronos see only each series' own history; LightGBM also sees prices and the calendar.</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Averaging AutoETS + LightGBM beats every model</a:t>
            </a:r>
            <a:endParaRPr lang="en-US" sz="3400" dirty="0"/>
          </a:p>
        </p:txBody>
      </p:sp>
      <p:graphicFrame>
        <p:nvGraphicFramePr>
          <p:cNvPr id="3" name="WRMSSE chart" descr=""/>
          <p:cNvGraphicFramePr/>
          <p:nvPr/>
        </p:nvGraphicFramePr>
        <p:xfrm>
          <a:off x="548640" y="1371600"/>
          <a:ext cx="6949440" cy="4480560"/>
        </p:xfrm>
        <a:graphic xmlns:a="http://schemas.openxmlformats.org/drawingml/2006/main">
          <a:graphicData uri="http://schemas.openxmlformats.org/drawingml/2006/chart">
            <c:chart xmlns:c="http://schemas.openxmlformats.org/drawingml/2006/chart" r:id="rId1"/>
          </a:graphicData>
        </a:graphic>
      </p:graphicFrame>
      <p:sp>
        <p:nvSpPr>
          <p:cNvPr id="4" name="acc stat 0"/>
          <p:cNvSpPr/>
          <p:nvPr/>
        </p:nvSpPr>
        <p:spPr>
          <a:xfrm>
            <a:off x="7863840" y="1463040"/>
            <a:ext cx="3749040" cy="1280160"/>
          </a:xfrm>
          <a:prstGeom prst="roundRect">
            <a:avLst>
              <a:gd name="adj" fmla="val 8571"/>
            </a:avLst>
          </a:prstGeom>
          <a:solidFill>
            <a:schemeClr val="bg2"/>
          </a:solidFill>
          <a:ln w="12700">
            <a:solidFill>
              <a:schemeClr val="bg2"/>
            </a:solidFill>
            <a:prstDash val="solid"/>
          </a:ln>
        </p:spPr>
      </p:sp>
      <p:sp>
        <p:nvSpPr>
          <p:cNvPr id="5" name="Text 2"/>
          <p:cNvSpPr txBox="1"/>
          <p:nvPr/>
        </p:nvSpPr>
        <p:spPr>
          <a:xfrm>
            <a:off x="8092440" y="1554480"/>
            <a:ext cx="3291840" cy="685800"/>
          </a:xfrm>
          <a:prstGeom prst="rect">
            <a:avLst/>
          </a:prstGeom>
          <a:noFill/>
          <a:ln/>
        </p:spPr>
        <p:txBody>
          <a:bodyPr wrap="square" lIns="0" tIns="0" rIns="0" bIns="0" rtlCol="0" anchor="ctr"/>
          <a:lstStyle/>
          <a:p>
            <a:pPr indent="0" marL="0">
              <a:buNone/>
            </a:pPr>
            <a:r>
              <a:rPr lang="en-US" sz="3800" b="1" dirty="0">
                <a:solidFill>
                  <a:srgbClr val="0F5C73"/>
                </a:solidFill>
                <a:latin typeface="Cambria" pitchFamily="34" charset="0"/>
                <a:ea typeface="Cambria" pitchFamily="34" charset="-122"/>
                <a:cs typeface="Cambria" pitchFamily="34" charset="-120"/>
              </a:rPr>
              <a:t>0.604</a:t>
            </a:r>
            <a:endParaRPr lang="en-US" sz="3800" dirty="0"/>
          </a:p>
        </p:txBody>
      </p:sp>
      <p:sp>
        <p:nvSpPr>
          <p:cNvPr id="6" name="Text 3"/>
          <p:cNvSpPr txBox="1"/>
          <p:nvPr/>
        </p:nvSpPr>
        <p:spPr>
          <a:xfrm>
            <a:off x="8092440" y="2240280"/>
            <a:ext cx="3383280" cy="411480"/>
          </a:xfrm>
          <a:prstGeom prst="rect">
            <a:avLst/>
          </a:prstGeom>
          <a:noFill/>
          <a:ln/>
        </p:spPr>
        <p:txBody>
          <a:bodyPr wrap="square" lIns="0" tIns="0" rIns="0" bIns="0" rtlCol="0" anchor="ctr"/>
          <a:lstStyle/>
          <a:p>
            <a:pPr indent="0" marL="0">
              <a:buNone/>
            </a:pPr>
            <a:r>
              <a:rPr lang="en-US" sz="1400" dirty="0">
                <a:solidFill>
                  <a:schemeClr val="tx1"/>
                </a:solidFill>
              </a:rPr>
              <a:t>Ensemble: best overall, no tuning</a:t>
            </a:r>
            <a:endParaRPr lang="en-US" sz="1400" dirty="0"/>
          </a:p>
        </p:txBody>
      </p:sp>
      <p:sp>
        <p:nvSpPr>
          <p:cNvPr id="7" name="acc stat 1"/>
          <p:cNvSpPr/>
          <p:nvPr/>
        </p:nvSpPr>
        <p:spPr>
          <a:xfrm>
            <a:off x="7863840" y="2926080"/>
            <a:ext cx="3749040" cy="1280160"/>
          </a:xfrm>
          <a:prstGeom prst="roundRect">
            <a:avLst>
              <a:gd name="adj" fmla="val 8571"/>
            </a:avLst>
          </a:prstGeom>
          <a:solidFill>
            <a:schemeClr val="bg2"/>
          </a:solidFill>
          <a:ln w="12700">
            <a:solidFill>
              <a:schemeClr val="bg2"/>
            </a:solidFill>
            <a:prstDash val="solid"/>
          </a:ln>
        </p:spPr>
      </p:sp>
      <p:sp>
        <p:nvSpPr>
          <p:cNvPr id="8" name="Text 5"/>
          <p:cNvSpPr txBox="1"/>
          <p:nvPr/>
        </p:nvSpPr>
        <p:spPr>
          <a:xfrm>
            <a:off x="8092440" y="3017520"/>
            <a:ext cx="3291840" cy="685800"/>
          </a:xfrm>
          <a:prstGeom prst="rect">
            <a:avLst/>
          </a:prstGeom>
          <a:noFill/>
          <a:ln/>
        </p:spPr>
        <p:txBody>
          <a:bodyPr wrap="square" lIns="0" tIns="0" rIns="0" bIns="0" rtlCol="0" anchor="ctr"/>
          <a:lstStyle/>
          <a:p>
            <a:pPr indent="0" marL="0">
              <a:buNone/>
            </a:pPr>
            <a:r>
              <a:rPr lang="en-US" sz="3800" b="1" dirty="0">
                <a:solidFill>
                  <a:srgbClr val="2A78D6"/>
                </a:solidFill>
                <a:latin typeface="Cambria" pitchFamily="34" charset="0"/>
                <a:ea typeface="Cambria" pitchFamily="34" charset="-122"/>
                <a:cs typeface="Cambria" pitchFamily="34" charset="-120"/>
              </a:rPr>
              <a:t>0.646</a:t>
            </a:r>
            <a:endParaRPr lang="en-US" sz="3800" dirty="0"/>
          </a:p>
        </p:txBody>
      </p:sp>
      <p:sp>
        <p:nvSpPr>
          <p:cNvPr id="9" name="Text 6"/>
          <p:cNvSpPr txBox="1"/>
          <p:nvPr/>
        </p:nvSpPr>
        <p:spPr>
          <a:xfrm>
            <a:off x="8092440" y="3703320"/>
            <a:ext cx="3383280" cy="411480"/>
          </a:xfrm>
          <a:prstGeom prst="rect">
            <a:avLst/>
          </a:prstGeom>
          <a:noFill/>
          <a:ln/>
        </p:spPr>
        <p:txBody>
          <a:bodyPr wrap="square" lIns="0" tIns="0" rIns="0" bIns="0" rtlCol="0" anchor="ctr"/>
          <a:lstStyle/>
          <a:p>
            <a:pPr indent="0" marL="0">
              <a:buNone/>
            </a:pPr>
            <a:r>
              <a:rPr lang="en-US" sz="1400" dirty="0">
                <a:solidFill>
                  <a:schemeClr val="tx1"/>
                </a:solidFill>
              </a:rPr>
              <a:t>LightGBM: best single model</a:t>
            </a:r>
            <a:endParaRPr lang="en-US" sz="1400" dirty="0"/>
          </a:p>
        </p:txBody>
      </p:sp>
      <p:sp>
        <p:nvSpPr>
          <p:cNvPr id="10" name="acc stat 2"/>
          <p:cNvSpPr/>
          <p:nvPr/>
        </p:nvSpPr>
        <p:spPr>
          <a:xfrm>
            <a:off x="7863840" y="4389120"/>
            <a:ext cx="3749040" cy="1280160"/>
          </a:xfrm>
          <a:prstGeom prst="roundRect">
            <a:avLst>
              <a:gd name="adj" fmla="val 8571"/>
            </a:avLst>
          </a:prstGeom>
          <a:solidFill>
            <a:schemeClr val="bg2"/>
          </a:solidFill>
          <a:ln w="12700">
            <a:solidFill>
              <a:schemeClr val="bg2"/>
            </a:solidFill>
            <a:prstDash val="solid"/>
          </a:ln>
        </p:spPr>
      </p:sp>
      <p:sp>
        <p:nvSpPr>
          <p:cNvPr id="11" name="Text 8"/>
          <p:cNvSpPr txBox="1"/>
          <p:nvPr/>
        </p:nvSpPr>
        <p:spPr>
          <a:xfrm>
            <a:off x="8092440" y="4480560"/>
            <a:ext cx="3291840" cy="685800"/>
          </a:xfrm>
          <a:prstGeom prst="rect">
            <a:avLst/>
          </a:prstGeom>
          <a:noFill/>
          <a:ln/>
        </p:spPr>
        <p:txBody>
          <a:bodyPr wrap="square" lIns="0" tIns="0" rIns="0" bIns="0" rtlCol="0" anchor="ctr"/>
          <a:lstStyle/>
          <a:p>
            <a:pPr indent="0" marL="0">
              <a:buNone/>
            </a:pPr>
            <a:r>
              <a:rPr lang="en-US" sz="3800" b="1" dirty="0">
                <a:solidFill>
                  <a:srgbClr val="D55181"/>
                </a:solidFill>
                <a:latin typeface="Cambria" pitchFamily="34" charset="0"/>
                <a:ea typeface="Cambria" pitchFamily="34" charset="-122"/>
                <a:cs typeface="Cambria" pitchFamily="34" charset="-120"/>
              </a:rPr>
              <a:t>0.661</a:t>
            </a:r>
            <a:endParaRPr lang="en-US" sz="3800" dirty="0"/>
          </a:p>
        </p:txBody>
      </p:sp>
      <p:sp>
        <p:nvSpPr>
          <p:cNvPr id="12" name="Text 9"/>
          <p:cNvSpPr txBox="1"/>
          <p:nvPr/>
        </p:nvSpPr>
        <p:spPr>
          <a:xfrm>
            <a:off x="8092440" y="5166360"/>
            <a:ext cx="3383280" cy="411480"/>
          </a:xfrm>
          <a:prstGeom prst="rect">
            <a:avLst/>
          </a:prstGeom>
          <a:noFill/>
          <a:ln/>
        </p:spPr>
        <p:txBody>
          <a:bodyPr wrap="square" lIns="0" tIns="0" rIns="0" bIns="0" rtlCol="0" anchor="ctr"/>
          <a:lstStyle/>
          <a:p>
            <a:pPr indent="0" marL="0">
              <a:buNone/>
            </a:pPr>
            <a:r>
              <a:rPr lang="en-US" sz="1400" dirty="0">
                <a:solidFill>
                  <a:schemeClr val="tx1"/>
                </a:solidFill>
              </a:rPr>
              <a:t>AutoETS: close behind</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Rankings change by level; speed differs 200×</a:t>
            </a:r>
            <a:endParaRPr lang="en-US" sz="3400" dirty="0"/>
          </a:p>
        </p:txBody>
      </p:sp>
      <p:graphicFrame>
        <p:nvGraphicFramePr>
          <p:cNvPr id="3" name="level chart" descr=""/>
          <p:cNvGraphicFramePr/>
          <p:nvPr/>
        </p:nvGraphicFramePr>
        <p:xfrm>
          <a:off x="548640" y="1371600"/>
          <a:ext cx="7132320" cy="42062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046720" y="1417320"/>
            <a:ext cx="3566160" cy="365760"/>
          </a:xfrm>
          <a:prstGeom prst="rect">
            <a:avLst/>
          </a:prstGeom>
          <a:noFill/>
          <a:ln/>
        </p:spPr>
        <p:txBody>
          <a:bodyPr wrap="square" lIns="0" tIns="0" rIns="0" bIns="0" rtlCol="0" anchor="ctr"/>
          <a:lstStyle/>
          <a:p>
            <a:pPr indent="0" marL="0">
              <a:buNone/>
            </a:pPr>
            <a:r>
              <a:rPr lang="en-US" sz="1500" b="1" dirty="0">
                <a:solidFill>
                  <a:schemeClr val="tx2"/>
                </a:solidFill>
              </a:rPr>
              <a:t>Time to forecast all 5,748 series</a:t>
            </a:r>
            <a:endParaRPr lang="en-US" sz="1500" dirty="0"/>
          </a:p>
        </p:txBody>
      </p:sp>
      <p:sp>
        <p:nvSpPr>
          <p:cNvPr id="5" name="time Chronos"/>
          <p:cNvSpPr/>
          <p:nvPr/>
        </p:nvSpPr>
        <p:spPr>
          <a:xfrm>
            <a:off x="8046720" y="1874520"/>
            <a:ext cx="3566160" cy="603504"/>
          </a:xfrm>
          <a:prstGeom prst="roundRect">
            <a:avLst>
              <a:gd name="adj" fmla="val 18182"/>
            </a:avLst>
          </a:prstGeom>
          <a:solidFill>
            <a:schemeClr val="bg2"/>
          </a:solidFill>
          <a:ln w="12700">
            <a:solidFill>
              <a:schemeClr val="bg2"/>
            </a:solidFill>
            <a:prstDash val="solid"/>
          </a:ln>
        </p:spPr>
      </p:sp>
      <p:sp>
        <p:nvSpPr>
          <p:cNvPr id="6" name="Text 3"/>
          <p:cNvSpPr txBox="1"/>
          <p:nvPr/>
        </p:nvSpPr>
        <p:spPr>
          <a:xfrm>
            <a:off x="8275320" y="1874520"/>
            <a:ext cx="1828800" cy="603504"/>
          </a:xfrm>
          <a:prstGeom prst="rect">
            <a:avLst/>
          </a:prstGeom>
          <a:noFill/>
          <a:ln/>
        </p:spPr>
        <p:txBody>
          <a:bodyPr wrap="square" lIns="0" tIns="0" rIns="0" bIns="0" rtlCol="0" anchor="ctr"/>
          <a:lstStyle/>
          <a:p>
            <a:pPr indent="0" marL="0">
              <a:buNone/>
            </a:pPr>
            <a:r>
              <a:rPr lang="en-US" sz="1600" b="1" dirty="0">
                <a:solidFill>
                  <a:srgbClr val="EB6834"/>
                </a:solidFill>
              </a:rPr>
              <a:t>Chronos</a:t>
            </a:r>
            <a:endParaRPr lang="en-US" sz="1600" dirty="0"/>
          </a:p>
        </p:txBody>
      </p:sp>
      <p:sp>
        <p:nvSpPr>
          <p:cNvPr id="7" name="Text 4"/>
          <p:cNvSpPr txBox="1"/>
          <p:nvPr/>
        </p:nvSpPr>
        <p:spPr>
          <a:xfrm>
            <a:off x="9966960" y="1874520"/>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10 s</a:t>
            </a:r>
            <a:endParaRPr lang="en-US" sz="2000" dirty="0"/>
          </a:p>
        </p:txBody>
      </p:sp>
      <p:sp>
        <p:nvSpPr>
          <p:cNvPr id="8" name="time LightGBM"/>
          <p:cNvSpPr/>
          <p:nvPr/>
        </p:nvSpPr>
        <p:spPr>
          <a:xfrm>
            <a:off x="8046720" y="2587752"/>
            <a:ext cx="3566160" cy="603504"/>
          </a:xfrm>
          <a:prstGeom prst="roundRect">
            <a:avLst>
              <a:gd name="adj" fmla="val 18182"/>
            </a:avLst>
          </a:prstGeom>
          <a:solidFill>
            <a:schemeClr val="bg2"/>
          </a:solidFill>
          <a:ln w="12700">
            <a:solidFill>
              <a:schemeClr val="bg2"/>
            </a:solidFill>
            <a:prstDash val="solid"/>
          </a:ln>
        </p:spPr>
      </p:sp>
      <p:sp>
        <p:nvSpPr>
          <p:cNvPr id="9" name="Text 6"/>
          <p:cNvSpPr txBox="1"/>
          <p:nvPr/>
        </p:nvSpPr>
        <p:spPr>
          <a:xfrm>
            <a:off x="8275320" y="2587752"/>
            <a:ext cx="1828800" cy="603504"/>
          </a:xfrm>
          <a:prstGeom prst="rect">
            <a:avLst/>
          </a:prstGeom>
          <a:noFill/>
          <a:ln/>
        </p:spPr>
        <p:txBody>
          <a:bodyPr wrap="square" lIns="0" tIns="0" rIns="0" bIns="0" rtlCol="0" anchor="ctr"/>
          <a:lstStyle/>
          <a:p>
            <a:pPr indent="0" marL="0">
              <a:buNone/>
            </a:pPr>
            <a:r>
              <a:rPr lang="en-US" sz="1600" b="1" dirty="0">
                <a:solidFill>
                  <a:srgbClr val="2A78D6"/>
                </a:solidFill>
              </a:rPr>
              <a:t>LightGBM</a:t>
            </a:r>
            <a:endParaRPr lang="en-US" sz="1600" dirty="0"/>
          </a:p>
        </p:txBody>
      </p:sp>
      <p:sp>
        <p:nvSpPr>
          <p:cNvPr id="10" name="Text 7"/>
          <p:cNvSpPr txBox="1"/>
          <p:nvPr/>
        </p:nvSpPr>
        <p:spPr>
          <a:xfrm>
            <a:off x="9966960" y="2587752"/>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80 s</a:t>
            </a:r>
            <a:endParaRPr lang="en-US" sz="2000" dirty="0"/>
          </a:p>
        </p:txBody>
      </p:sp>
      <p:sp>
        <p:nvSpPr>
          <p:cNvPr id="11" name="time AutoETS"/>
          <p:cNvSpPr/>
          <p:nvPr/>
        </p:nvSpPr>
        <p:spPr>
          <a:xfrm>
            <a:off x="8046720" y="3300984"/>
            <a:ext cx="3566160" cy="603504"/>
          </a:xfrm>
          <a:prstGeom prst="roundRect">
            <a:avLst>
              <a:gd name="adj" fmla="val 18182"/>
            </a:avLst>
          </a:prstGeom>
          <a:solidFill>
            <a:schemeClr val="bg2"/>
          </a:solidFill>
          <a:ln w="12700">
            <a:solidFill>
              <a:schemeClr val="bg2"/>
            </a:solidFill>
            <a:prstDash val="solid"/>
          </a:ln>
        </p:spPr>
      </p:sp>
      <p:sp>
        <p:nvSpPr>
          <p:cNvPr id="12" name="Text 9"/>
          <p:cNvSpPr txBox="1"/>
          <p:nvPr/>
        </p:nvSpPr>
        <p:spPr>
          <a:xfrm>
            <a:off x="8275320" y="3300984"/>
            <a:ext cx="1828800" cy="603504"/>
          </a:xfrm>
          <a:prstGeom prst="rect">
            <a:avLst/>
          </a:prstGeom>
          <a:noFill/>
          <a:ln/>
        </p:spPr>
        <p:txBody>
          <a:bodyPr wrap="square" lIns="0" tIns="0" rIns="0" bIns="0" rtlCol="0" anchor="ctr"/>
          <a:lstStyle/>
          <a:p>
            <a:pPr indent="0" marL="0">
              <a:buNone/>
            </a:pPr>
            <a:r>
              <a:rPr lang="en-US" sz="1600" b="1" dirty="0">
                <a:solidFill>
                  <a:srgbClr val="D55181"/>
                </a:solidFill>
              </a:rPr>
              <a:t>AutoETS</a:t>
            </a:r>
            <a:endParaRPr lang="en-US" sz="1600" dirty="0"/>
          </a:p>
        </p:txBody>
      </p:sp>
      <p:sp>
        <p:nvSpPr>
          <p:cNvPr id="13" name="Text 10"/>
          <p:cNvSpPr txBox="1"/>
          <p:nvPr/>
        </p:nvSpPr>
        <p:spPr>
          <a:xfrm>
            <a:off x="9966960" y="3300984"/>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86 s</a:t>
            </a:r>
            <a:endParaRPr lang="en-US" sz="2000" dirty="0"/>
          </a:p>
        </p:txBody>
      </p:sp>
      <p:sp>
        <p:nvSpPr>
          <p:cNvPr id="14" name="time AutoARIMA"/>
          <p:cNvSpPr/>
          <p:nvPr/>
        </p:nvSpPr>
        <p:spPr>
          <a:xfrm>
            <a:off x="8046720" y="4014216"/>
            <a:ext cx="3566160" cy="603504"/>
          </a:xfrm>
          <a:prstGeom prst="roundRect">
            <a:avLst>
              <a:gd name="adj" fmla="val 18182"/>
            </a:avLst>
          </a:prstGeom>
          <a:solidFill>
            <a:schemeClr val="bg2"/>
          </a:solidFill>
          <a:ln w="12700">
            <a:solidFill>
              <a:schemeClr val="bg2"/>
            </a:solidFill>
            <a:prstDash val="solid"/>
          </a:ln>
        </p:spPr>
      </p:sp>
      <p:sp>
        <p:nvSpPr>
          <p:cNvPr id="15" name="Text 12"/>
          <p:cNvSpPr txBox="1"/>
          <p:nvPr/>
        </p:nvSpPr>
        <p:spPr>
          <a:xfrm>
            <a:off x="8275320" y="4014216"/>
            <a:ext cx="1828800" cy="603504"/>
          </a:xfrm>
          <a:prstGeom prst="rect">
            <a:avLst/>
          </a:prstGeom>
          <a:noFill/>
          <a:ln/>
        </p:spPr>
        <p:txBody>
          <a:bodyPr wrap="square" lIns="0" tIns="0" rIns="0" bIns="0" rtlCol="0" anchor="ctr"/>
          <a:lstStyle/>
          <a:p>
            <a:pPr indent="0" marL="0">
              <a:buNone/>
            </a:pPr>
            <a:r>
              <a:rPr lang="en-US" sz="1600" b="1" dirty="0">
                <a:solidFill>
                  <a:srgbClr val="1BAF7A"/>
                </a:solidFill>
              </a:rPr>
              <a:t>AutoARIMA</a:t>
            </a:r>
            <a:endParaRPr lang="en-US" sz="1600" dirty="0"/>
          </a:p>
        </p:txBody>
      </p:sp>
      <p:sp>
        <p:nvSpPr>
          <p:cNvPr id="16" name="Text 13"/>
          <p:cNvSpPr txBox="1"/>
          <p:nvPr/>
        </p:nvSpPr>
        <p:spPr>
          <a:xfrm>
            <a:off x="9966960" y="4014216"/>
            <a:ext cx="1463040" cy="603504"/>
          </a:xfrm>
          <a:prstGeom prst="rect">
            <a:avLst/>
          </a:prstGeom>
          <a:noFill/>
          <a:ln/>
        </p:spPr>
        <p:txBody>
          <a:bodyPr wrap="square" lIns="0" tIns="0" rIns="0" bIns="0" rtlCol="0" anchor="ctr"/>
          <a:lstStyle/>
          <a:p>
            <a:pPr algn="r" indent="0" marL="0">
              <a:buNone/>
            </a:pPr>
            <a:r>
              <a:rPr lang="en-US" sz="2000" b="1" dirty="0">
                <a:solidFill>
                  <a:schemeClr val="tx2"/>
                </a:solidFill>
                <a:latin typeface="Cambria" pitchFamily="34" charset="0"/>
                <a:ea typeface="Cambria" pitchFamily="34" charset="-122"/>
                <a:cs typeface="Cambria" pitchFamily="34" charset="-120"/>
              </a:rPr>
              <a:t>39 min</a:t>
            </a:r>
            <a:endParaRPr lang="en-US" sz="2000" dirty="0"/>
          </a:p>
        </p:txBody>
      </p:sp>
      <p:sp>
        <p:nvSpPr>
          <p:cNvPr id="17" name="Text 14"/>
          <p:cNvSpPr txBox="1"/>
          <p:nvPr/>
        </p:nvSpPr>
        <p:spPr>
          <a:xfrm>
            <a:off x="8046720" y="4800600"/>
            <a:ext cx="3566160" cy="548640"/>
          </a:xfrm>
          <a:prstGeom prst="rect">
            <a:avLst/>
          </a:prstGeom>
          <a:noFill/>
          <a:ln/>
        </p:spPr>
        <p:txBody>
          <a:bodyPr wrap="square" lIns="0" tIns="0" rIns="0" bIns="0" rtlCol="0" anchor="t"/>
          <a:lstStyle/>
          <a:p>
            <a:pPr indent="0" marL="0">
              <a:buNone/>
            </a:pPr>
            <a:r>
              <a:rPr lang="en-US" sz="1200" dirty="0">
                <a:solidFill>
                  <a:srgbClr val="6B6A66"/>
                </a:solidFill>
              </a:rPr>
              <a:t>Same laptop, one model at a time. Chronos needs no training.</a:t>
            </a:r>
            <a:endParaRPr lang="en-US" sz="1200" dirty="0"/>
          </a:p>
        </p:txBody>
      </p:sp>
      <p:sp>
        <p:nvSpPr>
          <p:cNvPr id="18" name="Text 15"/>
          <p:cNvSpPr txBox="1"/>
          <p:nvPr/>
        </p:nvSpPr>
        <p:spPr>
          <a:xfrm>
            <a:off x="548640" y="5715000"/>
            <a:ext cx="11064240" cy="411480"/>
          </a:xfrm>
          <a:prstGeom prst="rect">
            <a:avLst/>
          </a:prstGeom>
          <a:noFill/>
          <a:ln/>
        </p:spPr>
        <p:txBody>
          <a:bodyPr wrap="square" lIns="0" tIns="0" rIns="0" bIns="0" rtlCol="0" anchor="ctr"/>
          <a:lstStyle/>
          <a:p>
            <a:pPr indent="0" marL="0">
              <a:buNone/>
            </a:pPr>
            <a:r>
              <a:rPr lang="en-US" sz="1500" b="1" dirty="0">
                <a:solidFill>
                  <a:schemeClr val="tx2"/>
                </a:solidFill>
              </a:rPr>
              <a:t>Item level: the models are close, but close is not a statistical tie. Chronos's strength here is speed, not accuracy.</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Claude: a language model that reads sales as text</a:t>
            </a:r>
            <a:endParaRPr lang="en-US" sz="3400" dirty="0"/>
          </a:p>
        </p:txBody>
      </p:sp>
      <p:graphicFrame>
        <p:nvGraphicFramePr>
          <p:cNvPr id="3" name="Claude totals chart" descr=""/>
          <p:cNvGraphicFramePr/>
          <p:nvPr/>
        </p:nvGraphicFramePr>
        <p:xfrm>
          <a:off x="548640" y="1371600"/>
          <a:ext cx="6126480" cy="43434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95160" y="1371600"/>
            <a:ext cx="4663440" cy="365760"/>
          </a:xfrm>
          <a:prstGeom prst="rect">
            <a:avLst/>
          </a:prstGeom>
          <a:noFill/>
          <a:ln/>
        </p:spPr>
        <p:txBody>
          <a:bodyPr wrap="square" lIns="0" tIns="0" rIns="0" bIns="0" rtlCol="0" anchor="ctr"/>
          <a:lstStyle/>
          <a:p>
            <a:pPr indent="0" marL="0">
              <a:buNone/>
            </a:pPr>
            <a:r>
              <a:rPr lang="en-US" sz="1500" b="1" dirty="0">
                <a:solidFill>
                  <a:schemeClr val="tx2"/>
                </a:solidFill>
              </a:rPr>
              <a:t>Chronos vs Claude: both pre-trained, zero-shot</a:t>
            </a:r>
            <a:endParaRPr lang="en-US" sz="1500" dirty="0"/>
          </a:p>
        </p:txBody>
      </p:sp>
      <p:graphicFrame>
        <p:nvGraphicFramePr>
          <p:cNvPr id="7" name="Chronos vs Claude table"/>
          <p:cNvGraphicFramePr>
            <a:graphicFrameLocks noGrp="1"/>
          </p:cNvGraphicFramePr>
          <p:nvPr>
            <p:extLst>
              <p:ext uri="{D42A27DB-BD31-4B8C-83A1-F6EECF244321}">
                <p14:modId xmlns:p14="http://schemas.microsoft.com/office/powerpoint/2010/main" val="1579011935"/>
              </p:ext>
            </p:extLst>
          </p:nvPr>
        </p:nvGraphicFramePr>
        <p:xfrm>
          <a:off x="6995160" y="1828800"/>
          <a:ext cx="4617720" cy="914400"/>
        </p:xfrm>
        <a:graphic>
          <a:graphicData uri="http://schemas.openxmlformats.org/drawingml/2006/table">
            <a:tbl>
              <a:tblPr/>
              <a:tblGrid>
                <a:gridCol w="1600200"/>
                <a:gridCol w="1325880"/>
                <a:gridCol w="1691640"/>
              </a:tblGrid>
              <a:tr h="438912">
                <a:tc>
                  <a:txBody>
                    <a:bodyPr/>
                    <a:lstStyle/>
                    <a:p>
                      <a:pPr indent="0" marL="0">
                        <a:buNone/>
                      </a:pP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EB6834"/>
                          </a:solidFill>
                        </a:rPr>
                        <a:t>Chronos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c>
                  <a:txBody>
                    <a:bodyPr/>
                    <a:lstStyle/>
                    <a:p>
                      <a:pPr indent="0" marL="0">
                        <a:buNone/>
                      </a:pPr>
                      <a:r>
                        <a:rPr lang="en-US" sz="1300" b="1" dirty="0">
                          <a:solidFill>
                            <a:srgbClr val="4A3AA7"/>
                          </a:solidFill>
                        </a:rPr>
                        <a:t>Claude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FFFFFF"/>
                    </a:solidFill>
                  </a:tcPr>
                </a:tc>
              </a:tr>
              <a:tr h="438912">
                <a:tc>
                  <a:txBody>
                    <a:bodyPr/>
                    <a:lstStyle/>
                    <a:p>
                      <a:pPr indent="0" marL="0">
                        <a:buNone/>
                      </a:pPr>
                      <a:r>
                        <a:rPr lang="en-US" sz="1300" b="1" dirty="0">
                          <a:solidFill>
                            <a:srgbClr val="1F2328"/>
                          </a:solidFill>
                        </a:rPr>
                        <a:t>Trained 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Time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Reads our data as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Numbers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Rows of text</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Returns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Quantiles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Forecast + explanation</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r h="438912">
                <a:tc>
                  <a:txBody>
                    <a:bodyPr/>
                    <a:lstStyle/>
                    <a:p>
                      <a:pPr indent="0" marL="0">
                        <a:buNone/>
                      </a:pPr>
                      <a:r>
                        <a:rPr lang="en-US" sz="1300" b="1" dirty="0">
                          <a:solidFill>
                            <a:srgbClr val="1F2328"/>
                          </a:solidFill>
                        </a:rPr>
                        <a:t>All 5,748 series</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10 s, free</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c>
                  <a:txBody>
                    <a:bodyPr/>
                    <a:lstStyle/>
                    <a:p>
                      <a:pPr indent="0" marL="0">
                        <a:buNone/>
                      </a:pPr>
                      <a:r>
                        <a:rPr lang="en-US" sz="1300" dirty="0">
                          <a:solidFill>
                            <a:srgbClr val="1F2328"/>
                          </a:solidFill>
                        </a:rPr>
                        <a:t>~3.7 h, ~$347</a:t>
                      </a:r>
                      <a:endParaRPr lang="en-US" sz="1300" dirty="0"/>
                    </a:p>
                  </a:txBody>
                  <a:tcPr marL="54864" marR="54864" marT="54864" marB="54864" anchor="ctr">
                    <a:lnL w="12700" cap="flat" cmpd="sng" algn="ctr">
                      <a:solidFill>
                        <a:srgbClr val="FFFFFF"/>
                      </a:solidFill>
                      <a:prstDash val="solid"/>
                      <a:round/>
                      <a:headEnd type="none" w="med" len="med"/>
                      <a:tailEnd type="none" w="med" len="med"/>
                    </a:lnL>
                    <a:lnR w="12700" cap="flat" cmpd="sng" algn="ctr">
                      <a:solidFill>
                        <a:srgbClr val="FFFFFF"/>
                      </a:solidFill>
                      <a:prstDash val="solid"/>
                      <a:round/>
                      <a:headEnd type="none" w="med" len="med"/>
                      <a:tailEnd type="none" w="med" len="med"/>
                    </a:lnR>
                    <a:lnT w="12700" cap="flat" cmpd="sng" algn="ctr">
                      <a:solidFill>
                        <a:srgbClr val="FFFFFF"/>
                      </a:solidFill>
                      <a:prstDash val="solid"/>
                      <a:round/>
                      <a:headEnd type="none" w="med" len="med"/>
                      <a:tailEnd type="none" w="med" len="med"/>
                    </a:lnT>
                    <a:lnB w="12700" cap="flat" cmpd="sng" algn="ctr">
                      <a:solidFill>
                        <a:srgbClr val="FFFFFF"/>
                      </a:solidFill>
                      <a:prstDash val="solid"/>
                      <a:round/>
                      <a:headEnd type="none" w="med" len="med"/>
                      <a:tailEnd type="none" w="med" len="med"/>
                    </a:lnB>
                    <a:solidFill>
                      <a:srgbClr val="EEF1F5"/>
                    </a:solidFill>
                  </a:tcPr>
                </a:tc>
              </a:tr>
            </a:tbl>
          </a:graphicData>
        </a:graphic>
      </p:graphicFrame>
      <p:sp>
        <p:nvSpPr>
          <p:cNvPr id="6" name="items result"/>
          <p:cNvSpPr/>
          <p:nvPr/>
        </p:nvSpPr>
        <p:spPr>
          <a:xfrm>
            <a:off x="6995160" y="4251960"/>
            <a:ext cx="4617720" cy="1463040"/>
          </a:xfrm>
          <a:prstGeom prst="roundRect">
            <a:avLst>
              <a:gd name="adj" fmla="val 7500"/>
            </a:avLst>
          </a:prstGeom>
          <a:solidFill>
            <a:schemeClr val="bg2"/>
          </a:solidFill>
          <a:ln w="12700">
            <a:solidFill>
              <a:schemeClr val="bg2"/>
            </a:solidFill>
            <a:prstDash val="solid"/>
          </a:ln>
        </p:spPr>
      </p:sp>
      <p:sp>
        <p:nvSpPr>
          <p:cNvPr id="7" name="Text 3"/>
          <p:cNvSpPr txBox="1"/>
          <p:nvPr/>
        </p:nvSpPr>
        <p:spPr>
          <a:xfrm>
            <a:off x="7223760" y="4251960"/>
            <a:ext cx="4206240" cy="1463040"/>
          </a:xfrm>
          <a:prstGeom prst="rect">
            <a:avLst/>
          </a:prstGeom>
          <a:noFill/>
          <a:ln/>
        </p:spPr>
        <p:txBody>
          <a:bodyPr wrap="square" lIns="0" tIns="0" rIns="0" bIns="0" rtlCol="0" anchor="ctr"/>
          <a:lstStyle/>
          <a:p>
            <a:pPr indent="0" marL="0">
              <a:buNone/>
            </a:pPr>
            <a:r>
              <a:rPr lang="en-US" sz="1400" b="1" dirty="0">
                <a:solidFill>
                  <a:schemeClr val="tx1"/>
                </a:solidFill>
              </a:rPr>
              <a:t>100 sampled items: </a:t>
            </a:r>
            <a:pPr indent="0" marL="0">
              <a:buNone/>
            </a:pPr>
            <a:r>
              <a:rPr lang="en-US" sz="1400" dirty="0">
                <a:solidFill>
                  <a:schemeClr val="tx1"/>
                </a:solidFill>
              </a:rPr>
              <a:t>AutoETS 0.938 best, AutoARIMA 0.951, Claude 0.958. Same items for every model.</a:t>
            </a:r>
            <a:endParaRPr lang="en-US" sz="1400" dirty="0"/>
          </a:p>
        </p:txBody>
      </p:sp>
      <p:sp>
        <p:nvSpPr>
          <p:cNvPr id="8" name="Text 4"/>
          <p:cNvSpPr txBox="1"/>
          <p:nvPr/>
        </p:nvSpPr>
        <p:spPr>
          <a:xfrm>
            <a:off x="548640" y="5806440"/>
            <a:ext cx="11064240" cy="457200"/>
          </a:xfrm>
          <a:prstGeom prst="rect">
            <a:avLst/>
          </a:prstGeom>
          <a:noFill/>
          <a:ln/>
        </p:spPr>
        <p:txBody>
          <a:bodyPr wrap="square" lIns="0" tIns="0" rIns="0" bIns="0" rtlCol="0" anchor="ctr"/>
          <a:lstStyle/>
          <a:p>
            <a:pPr indent="0" marL="0">
              <a:buNone/>
            </a:pPr>
            <a:r>
              <a:rPr lang="en-US" sz="1300" dirty="0">
                <a:solidFill>
                  <a:srgbClr val="6B6A66"/>
                </a:solidFill>
              </a:rPr>
              <a:t>Claude covered a subset: 100 random items + 12 totals ($13.54), compared on the same series. Totals were also fitted directly for the other models.</a:t>
            </a:r>
            <a:endParaRPr lang="en-US" sz="13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Using an LLM to forecast: risks and safeguards</a:t>
            </a:r>
            <a:endParaRPr lang="en-US" sz="3400" dirty="0"/>
          </a:p>
        </p:txBody>
      </p:sp>
      <p:sp>
        <p:nvSpPr>
          <p:cNvPr id="3" name="Text 1"/>
          <p:cNvSpPr txBox="1"/>
          <p:nvPr/>
        </p:nvSpPr>
        <p:spPr>
          <a:xfrm>
            <a:off x="1463040" y="1325880"/>
            <a:ext cx="4114800" cy="320040"/>
          </a:xfrm>
          <a:prstGeom prst="rect">
            <a:avLst/>
          </a:prstGeom>
          <a:noFill/>
          <a:ln/>
        </p:spPr>
        <p:txBody>
          <a:bodyPr wrap="square" lIns="0" tIns="0" rIns="0" bIns="0" rtlCol="0" anchor="ctr"/>
          <a:lstStyle/>
          <a:p>
            <a:pPr indent="0" marL="0">
              <a:buNone/>
            </a:pPr>
            <a:r>
              <a:rPr lang="en-US" sz="1300" b="1" dirty="0">
                <a:solidFill>
                  <a:srgbClr val="6B6A66"/>
                </a:solidFill>
              </a:rPr>
              <a:t>Risk</a:t>
            </a:r>
            <a:endParaRPr lang="en-US" sz="1300" dirty="0"/>
          </a:p>
        </p:txBody>
      </p:sp>
      <p:sp>
        <p:nvSpPr>
          <p:cNvPr id="4" name="Text 2"/>
          <p:cNvSpPr txBox="1"/>
          <p:nvPr/>
        </p:nvSpPr>
        <p:spPr>
          <a:xfrm>
            <a:off x="6126480" y="1325880"/>
            <a:ext cx="5486400" cy="320040"/>
          </a:xfrm>
          <a:prstGeom prst="rect">
            <a:avLst/>
          </a:prstGeom>
          <a:noFill/>
          <a:ln/>
        </p:spPr>
        <p:txBody>
          <a:bodyPr wrap="square" lIns="0" tIns="0" rIns="0" bIns="0" rtlCol="0" anchor="ctr"/>
          <a:lstStyle/>
          <a:p>
            <a:pPr indent="0" marL="0">
              <a:buNone/>
            </a:pPr>
            <a:r>
              <a:rPr lang="en-US" sz="1300" b="1" dirty="0">
                <a:solidFill>
                  <a:srgbClr val="6B6A66"/>
                </a:solidFill>
              </a:rPr>
              <a:t>What we did</a:t>
            </a:r>
            <a:endParaRPr lang="en-US" sz="1300" dirty="0"/>
          </a:p>
        </p:txBody>
      </p:sp>
      <p:sp>
        <p:nvSpPr>
          <p:cNvPr id="5" name="risk 0"/>
          <p:cNvSpPr/>
          <p:nvPr/>
        </p:nvSpPr>
        <p:spPr>
          <a:xfrm>
            <a:off x="548640" y="1691640"/>
            <a:ext cx="11064240" cy="804672"/>
          </a:xfrm>
          <a:prstGeom prst="roundRect">
            <a:avLst>
              <a:gd name="adj" fmla="val 13636"/>
            </a:avLst>
          </a:prstGeom>
          <a:solidFill>
            <a:schemeClr val="bg2"/>
          </a:solidFill>
          <a:ln w="12700">
            <a:solidFill>
              <a:schemeClr val="bg2"/>
            </a:solidFill>
            <a:prstDash val="solid"/>
          </a:ln>
        </p:spPr>
      </p:sp>
      <p:sp>
        <p:nvSpPr>
          <p:cNvPr id="6" name="Pre-training contamination circle"/>
          <p:cNvSpPr/>
          <p:nvPr/>
        </p:nvSpPr>
        <p:spPr>
          <a:xfrm>
            <a:off x="713232" y="1801368"/>
            <a:ext cx="585216" cy="585216"/>
          </a:xfrm>
          <a:prstGeom prst="ellipse">
            <a:avLst/>
          </a:prstGeom>
          <a:solidFill>
            <a:srgbClr val="4A3AA7"/>
          </a:solidFill>
          <a:ln w="12700">
            <a:solidFill>
              <a:srgbClr val="4A3AA7"/>
            </a:solidFill>
            <a:prstDash val="solid"/>
          </a:ln>
        </p:spPr>
      </p:sp>
      <p:pic>
        <p:nvPicPr>
          <p:cNvPr id="7" name="Pre-training contamination icon" descr="preencoded.png">    </p:cNvPr>
          <p:cNvPicPr>
            <a:picLocks noChangeAspect="1"/>
          </p:cNvPicPr>
          <p:nvPr/>
        </p:nvPicPr>
        <p:blipFill>
          <a:blip r:embed="rId1"/>
          <a:stretch>
            <a:fillRect/>
          </a:stretch>
        </p:blipFill>
        <p:spPr>
          <a:xfrm>
            <a:off x="853684" y="1941820"/>
            <a:ext cx="304312" cy="304312"/>
          </a:xfrm>
          <a:prstGeom prst="rect">
            <a:avLst/>
          </a:prstGeom>
        </p:spPr>
      </p:pic>
      <p:sp>
        <p:nvSpPr>
          <p:cNvPr id="8" name="Text 5"/>
          <p:cNvSpPr txBox="1"/>
          <p:nvPr/>
        </p:nvSpPr>
        <p:spPr>
          <a:xfrm>
            <a:off x="1463040" y="16916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Pre-training contamination</a:t>
            </a:r>
            <a:endParaRPr lang="en-US" sz="1400" dirty="0"/>
          </a:p>
          <a:p>
            <a:pPr indent="0" marL="0">
              <a:buNone/>
            </a:pPr>
            <a:r>
              <a:rPr lang="en-US" sz="1400" dirty="0">
                <a:solidFill>
                  <a:srgbClr val="6B6A66"/>
                </a:solidFill>
              </a:rPr>
              <a:t>M5 is public and may be in Claude's training data</a:t>
            </a:r>
            <a:endParaRPr lang="en-US" sz="1400" dirty="0"/>
          </a:p>
        </p:txBody>
      </p:sp>
      <p:sp>
        <p:nvSpPr>
          <p:cNvPr id="9" name="Text 6"/>
          <p:cNvSpPr txBox="1"/>
          <p:nvPr/>
        </p:nvSpPr>
        <p:spPr>
          <a:xfrm>
            <a:off x="6126480" y="1691640"/>
            <a:ext cx="5303520" cy="804672"/>
          </a:xfrm>
          <a:prstGeom prst="rect">
            <a:avLst/>
          </a:prstGeom>
          <a:noFill/>
          <a:ln/>
        </p:spPr>
        <p:txBody>
          <a:bodyPr wrap="square" lIns="0" tIns="0" rIns="0" bIns="0" rtlCol="0" anchor="ctr"/>
          <a:lstStyle/>
          <a:p>
            <a:pPr indent="0" marL="0">
              <a:buNone/>
            </a:pPr>
            <a:r>
              <a:rPr lang="en-US" sz="1400" dirty="0">
                <a:solidFill>
                  <a:schemeClr val="tx1"/>
                </a:solidFill>
              </a:rPr>
              <a:t>Named vs blind test: names, dates and year removed. Accuracy unchanged (0.579 vs 0.583)</a:t>
            </a:r>
            <a:endParaRPr lang="en-US" sz="1400" dirty="0"/>
          </a:p>
        </p:txBody>
      </p:sp>
      <p:sp>
        <p:nvSpPr>
          <p:cNvPr id="10" name="risk 1"/>
          <p:cNvSpPr/>
          <p:nvPr/>
        </p:nvSpPr>
        <p:spPr>
          <a:xfrm>
            <a:off x="548640" y="2606040"/>
            <a:ext cx="11064240" cy="804672"/>
          </a:xfrm>
          <a:prstGeom prst="roundRect">
            <a:avLst>
              <a:gd name="adj" fmla="val 13636"/>
            </a:avLst>
          </a:prstGeom>
          <a:solidFill>
            <a:schemeClr val="bg2"/>
          </a:solidFill>
          <a:ln w="12700">
            <a:solidFill>
              <a:schemeClr val="bg2"/>
            </a:solidFill>
            <a:prstDash val="solid"/>
          </a:ln>
        </p:spPr>
      </p:sp>
      <p:sp>
        <p:nvSpPr>
          <p:cNvPr id="11" name="Unstable output circle"/>
          <p:cNvSpPr/>
          <p:nvPr/>
        </p:nvSpPr>
        <p:spPr>
          <a:xfrm>
            <a:off x="713232" y="2715768"/>
            <a:ext cx="585216" cy="585216"/>
          </a:xfrm>
          <a:prstGeom prst="ellipse">
            <a:avLst/>
          </a:prstGeom>
          <a:solidFill>
            <a:srgbClr val="4A3AA7"/>
          </a:solidFill>
          <a:ln w="12700">
            <a:solidFill>
              <a:srgbClr val="4A3AA7"/>
            </a:solidFill>
            <a:prstDash val="solid"/>
          </a:ln>
        </p:spPr>
      </p:sp>
      <p:pic>
        <p:nvPicPr>
          <p:cNvPr id="12" name="Unstable output icon" descr="preencoded.png">    </p:cNvPr>
          <p:cNvPicPr>
            <a:picLocks noChangeAspect="1"/>
          </p:cNvPicPr>
          <p:nvPr/>
        </p:nvPicPr>
        <p:blipFill>
          <a:blip r:embed="rId2"/>
          <a:stretch>
            <a:fillRect/>
          </a:stretch>
        </p:blipFill>
        <p:spPr>
          <a:xfrm>
            <a:off x="853684" y="2856220"/>
            <a:ext cx="304312" cy="304312"/>
          </a:xfrm>
          <a:prstGeom prst="rect">
            <a:avLst/>
          </a:prstGeom>
        </p:spPr>
      </p:pic>
      <p:sp>
        <p:nvSpPr>
          <p:cNvPr id="13" name="Text 9"/>
          <p:cNvSpPr txBox="1"/>
          <p:nvPr/>
        </p:nvSpPr>
        <p:spPr>
          <a:xfrm>
            <a:off x="1463040" y="26060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Unstable output</a:t>
            </a:r>
            <a:endParaRPr lang="en-US" sz="1400" dirty="0"/>
          </a:p>
          <a:p>
            <a:pPr indent="0" marL="0">
              <a:buNone/>
            </a:pPr>
            <a:r>
              <a:rPr lang="en-US" sz="1400" dirty="0">
                <a:solidFill>
                  <a:srgbClr val="6B6A66"/>
                </a:solidFill>
              </a:rPr>
              <a:t>Answers can vary between runs</a:t>
            </a:r>
            <a:endParaRPr lang="en-US" sz="1400" dirty="0"/>
          </a:p>
        </p:txBody>
      </p:sp>
      <p:sp>
        <p:nvSpPr>
          <p:cNvPr id="14" name="Text 10"/>
          <p:cNvSpPr txBox="1"/>
          <p:nvPr/>
        </p:nvSpPr>
        <p:spPr>
          <a:xfrm>
            <a:off x="6126480" y="2606040"/>
            <a:ext cx="5303520" cy="804672"/>
          </a:xfrm>
          <a:prstGeom prst="rect">
            <a:avLst/>
          </a:prstGeom>
          <a:noFill/>
          <a:ln/>
        </p:spPr>
        <p:txBody>
          <a:bodyPr wrap="square" lIns="0" tIns="0" rIns="0" bIns="0" rtlCol="0" anchor="ctr"/>
          <a:lstStyle/>
          <a:p>
            <a:pPr indent="0" marL="0">
              <a:buNone/>
            </a:pPr>
            <a:r>
              <a:rPr lang="en-US" sz="1400" dirty="0">
                <a:solidFill>
                  <a:schemeClr val="tx1"/>
                </a:solidFill>
              </a:rPr>
              <a:t>Fixed prompt and model; every response saved and cached</a:t>
            </a:r>
            <a:endParaRPr lang="en-US" sz="1400" dirty="0"/>
          </a:p>
        </p:txBody>
      </p:sp>
      <p:sp>
        <p:nvSpPr>
          <p:cNvPr id="15" name="risk 2"/>
          <p:cNvSpPr/>
          <p:nvPr/>
        </p:nvSpPr>
        <p:spPr>
          <a:xfrm>
            <a:off x="548640" y="3520440"/>
            <a:ext cx="11064240" cy="804672"/>
          </a:xfrm>
          <a:prstGeom prst="roundRect">
            <a:avLst>
              <a:gd name="adj" fmla="val 13636"/>
            </a:avLst>
          </a:prstGeom>
          <a:solidFill>
            <a:schemeClr val="bg2"/>
          </a:solidFill>
          <a:ln w="12700">
            <a:solidFill>
              <a:schemeClr val="bg2"/>
            </a:solidFill>
            <a:prstDash val="solid"/>
          </a:ln>
        </p:spPr>
      </p:sp>
      <p:sp>
        <p:nvSpPr>
          <p:cNvPr id="16" name="Cost and scale circle"/>
          <p:cNvSpPr/>
          <p:nvPr/>
        </p:nvSpPr>
        <p:spPr>
          <a:xfrm>
            <a:off x="713232" y="3630168"/>
            <a:ext cx="585216" cy="585216"/>
          </a:xfrm>
          <a:prstGeom prst="ellipse">
            <a:avLst/>
          </a:prstGeom>
          <a:solidFill>
            <a:srgbClr val="4A3AA7"/>
          </a:solidFill>
          <a:ln w="12700">
            <a:solidFill>
              <a:srgbClr val="4A3AA7"/>
            </a:solidFill>
            <a:prstDash val="solid"/>
          </a:ln>
        </p:spPr>
      </p:sp>
      <p:pic>
        <p:nvPicPr>
          <p:cNvPr id="17" name="Cost and scale icon" descr="preencoded.png">    </p:cNvPr>
          <p:cNvPicPr>
            <a:picLocks noChangeAspect="1"/>
          </p:cNvPicPr>
          <p:nvPr/>
        </p:nvPicPr>
        <p:blipFill>
          <a:blip r:embed="rId3"/>
          <a:stretch>
            <a:fillRect/>
          </a:stretch>
        </p:blipFill>
        <p:spPr>
          <a:xfrm>
            <a:off x="853684" y="3770620"/>
            <a:ext cx="304312" cy="304312"/>
          </a:xfrm>
          <a:prstGeom prst="rect">
            <a:avLst/>
          </a:prstGeom>
        </p:spPr>
      </p:pic>
      <p:sp>
        <p:nvSpPr>
          <p:cNvPr id="18" name="Text 13"/>
          <p:cNvSpPr txBox="1"/>
          <p:nvPr/>
        </p:nvSpPr>
        <p:spPr>
          <a:xfrm>
            <a:off x="1463040" y="35204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Cost and scale</a:t>
            </a:r>
            <a:endParaRPr lang="en-US" sz="1400" dirty="0"/>
          </a:p>
          <a:p>
            <a:pPr indent="0" marL="0">
              <a:buNone/>
            </a:pPr>
            <a:r>
              <a:rPr lang="en-US" sz="1400" dirty="0">
                <a:solidFill>
                  <a:srgbClr val="6B6A66"/>
                </a:solidFill>
              </a:rPr>
              <a:t>About $0.06 per series; hours for all 5,748</a:t>
            </a:r>
            <a:endParaRPr lang="en-US" sz="1400" dirty="0"/>
          </a:p>
        </p:txBody>
      </p:sp>
      <p:sp>
        <p:nvSpPr>
          <p:cNvPr id="19" name="Text 14"/>
          <p:cNvSpPr txBox="1"/>
          <p:nvPr/>
        </p:nvSpPr>
        <p:spPr>
          <a:xfrm>
            <a:off x="6126480" y="3520440"/>
            <a:ext cx="5303520" cy="804672"/>
          </a:xfrm>
          <a:prstGeom prst="rect">
            <a:avLst/>
          </a:prstGeom>
          <a:noFill/>
          <a:ln/>
        </p:spPr>
        <p:txBody>
          <a:bodyPr wrap="square" lIns="0" tIns="0" rIns="0" bIns="0" rtlCol="0" anchor="ctr"/>
          <a:lstStyle/>
          <a:p>
            <a:pPr indent="0" marL="0">
              <a:buNone/>
            </a:pPr>
            <a:r>
              <a:rPr lang="en-US" sz="1400" dirty="0">
                <a:solidFill>
                  <a:schemeClr val="tx1"/>
                </a:solidFill>
              </a:rPr>
              <a:t>Tested a subset (100 items + 12 totals); same subset for every model</a:t>
            </a:r>
            <a:endParaRPr lang="en-US" sz="1400" dirty="0"/>
          </a:p>
        </p:txBody>
      </p:sp>
      <p:sp>
        <p:nvSpPr>
          <p:cNvPr id="20" name="risk 3"/>
          <p:cNvSpPr/>
          <p:nvPr/>
        </p:nvSpPr>
        <p:spPr>
          <a:xfrm>
            <a:off x="548640" y="4434840"/>
            <a:ext cx="11064240" cy="804672"/>
          </a:xfrm>
          <a:prstGeom prst="roundRect">
            <a:avLst>
              <a:gd name="adj" fmla="val 13636"/>
            </a:avLst>
          </a:prstGeom>
          <a:solidFill>
            <a:schemeClr val="bg2"/>
          </a:solidFill>
          <a:ln w="12700">
            <a:solidFill>
              <a:schemeClr val="bg2"/>
            </a:solidFill>
            <a:prstDash val="solid"/>
          </a:ln>
        </p:spPr>
      </p:sp>
      <p:sp>
        <p:nvSpPr>
          <p:cNvPr id="21" name="Malformed answers circle"/>
          <p:cNvSpPr/>
          <p:nvPr/>
        </p:nvSpPr>
        <p:spPr>
          <a:xfrm>
            <a:off x="713232" y="4544568"/>
            <a:ext cx="585216" cy="585216"/>
          </a:xfrm>
          <a:prstGeom prst="ellipse">
            <a:avLst/>
          </a:prstGeom>
          <a:solidFill>
            <a:srgbClr val="4A3AA7"/>
          </a:solidFill>
          <a:ln w="12700">
            <a:solidFill>
              <a:srgbClr val="4A3AA7"/>
            </a:solidFill>
            <a:prstDash val="solid"/>
          </a:ln>
        </p:spPr>
      </p:sp>
      <p:pic>
        <p:nvPicPr>
          <p:cNvPr id="22" name="Malformed answers icon" descr="preencoded.png">    </p:cNvPr>
          <p:cNvPicPr>
            <a:picLocks noChangeAspect="1"/>
          </p:cNvPicPr>
          <p:nvPr/>
        </p:nvPicPr>
        <p:blipFill>
          <a:blip r:embed="rId4"/>
          <a:stretch>
            <a:fillRect/>
          </a:stretch>
        </p:blipFill>
        <p:spPr>
          <a:xfrm>
            <a:off x="853684" y="4685020"/>
            <a:ext cx="304312" cy="304312"/>
          </a:xfrm>
          <a:prstGeom prst="rect">
            <a:avLst/>
          </a:prstGeom>
        </p:spPr>
      </p:pic>
      <p:sp>
        <p:nvSpPr>
          <p:cNvPr id="23" name="Text 17"/>
          <p:cNvSpPr txBox="1"/>
          <p:nvPr/>
        </p:nvSpPr>
        <p:spPr>
          <a:xfrm>
            <a:off x="1463040" y="4434840"/>
            <a:ext cx="4480560" cy="804672"/>
          </a:xfrm>
          <a:prstGeom prst="rect">
            <a:avLst/>
          </a:prstGeom>
          <a:noFill/>
          <a:ln/>
        </p:spPr>
        <p:txBody>
          <a:bodyPr wrap="square" lIns="0" tIns="0" rIns="0" bIns="0" rtlCol="0" anchor="ctr"/>
          <a:lstStyle/>
          <a:p>
            <a:pPr indent="0" marL="0">
              <a:buNone/>
            </a:pPr>
            <a:r>
              <a:rPr lang="en-US" sz="1400" b="1" dirty="0">
                <a:solidFill>
                  <a:schemeClr val="tx2"/>
                </a:solidFill>
              </a:rPr>
              <a:t>Malformed answers</a:t>
            </a:r>
            <a:endParaRPr lang="en-US" sz="1400" dirty="0"/>
          </a:p>
          <a:p>
            <a:pPr indent="0" marL="0">
              <a:buNone/>
            </a:pPr>
            <a:r>
              <a:rPr lang="en-US" sz="1400" dirty="0">
                <a:solidFill>
                  <a:srgbClr val="6B6A66"/>
                </a:solidFill>
              </a:rPr>
              <a:t>Wrong length or format</a:t>
            </a:r>
            <a:endParaRPr lang="en-US" sz="1400" dirty="0"/>
          </a:p>
        </p:txBody>
      </p:sp>
      <p:sp>
        <p:nvSpPr>
          <p:cNvPr id="24" name="Text 18"/>
          <p:cNvSpPr txBox="1"/>
          <p:nvPr/>
        </p:nvSpPr>
        <p:spPr>
          <a:xfrm>
            <a:off x="6126480" y="4434840"/>
            <a:ext cx="5303520" cy="804672"/>
          </a:xfrm>
          <a:prstGeom prst="rect">
            <a:avLst/>
          </a:prstGeom>
          <a:noFill/>
          <a:ln/>
        </p:spPr>
        <p:txBody>
          <a:bodyPr wrap="square" lIns="0" tIns="0" rIns="0" bIns="0" rtlCol="0" anchor="ctr"/>
          <a:lstStyle/>
          <a:p>
            <a:pPr indent="0" marL="0">
              <a:buNone/>
            </a:pPr>
            <a:r>
              <a:rPr lang="en-US" sz="1400" dirty="0">
                <a:solidFill>
                  <a:schemeClr val="tx1"/>
                </a:solidFill>
              </a:rPr>
              <a:t>Required a fixed JSON format, checked 28 days returned, retried on failure</a:t>
            </a:r>
            <a:endParaRPr lang="en-US" sz="1400" dirty="0"/>
          </a:p>
        </p:txBody>
      </p:sp>
      <p:sp>
        <p:nvSpPr>
          <p:cNvPr id="25" name="contamination caveat"/>
          <p:cNvSpPr/>
          <p:nvPr/>
        </p:nvSpPr>
        <p:spPr>
          <a:xfrm>
            <a:off x="548640" y="5440680"/>
            <a:ext cx="11064240" cy="777240"/>
          </a:xfrm>
          <a:prstGeom prst="roundRect">
            <a:avLst>
              <a:gd name="adj" fmla="val 14118"/>
            </a:avLst>
          </a:prstGeom>
          <a:solidFill>
            <a:srgbClr val="1B2A41"/>
          </a:solidFill>
          <a:ln w="12700">
            <a:solidFill>
              <a:srgbClr val="1B2A41"/>
            </a:solidFill>
            <a:prstDash val="solid"/>
          </a:ln>
        </p:spPr>
      </p:sp>
      <p:sp>
        <p:nvSpPr>
          <p:cNvPr id="26" name="caveat circle"/>
          <p:cNvSpPr/>
          <p:nvPr/>
        </p:nvSpPr>
        <p:spPr>
          <a:xfrm>
            <a:off x="713232" y="5532120"/>
            <a:ext cx="585216" cy="585216"/>
          </a:xfrm>
          <a:prstGeom prst="ellipse">
            <a:avLst/>
          </a:prstGeom>
          <a:solidFill>
            <a:srgbClr val="F2B33D"/>
          </a:solidFill>
          <a:ln w="12700">
            <a:solidFill>
              <a:srgbClr val="F2B33D"/>
            </a:solidFill>
            <a:prstDash val="solid"/>
          </a:ln>
        </p:spPr>
      </p:sp>
      <p:pic>
        <p:nvPicPr>
          <p:cNvPr id="27" name="caveat icon" descr="preencoded.png">    </p:cNvPr>
          <p:cNvPicPr>
            <a:picLocks noChangeAspect="1"/>
          </p:cNvPicPr>
          <p:nvPr/>
        </p:nvPicPr>
        <p:blipFill>
          <a:blip r:embed="rId5"/>
          <a:stretch>
            <a:fillRect/>
          </a:stretch>
        </p:blipFill>
        <p:spPr>
          <a:xfrm>
            <a:off x="853684" y="5672572"/>
            <a:ext cx="304312" cy="304312"/>
          </a:xfrm>
          <a:prstGeom prst="rect">
            <a:avLst/>
          </a:prstGeom>
        </p:spPr>
      </p:pic>
      <p:sp>
        <p:nvSpPr>
          <p:cNvPr id="28" name="Text 21"/>
          <p:cNvSpPr txBox="1"/>
          <p:nvPr/>
        </p:nvSpPr>
        <p:spPr>
          <a:xfrm>
            <a:off x="1463040" y="5440680"/>
            <a:ext cx="9966960" cy="777240"/>
          </a:xfrm>
          <a:prstGeom prst="rect">
            <a:avLst/>
          </a:prstGeom>
          <a:noFill/>
          <a:ln/>
        </p:spPr>
        <p:txBody>
          <a:bodyPr wrap="square" lIns="0" tIns="0" rIns="0" bIns="0" rtlCol="0" anchor="ctr"/>
          <a:lstStyle/>
          <a:p>
            <a:pPr indent="0" marL="0">
              <a:buNone/>
            </a:pPr>
            <a:r>
              <a:rPr lang="en-US" sz="1500" b="1" dirty="0">
                <a:solidFill>
                  <a:srgbClr val="FFFFFF"/>
                </a:solidFill>
              </a:rPr>
              <a:t>The blind test reduces identity cues, but it cannot guarantee that contamination is excluded: the sales pattern itself could be recognised.</a:t>
            </a:r>
            <a:endParaRPr lang="en-US" sz="15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bg1"/>
                </a:solidFill>
              </a:rPr>
              <a:t>Our answer: not yet on accuracy, yes on speed</a:t>
            </a:r>
            <a:endParaRPr lang="en-US" sz="3400" dirty="0"/>
          </a:p>
        </p:txBody>
      </p:sp>
      <p:sp>
        <p:nvSpPr>
          <p:cNvPr id="3" name="Traditional methods lead on accuracy circle"/>
          <p:cNvSpPr/>
          <p:nvPr/>
        </p:nvSpPr>
        <p:spPr>
          <a:xfrm>
            <a:off x="548640" y="1463040"/>
            <a:ext cx="731520" cy="731520"/>
          </a:xfrm>
          <a:prstGeom prst="ellipse">
            <a:avLst/>
          </a:prstGeom>
          <a:solidFill>
            <a:srgbClr val="2A78D6"/>
          </a:solidFill>
          <a:ln w="12700">
            <a:solidFill>
              <a:srgbClr val="2A78D6"/>
            </a:solidFill>
            <a:prstDash val="solid"/>
          </a:ln>
        </p:spPr>
      </p:sp>
      <p:pic>
        <p:nvPicPr>
          <p:cNvPr id="4" name="Traditional methods lead on accuracy icon" descr="preencoded.png">    </p:cNvPr>
          <p:cNvPicPr>
            <a:picLocks noChangeAspect="1"/>
          </p:cNvPicPr>
          <p:nvPr/>
        </p:nvPicPr>
        <p:blipFill>
          <a:blip r:embed="rId1"/>
          <a:stretch>
            <a:fillRect/>
          </a:stretch>
        </p:blipFill>
        <p:spPr>
          <a:xfrm>
            <a:off x="724205" y="1638605"/>
            <a:ext cx="380390" cy="380390"/>
          </a:xfrm>
          <a:prstGeom prst="rect">
            <a:avLst/>
          </a:prstGeom>
        </p:spPr>
      </p:pic>
      <p:sp>
        <p:nvSpPr>
          <p:cNvPr id="5" name="Text 2"/>
          <p:cNvSpPr txBox="1"/>
          <p:nvPr/>
        </p:nvSpPr>
        <p:spPr>
          <a:xfrm>
            <a:off x="1463040" y="146304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Traditional methods lead on accuracy</a:t>
            </a:r>
            <a:endParaRPr lang="en-US" sz="1900" dirty="0"/>
          </a:p>
        </p:txBody>
      </p:sp>
      <p:sp>
        <p:nvSpPr>
          <p:cNvPr id="6" name="Text 3"/>
          <p:cNvSpPr txBox="1"/>
          <p:nvPr/>
        </p:nvSpPr>
        <p:spPr>
          <a:xfrm>
            <a:off x="1463040" y="1901952"/>
            <a:ext cx="4937760" cy="411480"/>
          </a:xfrm>
          <a:prstGeom prst="rect">
            <a:avLst/>
          </a:prstGeom>
          <a:noFill/>
          <a:ln/>
        </p:spPr>
        <p:txBody>
          <a:bodyPr wrap="square" lIns="0" tIns="0" rIns="0" bIns="0" rtlCol="0" anchor="ctr"/>
          <a:lstStyle/>
          <a:p>
            <a:pPr indent="0" marL="0">
              <a:buNone/>
            </a:pPr>
            <a:r>
              <a:rPr lang="en-US" sz="1400" dirty="0">
                <a:solidFill>
                  <a:schemeClr val="bg2"/>
                </a:solidFill>
              </a:rPr>
              <a:t>LightGBM, AutoETS and their average are the three best</a:t>
            </a:r>
            <a:endParaRPr lang="en-US" sz="1400" dirty="0"/>
          </a:p>
        </p:txBody>
      </p:sp>
      <p:sp>
        <p:nvSpPr>
          <p:cNvPr id="7" name="Chronos wins on speed circle"/>
          <p:cNvSpPr/>
          <p:nvPr/>
        </p:nvSpPr>
        <p:spPr>
          <a:xfrm>
            <a:off x="548640" y="2697480"/>
            <a:ext cx="731520" cy="731520"/>
          </a:xfrm>
          <a:prstGeom prst="ellipse">
            <a:avLst/>
          </a:prstGeom>
          <a:solidFill>
            <a:srgbClr val="EB6834"/>
          </a:solidFill>
          <a:ln w="12700">
            <a:solidFill>
              <a:srgbClr val="EB6834"/>
            </a:solidFill>
            <a:prstDash val="solid"/>
          </a:ln>
        </p:spPr>
      </p:sp>
      <p:pic>
        <p:nvPicPr>
          <p:cNvPr id="8" name="Chronos wins on speed icon" descr="preencoded.png">    </p:cNvPr>
          <p:cNvPicPr>
            <a:picLocks noChangeAspect="1"/>
          </p:cNvPicPr>
          <p:nvPr/>
        </p:nvPicPr>
        <p:blipFill>
          <a:blip r:embed="rId2"/>
          <a:stretch>
            <a:fillRect/>
          </a:stretch>
        </p:blipFill>
        <p:spPr>
          <a:xfrm>
            <a:off x="724205" y="2873045"/>
            <a:ext cx="380390" cy="380390"/>
          </a:xfrm>
          <a:prstGeom prst="rect">
            <a:avLst/>
          </a:prstGeom>
        </p:spPr>
      </p:pic>
      <p:sp>
        <p:nvSpPr>
          <p:cNvPr id="9" name="Text 5"/>
          <p:cNvSpPr txBox="1"/>
          <p:nvPr/>
        </p:nvSpPr>
        <p:spPr>
          <a:xfrm>
            <a:off x="1463040" y="269748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Chronos wins on speed</a:t>
            </a:r>
            <a:endParaRPr lang="en-US" sz="1900" dirty="0"/>
          </a:p>
        </p:txBody>
      </p:sp>
      <p:sp>
        <p:nvSpPr>
          <p:cNvPr id="10" name="Text 6"/>
          <p:cNvSpPr txBox="1"/>
          <p:nvPr/>
        </p:nvSpPr>
        <p:spPr>
          <a:xfrm>
            <a:off x="1463040" y="3136392"/>
            <a:ext cx="4937760" cy="411480"/>
          </a:xfrm>
          <a:prstGeom prst="rect">
            <a:avLst/>
          </a:prstGeom>
          <a:noFill/>
          <a:ln/>
        </p:spPr>
        <p:txBody>
          <a:bodyPr wrap="square" lIns="0" tIns="0" rIns="0" bIns="0" rtlCol="0" anchor="ctr"/>
          <a:lstStyle/>
          <a:p>
            <a:pPr indent="0" marL="0">
              <a:buNone/>
            </a:pPr>
            <a:r>
              <a:rPr lang="en-US" sz="1400" dirty="0">
                <a:solidFill>
                  <a:schemeClr val="bg2"/>
                </a:solidFill>
              </a:rPr>
              <a:t>10 s for all series, no training</a:t>
            </a:r>
            <a:endParaRPr lang="en-US" sz="1400" dirty="0"/>
          </a:p>
        </p:txBody>
      </p:sp>
      <p:sp>
        <p:nvSpPr>
          <p:cNvPr id="11" name="Claude matched the best on totals circle"/>
          <p:cNvSpPr/>
          <p:nvPr/>
        </p:nvSpPr>
        <p:spPr>
          <a:xfrm>
            <a:off x="548640" y="3931920"/>
            <a:ext cx="731520" cy="731520"/>
          </a:xfrm>
          <a:prstGeom prst="ellipse">
            <a:avLst/>
          </a:prstGeom>
          <a:solidFill>
            <a:srgbClr val="4A3AA7"/>
          </a:solidFill>
          <a:ln w="12700">
            <a:solidFill>
              <a:srgbClr val="4A3AA7"/>
            </a:solidFill>
            <a:prstDash val="solid"/>
          </a:ln>
        </p:spPr>
      </p:sp>
      <p:pic>
        <p:nvPicPr>
          <p:cNvPr id="12" name="Claude matched the best on totals icon" descr="preencoded.png">    </p:cNvPr>
          <p:cNvPicPr>
            <a:picLocks noChangeAspect="1"/>
          </p:cNvPicPr>
          <p:nvPr/>
        </p:nvPicPr>
        <p:blipFill>
          <a:blip r:embed="rId3"/>
          <a:stretch>
            <a:fillRect/>
          </a:stretch>
        </p:blipFill>
        <p:spPr>
          <a:xfrm>
            <a:off x="724205" y="4107485"/>
            <a:ext cx="380390" cy="380390"/>
          </a:xfrm>
          <a:prstGeom prst="rect">
            <a:avLst/>
          </a:prstGeom>
        </p:spPr>
      </p:pic>
      <p:sp>
        <p:nvSpPr>
          <p:cNvPr id="13" name="Text 8"/>
          <p:cNvSpPr txBox="1"/>
          <p:nvPr/>
        </p:nvSpPr>
        <p:spPr>
          <a:xfrm>
            <a:off x="1463040" y="3931920"/>
            <a:ext cx="4937760" cy="411480"/>
          </a:xfrm>
          <a:prstGeom prst="rect">
            <a:avLst/>
          </a:prstGeom>
          <a:noFill/>
          <a:ln/>
        </p:spPr>
        <p:txBody>
          <a:bodyPr wrap="square" lIns="0" tIns="0" rIns="0" bIns="0" rtlCol="0" anchor="ctr"/>
          <a:lstStyle/>
          <a:p>
            <a:pPr indent="0" marL="0">
              <a:buNone/>
            </a:pPr>
            <a:r>
              <a:rPr lang="en-US" sz="1900" b="1" dirty="0">
                <a:solidFill>
                  <a:schemeClr val="bg1"/>
                </a:solidFill>
              </a:rPr>
              <a:t>Claude matched the best on totals</a:t>
            </a:r>
            <a:endParaRPr lang="en-US" sz="1900" dirty="0"/>
          </a:p>
        </p:txBody>
      </p:sp>
      <p:sp>
        <p:nvSpPr>
          <p:cNvPr id="14" name="Text 9"/>
          <p:cNvSpPr txBox="1"/>
          <p:nvPr/>
        </p:nvSpPr>
        <p:spPr>
          <a:xfrm>
            <a:off x="1463040" y="4370832"/>
            <a:ext cx="4937760" cy="411480"/>
          </a:xfrm>
          <a:prstGeom prst="rect">
            <a:avLst/>
          </a:prstGeom>
          <a:noFill/>
          <a:ln/>
        </p:spPr>
        <p:txBody>
          <a:bodyPr wrap="square" lIns="0" tIns="0" rIns="0" bIns="0" rtlCol="0" anchor="ctr"/>
          <a:lstStyle/>
          <a:p>
            <a:pPr indent="0" marL="0">
              <a:buNone/>
            </a:pPr>
            <a:r>
              <a:rPr lang="en-US" sz="1400" dirty="0">
                <a:solidFill>
                  <a:schemeClr val="bg2"/>
                </a:solidFill>
              </a:rPr>
              <a:t>Promising, but tested on 112 series only</a:t>
            </a:r>
            <a:endParaRPr lang="en-US" sz="1400" dirty="0"/>
          </a:p>
        </p:txBody>
      </p:sp>
      <p:sp>
        <p:nvSpPr>
          <p:cNvPr id="15" name="limitations card"/>
          <p:cNvSpPr/>
          <p:nvPr/>
        </p:nvSpPr>
        <p:spPr>
          <a:xfrm>
            <a:off x="6675120" y="1371600"/>
            <a:ext cx="4937760" cy="4572000"/>
          </a:xfrm>
          <a:prstGeom prst="roundRect">
            <a:avLst>
              <a:gd name="adj" fmla="val 2400"/>
            </a:avLst>
          </a:prstGeom>
          <a:solidFill>
            <a:srgbClr val="2A3B55"/>
          </a:solidFill>
          <a:ln w="12700">
            <a:solidFill>
              <a:srgbClr val="2A3B55"/>
            </a:solidFill>
            <a:prstDash val="solid"/>
          </a:ln>
        </p:spPr>
      </p:sp>
      <p:sp>
        <p:nvSpPr>
          <p:cNvPr id="16" name="limitations circle"/>
          <p:cNvSpPr/>
          <p:nvPr/>
        </p:nvSpPr>
        <p:spPr>
          <a:xfrm>
            <a:off x="6949440" y="1600200"/>
            <a:ext cx="594360" cy="594360"/>
          </a:xfrm>
          <a:prstGeom prst="ellipse">
            <a:avLst/>
          </a:prstGeom>
          <a:solidFill>
            <a:srgbClr val="F2B33D"/>
          </a:solidFill>
          <a:ln w="12700">
            <a:solidFill>
              <a:srgbClr val="F2B33D"/>
            </a:solidFill>
            <a:prstDash val="solid"/>
          </a:ln>
        </p:spPr>
      </p:sp>
      <p:pic>
        <p:nvPicPr>
          <p:cNvPr id="17" name="limitations icon" descr="preencoded.png">    </p:cNvPr>
          <p:cNvPicPr>
            <a:picLocks noChangeAspect="1"/>
          </p:cNvPicPr>
          <p:nvPr/>
        </p:nvPicPr>
        <p:blipFill>
          <a:blip r:embed="rId4"/>
          <a:stretch>
            <a:fillRect/>
          </a:stretch>
        </p:blipFill>
        <p:spPr>
          <a:xfrm>
            <a:off x="7092086" y="1742846"/>
            <a:ext cx="309067" cy="309067"/>
          </a:xfrm>
          <a:prstGeom prst="rect">
            <a:avLst/>
          </a:prstGeom>
        </p:spPr>
      </p:pic>
      <p:sp>
        <p:nvSpPr>
          <p:cNvPr id="18" name="Text 12"/>
          <p:cNvSpPr txBox="1"/>
          <p:nvPr/>
        </p:nvSpPr>
        <p:spPr>
          <a:xfrm>
            <a:off x="7680960" y="1600200"/>
            <a:ext cx="3657600" cy="594360"/>
          </a:xfrm>
          <a:prstGeom prst="rect">
            <a:avLst/>
          </a:prstGeom>
          <a:noFill/>
          <a:ln/>
        </p:spPr>
        <p:txBody>
          <a:bodyPr wrap="square" lIns="0" tIns="0" rIns="0" bIns="0" rtlCol="0" anchor="ctr"/>
          <a:lstStyle/>
          <a:p>
            <a:pPr indent="0" marL="0">
              <a:buNone/>
            </a:pPr>
            <a:r>
              <a:rPr lang="en-US" sz="1900" b="1" dirty="0">
                <a:solidFill>
                  <a:schemeClr val="bg1"/>
                </a:solidFill>
              </a:rPr>
              <a:t>Limitations</a:t>
            </a:r>
            <a:endParaRPr lang="en-US" sz="1900" dirty="0"/>
          </a:p>
        </p:txBody>
      </p:sp>
      <p:sp>
        <p:nvSpPr>
          <p:cNvPr id="19" name="Text 13"/>
          <p:cNvSpPr txBox="1"/>
          <p:nvPr/>
        </p:nvSpPr>
        <p:spPr>
          <a:xfrm>
            <a:off x="6949440" y="2377440"/>
            <a:ext cx="4480560" cy="338328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bg2"/>
                </a:solidFill>
              </a:rPr>
              <a:t>One 28-day test window: close rankings could flip in another month.</a:t>
            </a:r>
            <a:endParaRPr lang="en-US" sz="1400" dirty="0"/>
          </a:p>
          <a:p>
            <a:pPr marL="342900" indent="-342900">
              <a:spcAft>
                <a:spcPts val="800"/>
              </a:spcAft>
              <a:buSzPct val="100000"/>
              <a:buChar char="•"/>
            </a:pPr>
            <a:r>
              <a:rPr lang="en-US" sz="1400" dirty="0">
                <a:solidFill>
                  <a:schemeClr val="bg2"/>
                </a:solidFill>
              </a:rPr>
              <a:t>Claude: 112 series only; the blind test can't fully rule out contamination.</a:t>
            </a:r>
            <a:endParaRPr lang="en-US" sz="1400" dirty="0"/>
          </a:p>
          <a:p>
            <a:pPr marL="342900" indent="-342900">
              <a:spcAft>
                <a:spcPts val="800"/>
              </a:spcAft>
              <a:buSzPct val="100000"/>
              <a:buChar char="•"/>
            </a:pPr>
            <a:r>
              <a:rPr lang="en-US" sz="1400" dirty="0">
                <a:solidFill>
                  <a:schemeClr val="bg2"/>
                </a:solidFill>
              </a:rPr>
              <a:t>Accuracy is not the business goal. Ordering is a newsvendor problem: running out costs the margin (underage), unsold food costs its price (overage). The best order is a margin-set quantile, not the forecast, and our accuracy metrics weigh both errors equally.</a:t>
            </a:r>
            <a:endParaRPr lang="en-US" sz="14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nchor="ctr"/>
          <a:lstStyle/>
          <a:p>
            <a:pPr algn="l" indent="0" marL="0">
              <a:buNone/>
            </a:pPr>
            <a:r>
              <a:rPr lang="en-US" sz="3400" b="1" dirty="0">
                <a:solidFill>
                  <a:schemeClr val="tx2"/>
                </a:solidFill>
              </a:rPr>
              <a:t>Demo: Shelf Signal dashboard</a:t>
            </a:r>
            <a:endParaRPr lang="en-US" sz="3400" dirty="0"/>
          </a:p>
        </p:txBody>
      </p:sp>
      <p:sp>
        <p:nvSpPr>
          <p:cNvPr id="3" name="screenshot frame"/>
          <p:cNvSpPr/>
          <p:nvPr/>
        </p:nvSpPr>
        <p:spPr>
          <a:xfrm>
            <a:off x="548640" y="1371600"/>
            <a:ext cx="6583680" cy="4370832"/>
          </a:xfrm>
          <a:prstGeom prst="rect">
            <a:avLst/>
          </a:prstGeom>
          <a:solidFill>
            <a:srgbClr val="FFFFFF"/>
          </a:solidFill>
          <a:ln w="12700">
            <a:solidFill>
              <a:srgbClr val="D9DCE1"/>
            </a:solidFill>
            <a:prstDash val="solid"/>
          </a:ln>
        </p:spPr>
      </p:sp>
      <p:pic>
        <p:nvPicPr>
          <p:cNvPr id="4" name="dashboard screenshot" descr="Shelf Signal order planner: demand distribution, order quantity and profit by model">
            <a:hlinkClick r:id="rId2" tooltip="Open the live dashboard"/>
          </p:cNvPr>
          <p:cNvPicPr>
            <a:picLocks noChangeAspect="1"/>
          </p:cNvPicPr>
          <p:nvPr/>
        </p:nvPicPr>
        <p:blipFill>
          <a:blip r:embed="rId1"/>
          <a:stretch>
            <a:fillRect/>
          </a:stretch>
        </p:blipFill>
        <p:spPr>
          <a:xfrm>
            <a:off x="566928" y="1389888"/>
            <a:ext cx="6547104" cy="4334256"/>
          </a:xfrm>
          <a:prstGeom prst="rect">
            <a:avLst/>
          </a:prstGeom>
        </p:spPr>
      </p:pic>
      <p:sp>
        <p:nvSpPr>
          <p:cNvPr id="5" name="Text 2"/>
          <p:cNvSpPr txBox="1"/>
          <p:nvPr/>
        </p:nvSpPr>
        <p:spPr>
          <a:xfrm>
            <a:off x="548640" y="5806440"/>
            <a:ext cx="6583680" cy="365760"/>
          </a:xfrm>
          <a:prstGeom prst="rect">
            <a:avLst/>
          </a:prstGeom>
          <a:noFill/>
          <a:ln/>
        </p:spPr>
        <p:txBody>
          <a:bodyPr wrap="square" lIns="0" tIns="0" rIns="0" bIns="0" rtlCol="0" anchor="ctr"/>
          <a:lstStyle/>
          <a:p>
            <a:pPr indent="0" marL="0">
              <a:buNone/>
            </a:pPr>
            <a:r>
              <a:rPr lang="en-US" sz="1300" b="1" u="sng" dirty="0">
                <a:solidFill>
                  <a:srgbClr val="2A78D6"/>
                </a:solidFill>
                <a:hlinkClick r:id="rId3" invalidUrl="" action="" tgtFrame="" tooltip="Opens in your browser" history="1" highlightClick="0" endSnd="0">
                  <a:extLst>
                    <a:ext uri="{A12FA001-AC4F-418D-AE19-62706E023703}">
                      <ahyp:hlinkClr xmlns:ahyp="http://schemas.microsoft.com/office/drawing/2018/hyperlinkcolor" val="tx"/>
                    </a:ext>
                  </a:extLst>
                </a:hlinkClick>
              </a:rPr>
              <a:t>Open live dashboard ↗</a:t>
            </a:r>
            <a:pPr indent="0" marL="0">
              <a:buNone/>
            </a:pPr>
            <a:r>
              <a:rPr lang="en-US" sz="1300" dirty="0">
                <a:solidFill>
                  <a:srgbClr val="6B6A66"/>
                </a:solidFill>
              </a:rPr>
              <a:t>   ·   </a:t>
            </a:r>
            <a:pPr indent="0" marL="0">
              <a:buNone/>
            </a:pPr>
            <a:r>
              <a:rPr lang="en-US" sz="1300" u="sng" dirty="0">
                <a:solidFill>
                  <a:srgbClr val="2A78D6"/>
                </a:solidFill>
                <a:hlinkClick r:id="rId4" invalidUrl="" action="" tgtFrame="" tooltip="" history="1" highlightClick="0" endSnd="0">
                  <a:extLst>
                    <a:ext uri="{A12FA001-AC4F-418D-AE19-62706E023703}">
                      <ahyp:hlinkClr xmlns:ahyp="http://schemas.microsoft.com/office/drawing/2018/hyperlinkcolor" val="tx"/>
                    </a:ext>
                  </a:extLst>
                </a:hlinkClick>
              </a:rPr>
              <a:t>shihan-2002.github.io/shelf-signal-dashboard</a:t>
            </a:r>
            <a:endParaRPr lang="en-US" sz="1300" dirty="0"/>
          </a:p>
        </p:txBody>
      </p:sp>
      <p:sp>
        <p:nvSpPr>
          <p:cNvPr id="6" name="Forecast explorer circle"/>
          <p:cNvSpPr/>
          <p:nvPr/>
        </p:nvSpPr>
        <p:spPr>
          <a:xfrm>
            <a:off x="7680960" y="1463040"/>
            <a:ext cx="685800" cy="685800"/>
          </a:xfrm>
          <a:prstGeom prst="ellipse">
            <a:avLst/>
          </a:prstGeom>
          <a:solidFill>
            <a:srgbClr val="1B2A41"/>
          </a:solidFill>
          <a:ln w="12700">
            <a:solidFill>
              <a:srgbClr val="1B2A41"/>
            </a:solidFill>
            <a:prstDash val="solid"/>
          </a:ln>
        </p:spPr>
      </p:sp>
      <p:pic>
        <p:nvPicPr>
          <p:cNvPr id="7" name="Forecast explorer icon" descr="preencoded.png">    </p:cNvPr>
          <p:cNvPicPr>
            <a:picLocks noChangeAspect="1"/>
          </p:cNvPicPr>
          <p:nvPr/>
        </p:nvPicPr>
        <p:blipFill>
          <a:blip r:embed="rId5"/>
          <a:stretch>
            <a:fillRect/>
          </a:stretch>
        </p:blipFill>
        <p:spPr>
          <a:xfrm>
            <a:off x="7845552" y="1627632"/>
            <a:ext cx="356616" cy="356616"/>
          </a:xfrm>
          <a:prstGeom prst="rect">
            <a:avLst/>
          </a:prstGeom>
        </p:spPr>
      </p:pic>
      <p:sp>
        <p:nvSpPr>
          <p:cNvPr id="8" name="Text 4"/>
          <p:cNvSpPr txBox="1"/>
          <p:nvPr/>
        </p:nvSpPr>
        <p:spPr>
          <a:xfrm>
            <a:off x="8549640" y="1417320"/>
            <a:ext cx="3108960" cy="411480"/>
          </a:xfrm>
          <a:prstGeom prst="rect">
            <a:avLst/>
          </a:prstGeom>
          <a:noFill/>
          <a:ln/>
        </p:spPr>
        <p:txBody>
          <a:bodyPr wrap="square" lIns="0" tIns="0" rIns="0" bIns="0" rtlCol="0" anchor="b"/>
          <a:lstStyle/>
          <a:p>
            <a:pPr indent="0" marL="0">
              <a:buNone/>
            </a:pPr>
            <a:r>
              <a:rPr lang="en-US" sz="1700" b="1" dirty="0">
                <a:solidFill>
                  <a:schemeClr val="tx2"/>
                </a:solidFill>
              </a:rPr>
              <a:t>Forecast explorer</a:t>
            </a:r>
            <a:endParaRPr lang="en-US" sz="1700" dirty="0"/>
          </a:p>
        </p:txBody>
      </p:sp>
      <p:sp>
        <p:nvSpPr>
          <p:cNvPr id="9" name="Text 5"/>
          <p:cNvSpPr txBox="1"/>
          <p:nvPr/>
        </p:nvSpPr>
        <p:spPr>
          <a:xfrm>
            <a:off x="8549640" y="1856232"/>
            <a:ext cx="3108960" cy="640080"/>
          </a:xfrm>
          <a:prstGeom prst="rect">
            <a:avLst/>
          </a:prstGeom>
          <a:noFill/>
          <a:ln/>
        </p:spPr>
        <p:txBody>
          <a:bodyPr wrap="square" lIns="0" tIns="0" rIns="0" bIns="0" rtlCol="0" anchor="t"/>
          <a:lstStyle/>
          <a:p>
            <a:pPr indent="0" marL="0">
              <a:buNone/>
            </a:pPr>
            <a:r>
              <a:rPr lang="en-US" sz="1400" dirty="0">
                <a:solidFill>
                  <a:schemeClr val="tx1"/>
                </a:solidFill>
              </a:rPr>
              <a:t>One store's department: every model against actual sales</a:t>
            </a:r>
            <a:endParaRPr lang="en-US" sz="1400" dirty="0"/>
          </a:p>
        </p:txBody>
      </p:sp>
      <p:sp>
        <p:nvSpPr>
          <p:cNvPr id="10" name="AI lab circle"/>
          <p:cNvSpPr/>
          <p:nvPr/>
        </p:nvSpPr>
        <p:spPr>
          <a:xfrm>
            <a:off x="7680960" y="2651760"/>
            <a:ext cx="685800" cy="685800"/>
          </a:xfrm>
          <a:prstGeom prst="ellipse">
            <a:avLst/>
          </a:prstGeom>
          <a:solidFill>
            <a:srgbClr val="1B2A41"/>
          </a:solidFill>
          <a:ln w="12700">
            <a:solidFill>
              <a:srgbClr val="1B2A41"/>
            </a:solidFill>
            <a:prstDash val="solid"/>
          </a:ln>
        </p:spPr>
      </p:sp>
      <p:pic>
        <p:nvPicPr>
          <p:cNvPr id="11" name="AI lab icon" descr="preencoded.png">    </p:cNvPr>
          <p:cNvPicPr>
            <a:picLocks noChangeAspect="1"/>
          </p:cNvPicPr>
          <p:nvPr/>
        </p:nvPicPr>
        <p:blipFill>
          <a:blip r:embed="rId6"/>
          <a:stretch>
            <a:fillRect/>
          </a:stretch>
        </p:blipFill>
        <p:spPr>
          <a:xfrm>
            <a:off x="7845552" y="2816352"/>
            <a:ext cx="356616" cy="356616"/>
          </a:xfrm>
          <a:prstGeom prst="rect">
            <a:avLst/>
          </a:prstGeom>
        </p:spPr>
      </p:pic>
      <p:sp>
        <p:nvSpPr>
          <p:cNvPr id="12" name="Text 7"/>
          <p:cNvSpPr txBox="1"/>
          <p:nvPr/>
        </p:nvSpPr>
        <p:spPr>
          <a:xfrm>
            <a:off x="8549640" y="2606040"/>
            <a:ext cx="3108960" cy="411480"/>
          </a:xfrm>
          <a:prstGeom prst="rect">
            <a:avLst/>
          </a:prstGeom>
          <a:noFill/>
          <a:ln/>
        </p:spPr>
        <p:txBody>
          <a:bodyPr wrap="square" lIns="0" tIns="0" rIns="0" bIns="0" rtlCol="0" anchor="b"/>
          <a:lstStyle/>
          <a:p>
            <a:pPr indent="0" marL="0">
              <a:buNone/>
            </a:pPr>
            <a:r>
              <a:rPr lang="en-US" sz="1700" b="1" dirty="0">
                <a:solidFill>
                  <a:schemeClr val="tx2"/>
                </a:solidFill>
              </a:rPr>
              <a:t>AI lab</a:t>
            </a:r>
            <a:endParaRPr lang="en-US" sz="1700" dirty="0"/>
          </a:p>
        </p:txBody>
      </p:sp>
      <p:sp>
        <p:nvSpPr>
          <p:cNvPr id="13" name="Text 8"/>
          <p:cNvSpPr txBox="1"/>
          <p:nvPr/>
        </p:nvSpPr>
        <p:spPr>
          <a:xfrm>
            <a:off x="8549640" y="3044952"/>
            <a:ext cx="3108960" cy="640080"/>
          </a:xfrm>
          <a:prstGeom prst="rect">
            <a:avLst/>
          </a:prstGeom>
          <a:noFill/>
          <a:ln/>
        </p:spPr>
        <p:txBody>
          <a:bodyPr wrap="square" lIns="0" tIns="0" rIns="0" bIns="0" rtlCol="0" anchor="t"/>
          <a:lstStyle/>
          <a:p>
            <a:pPr indent="0" marL="0">
              <a:buNone/>
            </a:pPr>
            <a:r>
              <a:rPr lang="en-US" sz="1400" dirty="0">
                <a:solidFill>
                  <a:schemeClr val="tx1"/>
                </a:solidFill>
              </a:rPr>
              <a:t>Claude's own reasoning, and the named-vs-blind test</a:t>
            </a:r>
            <a:endParaRPr lang="en-US" sz="1400" dirty="0"/>
          </a:p>
        </p:txBody>
      </p:sp>
      <p:sp>
        <p:nvSpPr>
          <p:cNvPr id="14" name="Order planner circle"/>
          <p:cNvSpPr/>
          <p:nvPr/>
        </p:nvSpPr>
        <p:spPr>
          <a:xfrm>
            <a:off x="7680960" y="3840480"/>
            <a:ext cx="685800" cy="685800"/>
          </a:xfrm>
          <a:prstGeom prst="ellipse">
            <a:avLst/>
          </a:prstGeom>
          <a:solidFill>
            <a:srgbClr val="1B2A41"/>
          </a:solidFill>
          <a:ln w="12700">
            <a:solidFill>
              <a:srgbClr val="1B2A41"/>
            </a:solidFill>
            <a:prstDash val="solid"/>
          </a:ln>
        </p:spPr>
      </p:sp>
      <p:pic>
        <p:nvPicPr>
          <p:cNvPr id="15" name="Order planner icon" descr="preencoded.png">    </p:cNvPr>
          <p:cNvPicPr>
            <a:picLocks noChangeAspect="1"/>
          </p:cNvPicPr>
          <p:nvPr/>
        </p:nvPicPr>
        <p:blipFill>
          <a:blip r:embed="rId7"/>
          <a:stretch>
            <a:fillRect/>
          </a:stretch>
        </p:blipFill>
        <p:spPr>
          <a:xfrm>
            <a:off x="7845552" y="4005072"/>
            <a:ext cx="356616" cy="356616"/>
          </a:xfrm>
          <a:prstGeom prst="rect">
            <a:avLst/>
          </a:prstGeom>
        </p:spPr>
      </p:pic>
      <p:sp>
        <p:nvSpPr>
          <p:cNvPr id="16" name="Text 10"/>
          <p:cNvSpPr txBox="1"/>
          <p:nvPr/>
        </p:nvSpPr>
        <p:spPr>
          <a:xfrm>
            <a:off x="8549640" y="3794760"/>
            <a:ext cx="3108960" cy="411480"/>
          </a:xfrm>
          <a:prstGeom prst="rect">
            <a:avLst/>
          </a:prstGeom>
          <a:noFill/>
          <a:ln/>
        </p:spPr>
        <p:txBody>
          <a:bodyPr wrap="square" lIns="0" tIns="0" rIns="0" bIns="0" rtlCol="0" anchor="b"/>
          <a:lstStyle/>
          <a:p>
            <a:pPr indent="0" marL="0">
              <a:buNone/>
            </a:pPr>
            <a:r>
              <a:rPr lang="en-US" sz="1700" b="1" dirty="0">
                <a:solidFill>
                  <a:schemeClr val="tx2"/>
                </a:solidFill>
              </a:rPr>
              <a:t>Order planner</a:t>
            </a:r>
            <a:endParaRPr lang="en-US" sz="1700" dirty="0"/>
          </a:p>
        </p:txBody>
      </p:sp>
      <p:sp>
        <p:nvSpPr>
          <p:cNvPr id="17" name="Text 11"/>
          <p:cNvSpPr txBox="1"/>
          <p:nvPr/>
        </p:nvSpPr>
        <p:spPr>
          <a:xfrm>
            <a:off x="8549640" y="4233672"/>
            <a:ext cx="3108960" cy="640080"/>
          </a:xfrm>
          <a:prstGeom prst="rect">
            <a:avLst/>
          </a:prstGeom>
          <a:noFill/>
          <a:ln/>
        </p:spPr>
        <p:txBody>
          <a:bodyPr wrap="square" lIns="0" tIns="0" rIns="0" bIns="0" rtlCol="0" anchor="t"/>
          <a:lstStyle/>
          <a:p>
            <a:pPr indent="0" marL="0">
              <a:buNone/>
            </a:pPr>
            <a:r>
              <a:rPr lang="en-US" sz="1400" dirty="0">
                <a:solidFill>
                  <a:schemeClr val="tx1"/>
                </a:solidFill>
              </a:rPr>
              <a:t>Change the margin: the order moves between P20 and P80</a:t>
            </a:r>
            <a:endParaRPr lang="en-US" sz="1400" dirty="0"/>
          </a:p>
        </p:txBody>
      </p:sp>
      <p:sp>
        <p:nvSpPr>
          <p:cNvPr id="18" name="Text 12"/>
          <p:cNvSpPr txBox="1"/>
          <p:nvPr/>
        </p:nvSpPr>
        <p:spPr>
          <a:xfrm>
            <a:off x="7680960" y="5074920"/>
            <a:ext cx="3931920" cy="640080"/>
          </a:xfrm>
          <a:prstGeom prst="rect">
            <a:avLst/>
          </a:prstGeom>
          <a:noFill/>
          <a:ln/>
        </p:spPr>
        <p:txBody>
          <a:bodyPr wrap="square" lIns="0" tIns="0" rIns="0" bIns="0" rtlCol="0" anchor="ctr"/>
          <a:lstStyle/>
          <a:p>
            <a:pPr indent="0" marL="0">
              <a:buNone/>
            </a:pPr>
            <a:r>
              <a:rPr lang="en-US" sz="2600" b="1" dirty="0">
                <a:solidFill>
                  <a:srgbClr val="1B2A41"/>
                </a:solidFill>
                <a:latin typeface="Cambria" pitchFamily="34" charset="0"/>
                <a:ea typeface="Cambria" pitchFamily="34" charset="-122"/>
                <a:cs typeface="Cambria" pitchFamily="34" charset="-120"/>
              </a:rPr>
              <a:t>Thank you — questions?</a:t>
            </a:r>
            <a:endParaRPr lang="en-US" sz="2600" dirty="0"/>
          </a:p>
        </p:txBody>
      </p:sp>
      <p:sp>
        <p:nvSpPr>
          <p:cNvPr id="25" name="Slide Number Placeholder 0"/>
          <p:cNvSpPr>
            <a:spLocks noGrp="1"/>
          </p:cNvSpPr>
          <p:nvPr>
            <p:ph type="sldNum" sz="quarter" idx="4294967295"/>
          </p:nvPr>
        </p:nvSpPr>
        <p:spPr>
          <a:xfrm>
            <a:off x="1115568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theme/theme1.xml><?xml version="1.0" encoding="utf-8"?>
<a:theme xmlns:a="http://schemas.openxmlformats.org/drawingml/2006/main" name="Group 3 Forecasting">
  <a:themeElements>
    <a:clrScheme name="Group 3 Forecasting">
      <a:dk1>
        <a:srgbClr val="1F2328"/>
      </a:dk1>
      <a:lt1>
        <a:srgbClr val="FFFFFF"/>
      </a:lt1>
      <a:dk2>
        <a:srgbClr val="1B2A41"/>
      </a:dk2>
      <a:lt2>
        <a:srgbClr val="EEF1F5"/>
      </a:lt2>
      <a:accent1>
        <a:srgbClr val="2A78D6"/>
      </a:accent1>
      <a:accent2>
        <a:srgbClr val="EB6834"/>
      </a:accent2>
      <a:accent3>
        <a:srgbClr val="1BAF7A"/>
      </a:accent3>
      <a:accent4>
        <a:srgbClr val="4A3AA7"/>
      </a:accent4>
      <a:accent5>
        <a:srgbClr val="D55181"/>
      </a:accent5>
      <a:accent6>
        <a:srgbClr val="F2B33D"/>
      </a:accent6>
      <a:hlink>
        <a:srgbClr val="2A78D6"/>
      </a:hlink>
      <a:folHlink>
        <a:srgbClr val="4A3AA7"/>
      </a:folHlink>
    </a:clrScheme>
    <a:fontScheme name="Group 3 Forecasting">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Can AI Foundation Models Beat Traditional Statistical Models?</dc:title>
  <dc:subject>PptxGenJS Presentation</dc:subject>
  <dc:creator>Group 3</dc:creator>
  <cp:lastModifiedBy>Group 3</cp:lastModifiedBy>
  <cp:revision>1</cp:revision>
  <dcterms:created xsi:type="dcterms:W3CDTF">2026-10-21T05:31:17Z</dcterms:created>
  <dcterms:modified xsi:type="dcterms:W3CDTF">2026-10-21T05:31:17Z</dcterms:modified>
</cp:coreProperties>
</file>