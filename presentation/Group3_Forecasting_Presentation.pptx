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6457a11b-2e00-d16b-d8e7-a6ea70a1b295}">
          <p14:sldIdLst>
            <p14:sldId id="256"/>
            <p14:sldId id="257"/>
          </p14:sldIdLst>
        </p14:section>
        <p14:section name="Models and results" id="{12d43392-109d-0b02-4404-d168bcd271c8}">
          <p14:sldIdLst>
            <p14:sldId id="258"/>
            <p14:sldId id="259"/>
            <p14:sldId id="260"/>
          </p14:sldIdLst>
        </p14:section>
        <p14:section name="LLM experiment" id="{ba8d30fc-75be-301c-8687-4889bb886f7c}">
          <p14:sldIdLst>
            <p14:sldId id="261"/>
            <p14:sldId id="262"/>
          </p14:sldIdLst>
        </p14:section>
        <p14:section name="Answer and demo" id="{edfb8a1d-2922-ea5f-aa1c-0378c7ebd974}">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Total daily units, all 4 stores, during the 28-day test window</a:t>
            </a:r>
          </a:p>
        </c:rich>
      </c:tx>
      <c:layout/>
      <c:overlay val="0"/>
    </c:title>
    <c:autoTitleDeleted val="0"/>
    <c:plotArea>
      <c:layout/>
      <c:lineChart>
        <c:varyColors val="0"/>
        <c:ser>
          <c:idx val="0"/>
          <c:order val="0"/>
          <c:tx>
            <c:strRef>
              <c:f>Sheet1!$B$1</c:f>
              <c:strCache>
                <c:ptCount val="1"/>
                <c:pt idx="0">
                  <c:v>Actual sales</c:v>
                </c:pt>
              </c:strCache>
            </c:strRef>
          </c:tx>
          <c:spPr>
            <a:solidFill>
              <a:srgbClr val="1F2328"/>
            </a:solidFill>
            <a:ln w="28575" cap="flat">
              <a:solidFill>
                <a:srgbClr val="1F2328"/>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F2328"/>
              </a:solidFill>
              <a:ln w="9525" cap="flat">
                <a:solidFill>
                  <a:srgbClr val="1F2328"/>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Sheet1!$B$2:$B$29</c:f>
              <c:numCache>
                <c:formatCode>General</c:formatCode>
                <c:ptCount val="28"/>
                <c:pt idx="0">
                  <c:v>11368</c:v>
                </c:pt>
                <c:pt idx="1">
                  <c:v>10427</c:v>
                </c:pt>
                <c:pt idx="2">
                  <c:v>10249</c:v>
                </c:pt>
                <c:pt idx="3">
                  <c:v>11213</c:v>
                </c:pt>
                <c:pt idx="4">
                  <c:v>12113</c:v>
                </c:pt>
                <c:pt idx="5">
                  <c:v>13730</c:v>
                </c:pt>
                <c:pt idx="6">
                  <c:v>13539</c:v>
                </c:pt>
                <c:pt idx="7">
                  <c:v>12488</c:v>
                </c:pt>
                <c:pt idx="8">
                  <c:v>11014</c:v>
                </c:pt>
                <c:pt idx="9">
                  <c:v>11702</c:v>
                </c:pt>
                <c:pt idx="10">
                  <c:v>10531</c:v>
                </c:pt>
                <c:pt idx="11">
                  <c:v>12733</c:v>
                </c:pt>
                <c:pt idx="12">
                  <c:v>15366</c:v>
                </c:pt>
                <c:pt idx="13">
                  <c:v>15870</c:v>
                </c:pt>
                <c:pt idx="14">
                  <c:v>11763</c:v>
                </c:pt>
                <c:pt idx="15">
                  <c:v>11941</c:v>
                </c:pt>
                <c:pt idx="16">
                  <c:v>11081</c:v>
                </c:pt>
                <c:pt idx="17">
                  <c:v>11283</c:v>
                </c:pt>
                <c:pt idx="18">
                  <c:v>12709</c:v>
                </c:pt>
                <c:pt idx="19">
                  <c:v>14513</c:v>
                </c:pt>
                <c:pt idx="20">
                  <c:v>15170</c:v>
                </c:pt>
                <c:pt idx="21">
                  <c:v>11625</c:v>
                </c:pt>
                <c:pt idx="22">
                  <c:v>10395</c:v>
                </c:pt>
                <c:pt idx="23">
                  <c:v>10322</c:v>
                </c:pt>
                <c:pt idx="24">
                  <c:v>9982</c:v>
                </c:pt>
                <c:pt idx="25">
                  <c:v>11769</c:v>
                </c:pt>
                <c:pt idx="26">
                  <c:v>14284</c:v>
                </c:pt>
                <c:pt idx="27">
                  <c:v>13610</c:v>
                </c:pt>
              </c:numCache>
            </c:numRef>
          </c:val>
          <c:smooth val="0"/>
        </c:ser>
        <c:ser>
          <c:idx val="1"/>
          <c:order val="1"/>
          <c:tx>
            <c:strRef>
              <c:f>Sheet1!$C$1</c:f>
              <c:strCache>
                <c:ptCount val="1"/>
                <c:pt idx="0">
                  <c:v>Ensemble (traditional)</c:v>
                </c:pt>
              </c:strCache>
            </c:strRef>
          </c:tx>
          <c:spPr>
            <a:solidFill>
              <a:srgbClr val="0F5C73"/>
            </a:solidFill>
            <a:ln w="28575" cap="flat">
              <a:solidFill>
                <a:srgbClr val="0F5C7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0F5C73"/>
              </a:solidFill>
              <a:ln w="9525" cap="flat">
                <a:solidFill>
                  <a:srgbClr val="0F5C73"/>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Sheet1!$C$2:$C$29</c:f>
              <c:numCache>
                <c:formatCode>General</c:formatCode>
                <c:ptCount val="28"/>
                <c:pt idx="0">
                  <c:v>11544</c:v>
                </c:pt>
                <c:pt idx="1">
                  <c:v>10589</c:v>
                </c:pt>
                <c:pt idx="2">
                  <c:v>10415</c:v>
                </c:pt>
                <c:pt idx="3">
                  <c:v>10387</c:v>
                </c:pt>
                <c:pt idx="4">
                  <c:v>11330</c:v>
                </c:pt>
                <c:pt idx="5">
                  <c:v>13784</c:v>
                </c:pt>
                <c:pt idx="6">
                  <c:v>14357</c:v>
                </c:pt>
                <c:pt idx="7">
                  <c:v>11927</c:v>
                </c:pt>
                <c:pt idx="8">
                  <c:v>10608</c:v>
                </c:pt>
                <c:pt idx="9">
                  <c:v>11176</c:v>
                </c:pt>
                <c:pt idx="10">
                  <c:v>11145</c:v>
                </c:pt>
                <c:pt idx="11">
                  <c:v>12594</c:v>
                </c:pt>
                <c:pt idx="12">
                  <c:v>14725</c:v>
                </c:pt>
                <c:pt idx="13">
                  <c:v>15123</c:v>
                </c:pt>
                <c:pt idx="14">
                  <c:v>12273</c:v>
                </c:pt>
                <c:pt idx="15">
                  <c:v>11557</c:v>
                </c:pt>
                <c:pt idx="16">
                  <c:v>11139</c:v>
                </c:pt>
                <c:pt idx="17">
                  <c:v>11124</c:v>
                </c:pt>
                <c:pt idx="18">
                  <c:v>12187</c:v>
                </c:pt>
                <c:pt idx="19">
                  <c:v>14553</c:v>
                </c:pt>
                <c:pt idx="20">
                  <c:v>15125</c:v>
                </c:pt>
                <c:pt idx="21">
                  <c:v>12043</c:v>
                </c:pt>
                <c:pt idx="22">
                  <c:v>11040</c:v>
                </c:pt>
                <c:pt idx="23">
                  <c:v>10881</c:v>
                </c:pt>
                <c:pt idx="24">
                  <c:v>10860</c:v>
                </c:pt>
                <c:pt idx="25">
                  <c:v>11938</c:v>
                </c:pt>
                <c:pt idx="26">
                  <c:v>14484</c:v>
                </c:pt>
                <c:pt idx="27">
                  <c:v>14472</c:v>
                </c:pt>
              </c:numCache>
            </c:numRef>
          </c:val>
          <c:smooth val="0"/>
        </c:ser>
        <c:ser>
          <c:idx val="2"/>
          <c:order val="2"/>
          <c:tx>
            <c:strRef>
              <c:f>Sheet1!$D$1</c:f>
              <c:strCache>
                <c:ptCount val="1"/>
                <c:pt idx="0">
                  <c:v>AutoARIMA (traditional)</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Sheet1!$D$2:$D$29</c:f>
              <c:numCache>
                <c:formatCode>General</c:formatCode>
                <c:ptCount val="28"/>
                <c:pt idx="0">
                  <c:v>12677</c:v>
                </c:pt>
                <c:pt idx="1">
                  <c:v>12231</c:v>
                </c:pt>
                <c:pt idx="2">
                  <c:v>12097</c:v>
                </c:pt>
                <c:pt idx="3">
                  <c:v>12062</c:v>
                </c:pt>
                <c:pt idx="4">
                  <c:v>12327</c:v>
                </c:pt>
                <c:pt idx="5">
                  <c:v>13014</c:v>
                </c:pt>
                <c:pt idx="6">
                  <c:v>13220</c:v>
                </c:pt>
                <c:pt idx="7">
                  <c:v>12409</c:v>
                </c:pt>
                <c:pt idx="8">
                  <c:v>12197</c:v>
                </c:pt>
                <c:pt idx="9">
                  <c:v>12136</c:v>
                </c:pt>
                <c:pt idx="10">
                  <c:v>12142</c:v>
                </c:pt>
                <c:pt idx="11">
                  <c:v>12332</c:v>
                </c:pt>
                <c:pt idx="12">
                  <c:v>12863</c:v>
                </c:pt>
                <c:pt idx="13">
                  <c:v>12976</c:v>
                </c:pt>
                <c:pt idx="14">
                  <c:v>12403</c:v>
                </c:pt>
                <c:pt idx="15">
                  <c:v>12255</c:v>
                </c:pt>
                <c:pt idx="16">
                  <c:v>12202</c:v>
                </c:pt>
                <c:pt idx="17">
                  <c:v>12211</c:v>
                </c:pt>
                <c:pt idx="18">
                  <c:v>12356</c:v>
                </c:pt>
                <c:pt idx="19">
                  <c:v>12746</c:v>
                </c:pt>
                <c:pt idx="20">
                  <c:v>12848</c:v>
                </c:pt>
                <c:pt idx="21">
                  <c:v>12403</c:v>
                </c:pt>
                <c:pt idx="22">
                  <c:v>12274</c:v>
                </c:pt>
                <c:pt idx="23">
                  <c:v>12244</c:v>
                </c:pt>
                <c:pt idx="24">
                  <c:v>12238</c:v>
                </c:pt>
                <c:pt idx="25">
                  <c:v>12386</c:v>
                </c:pt>
                <c:pt idx="26">
                  <c:v>12723</c:v>
                </c:pt>
                <c:pt idx="27">
                  <c:v>12798</c:v>
                </c:pt>
              </c:numCache>
            </c:numRef>
          </c:val>
          <c:smooth val="0"/>
        </c:ser>
        <c:ser>
          <c:idx val="3"/>
          <c:order val="3"/>
          <c:tx>
            <c:strRef>
              <c:f>Sheet1!$E$1</c:f>
              <c:strCache>
                <c:ptCount val="1"/>
                <c:pt idx="0">
                  <c:v>Chronos (AI)</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Sheet1!$E$2:$E$29</c:f>
              <c:numCache>
                <c:formatCode>General</c:formatCode>
                <c:ptCount val="28"/>
                <c:pt idx="0">
                  <c:v>11182</c:v>
                </c:pt>
                <c:pt idx="1">
                  <c:v>10215</c:v>
                </c:pt>
                <c:pt idx="2">
                  <c:v>9938</c:v>
                </c:pt>
                <c:pt idx="3">
                  <c:v>10217</c:v>
                </c:pt>
                <c:pt idx="4">
                  <c:v>11170</c:v>
                </c:pt>
                <c:pt idx="5">
                  <c:v>12537</c:v>
                </c:pt>
                <c:pt idx="6">
                  <c:v>12523</c:v>
                </c:pt>
                <c:pt idx="7">
                  <c:v>11093</c:v>
                </c:pt>
                <c:pt idx="8">
                  <c:v>10209</c:v>
                </c:pt>
                <c:pt idx="9">
                  <c:v>9962</c:v>
                </c:pt>
                <c:pt idx="10">
                  <c:v>10177</c:v>
                </c:pt>
                <c:pt idx="11">
                  <c:v>11079</c:v>
                </c:pt>
                <c:pt idx="12">
                  <c:v>12326</c:v>
                </c:pt>
                <c:pt idx="13">
                  <c:v>12350</c:v>
                </c:pt>
                <c:pt idx="14">
                  <c:v>10809</c:v>
                </c:pt>
                <c:pt idx="15">
                  <c:v>9862</c:v>
                </c:pt>
                <c:pt idx="16">
                  <c:v>9557</c:v>
                </c:pt>
                <c:pt idx="17">
                  <c:v>9820</c:v>
                </c:pt>
                <c:pt idx="18">
                  <c:v>10760</c:v>
                </c:pt>
                <c:pt idx="19">
                  <c:v>12135</c:v>
                </c:pt>
                <c:pt idx="20">
                  <c:v>12124</c:v>
                </c:pt>
                <c:pt idx="21">
                  <c:v>10678</c:v>
                </c:pt>
                <c:pt idx="22">
                  <c:v>9859</c:v>
                </c:pt>
                <c:pt idx="23">
                  <c:v>9656</c:v>
                </c:pt>
                <c:pt idx="24">
                  <c:v>9896</c:v>
                </c:pt>
                <c:pt idx="25">
                  <c:v>10769</c:v>
                </c:pt>
                <c:pt idx="26">
                  <c:v>12034</c:v>
                </c:pt>
                <c:pt idx="27">
                  <c:v>12108</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7"/>
      </c:catAx>
      <c:valAx>
        <c:axId val="2094734552"/>
        <c:scaling>
          <c:orientation val="minMax"/>
          <c:min val="900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LightGBM, a machine-learning method, dominates this kind of retail data and has become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official M5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our data: the Chronos paper keeps M5, and every retail dataset it uses, out of training as held-out tests. Seasonal naive, 'same weekday last week', is the benchmark.
We also test the simplest possible combination: an unweighted average of AutoETS and LightGBM. And as an experiment, a second AI joins on a subset of series: Claude, a general-purpose language model, which we'll come back to later. Note that the inputs differ: only LightGBM and Claude see prices and the calendar.
TRANSITION: So which model is best, and at what? Here's the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 is the comparison: traditional models against AI, on four questions. A quick guide first. RMSSE compares a model's errors with a naive "same as yesterday" forecast for the same product, and WRMSSE combines that score across all products, weighted by dollar sales. The store-totals column is the average daily percentage error. In every accuracy column, smaller is better. So, who is most accurate overall? A traditional model: the simple average of AutoETS and LightGBM, with LightGBM alone in second. Who forecasts store totals best? Again, the traditional models. For single products, it's close, and the AI is level with LightGBM. Finally, speed. The time column shows how long each model takes to produce the whole forecast for all 5,748 products, training included. Here the AI, Chronos, wins by far: seconds instead of minutes, because it needs no training at all.
So from a traditional point of view, the best choice is the AutoETS-plus-LightGBM average, and the AI's real strength is speed. The green cells show the winner of each column.
POINT AT: the green cells, column by column.
TRANSITION: Let's see what those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Here's what that looks like. The black line is actual daily sales across all four stores during the test month. The traditional average, in teal, rises and falls with every weekend peak. AutoARIMA, in green, is almost flat, and Chronos, in orange, has the right shape but sits too low.
Why? AutoARIMA and Chronos look at one product at a time. For a product that sells a unit or two a day, AutoARIMA's best guess is a flat line, and thousands of flat lines added up miss the weekend. Chronos does follow each product's own weekly pattern, which is why its shape is right. But it aims at the typical day, and for products that often sell nothing, the typical day is below the average, so it under-forecasts the sparse products most and the total ends up about 11% low. LightGBM learns from all products together, so it sees the weekend rush, and averaging it with AutoETS smooths out the rest.
TRANSITION: So the specialist AI is fast but less accurate.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Now a generalist AI. We used Claude through its API. For each product, our code sends the past year of daily sales as plain text, one row per day with the date, holidays, food-stamp days and price, plus an instruction: forecast the next 28 days and answer in a fixed format. Claude reads the numbers, reasons about patterns such as weekends and holidays, and sends back 28 daily forecasts with a short explanation. No statistical model is fitted; it works from what it learned in training.
Each request costs money and takes a few seconds, so to keep the cost down we used a subset instead of all 5,748 series: 100 randomly chosen products and the 12 store-by-department totals. Every other model was scored on exactly the same series, and to keep it fair, the other models were also fitted directly on those totals.
How did it perform? On the store totals, very well: it matched our best traditional forecast, the AutoETS-plus-LightGBM average, and beat every single model, including Chronos. On individual products it was in the pack, behind AutoETS and AutoARIMA. So the generalist AI was more accurate than the specialist one, but far slower and more costly to run at scale.
POINT AT: the Claude bars at the top of the chart, then the comparison table.
TRANSITION: Using a language model also brings a specific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The obvious worry: M5 is public data, so Claude may have seen these exact sales during training, and be remembering rather than forecasting. So we ran a blind test. Every forecast was made twice: once with the real labels, meaning Walmart, the store and product IDs, and the real dates; and once with all of that hidden, just 'day 1, day 2' with no names and no year.
Think of it as a blind taste test. It's the same idea as a permutation test in statistics: if the labels carry no information, taking them away shouldn't change the result. And it didn't: accuracy was practically identical with and without the labels, 0.579 versus 0.583. Knowing it was Walmart in 2016 gave Claude no advantage.
We also saved every response so the results can be re-checked, and checked that every answer came back in the right format. One honest limit remains: hiding the labels can't hide the sales pattern itself. If Claude had memorised the shape of these series, a blind test couldn't catch it, so contamination can't be fully ruled out.
IF ASKED (permutation test): it is the same idea, not a formal permutation test. A real one reshuffles labels many times to get a p-value; we made one with-labels vs without-labels comparison.
BACKGROUND (not to read aloud): Our code asked Claude for 28 daily forecasts in a fixed JSON format. We checked each reply had exactly 28 days and retried automatically if not. 224 requests = 112 series x 2 versions (named and blind); all came back usable. Every reply is saved in our repo.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And Claude matched the best traditional approach on store totals.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So what happened when we turned each model's forecasts into actual orders? For most products, it barely mattered which model we used: the profit differences were small enough to be luck. Only for high-margin products, where running out of stock is expensive, did the more accurate model, LightGBM, clearly make more money.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457200">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45720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sp>
      <p:sp>
        <p:nvSpPr>
          <p:cNvPr id="5" name="Text 2"/>
          <p:cNvSpPr txBox="1"/>
          <p:nvPr/>
        </p:nvSpPr>
        <p:spPr>
          <a:xfrm>
            <a:off x="822960" y="5577840"/>
            <a:ext cx="10607040" cy="640080"/>
          </a:xfrm>
          <a:prstGeom prst="rect">
            <a:avLst/>
          </a:prstGeom>
          <a:noFill/>
          <a:ln/>
        </p:spPr>
        <p:txBody>
          <a:bodyPr wrap="square" lIns="0" tIns="0" rIns="0" bIns="0" rtlCol="0" anchor="ctr"/>
          <a:lstStyle/>
          <a:p>
            <a:pPr indent="0" marL="0">
              <a:buNone/>
            </a:pPr>
            <a:r>
              <a:rPr lang="en-US" sz="1400" b="1" dirty="0">
                <a:solidFill>
                  <a:schemeClr val="tx2"/>
                </a:solidFill>
              </a:rPr>
              <a:t>Inputs differ: </a:t>
            </a:r>
            <a:pPr indent="0" marL="0">
              <a:buNone/>
            </a:pP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wins accuracy; AI wins speed</a:t>
            </a:r>
            <a:endParaRPr lang="en-US" sz="3400" dirty="0"/>
          </a:p>
        </p:txBody>
      </p:sp>
      <p:graphicFrame>
        <p:nvGraphicFramePr>
          <p:cNvPr id="5" name="scorecard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1691640"/>
                <a:gridCol w="1691640"/>
                <a:gridCol w="1600200"/>
                <a:gridCol w="1508760"/>
                <a:gridCol w="1463040"/>
              </a:tblGrid>
              <a:tr h="685800">
                <a:tc>
                  <a:txBody>
                    <a:bodyPr/>
                    <a:lstStyle/>
                    <a:p>
                      <a:pPr algn="l"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Overall accuracy</a:t>
                      </a:r>
                      <a:endParaRPr lang="en-US" sz="1500" dirty="0"/>
                    </a:p>
                    <a:p>
                      <a:pPr algn="ctr" indent="0" marL="0">
                        <a:buNone/>
                      </a:pPr>
                      <a:r>
                        <a:rPr lang="en-US" sz="1500" b="1" dirty="0">
                          <a:solidFill>
                            <a:srgbClr val="FFFFFF"/>
                          </a:solidFill>
                        </a:rPr>
                        <a:t>(WRMSSE)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Store totals</a:t>
                      </a:r>
                      <a:endParaRPr lang="en-US" sz="1500" dirty="0"/>
                    </a:p>
                    <a:p>
                      <a:pPr algn="ctr" indent="0" marL="0">
                        <a:buNone/>
                      </a:pPr>
                      <a:r>
                        <a:rPr lang="en-US" sz="1500" b="1" dirty="0">
                          <a:solidFill>
                            <a:srgbClr val="FFFFFF"/>
                          </a:solidFill>
                        </a:rPr>
                        <a:t>(daily error)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Single items</a:t>
                      </a:r>
                      <a:endParaRPr lang="en-US" sz="1500" dirty="0"/>
                    </a:p>
                    <a:p>
                      <a:pPr algn="ctr" indent="0" marL="0">
                        <a:buNone/>
                      </a:pPr>
                      <a:r>
                        <a:rPr lang="en-US" sz="1500" b="1" dirty="0">
                          <a:solidFill>
                            <a:srgbClr val="FFFFFF"/>
                          </a:solidFill>
                        </a:rPr>
                        <a:t>(RMSSE)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Time for</a:t>
                      </a:r>
                      <a:endParaRPr lang="en-US" sz="1500" dirty="0"/>
                    </a:p>
                    <a:p>
                      <a:pPr algn="ctr" indent="0" marL="0">
                        <a:buNone/>
                      </a:pPr>
                      <a:r>
                        <a:rPr lang="en-US" sz="1500" b="1" dirty="0">
                          <a:solidFill>
                            <a:srgbClr val="FFFFFF"/>
                          </a:solidFill>
                        </a:rPr>
                        <a:t>all series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Training</a:t>
                      </a:r>
                      <a:endParaRPr lang="en-US" sz="1500" dirty="0"/>
                    </a:p>
                    <a:p>
                      <a:pPr algn="ctr" indent="0" marL="0">
                        <a:buNone/>
                      </a:pPr>
                      <a:r>
                        <a:rPr lang="en-US" sz="1500" b="1" dirty="0">
                          <a:solidFill>
                            <a:srgbClr val="FFFFFF"/>
                          </a:solidFill>
                        </a:rPr>
                        <a:t>needed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02920">
                <a:tc>
                  <a:txBody>
                    <a:bodyPr/>
                    <a:lstStyle/>
                    <a:p>
                      <a:pPr indent="0" marL="0">
                        <a:buNone/>
                      </a:pPr>
                      <a:r>
                        <a:rPr lang="en-US" sz="1500" b="1" dirty="0">
                          <a:solidFill>
                            <a:srgbClr val="0F5C73"/>
                          </a:solidFill>
                        </a:rPr>
                        <a:t>Ensemble (AutoETS +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b="1" dirty="0">
                          <a:solidFill>
                            <a:srgbClr val="1F2328"/>
                          </a:solidFill>
                        </a:rPr>
                        <a:t>0.604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3.6%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0.90</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dirty="0">
                          <a:solidFill>
                            <a:srgbClr val="1F2328"/>
                          </a:solidFill>
                        </a:rPr>
                        <a:t>~3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0.646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0.661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0.93</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86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0.892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9.9%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39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EB6834"/>
                          </a:solidFill>
                        </a:rPr>
                        <a:t>Chronos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0.949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10.4%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328"/>
                          </a:solidFill>
                        </a:rPr>
                        <a:t>10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r>
              <a:tr h="502920">
                <a:tc>
                  <a:txBody>
                    <a:bodyPr/>
                    <a:lstStyle/>
                    <a:p>
                      <a:pPr indent="0" marL="0">
                        <a:buNone/>
                      </a:pPr>
                      <a:r>
                        <a:rPr lang="en-US" sz="1500" b="1" dirty="0">
                          <a:solidFill>
                            <a:srgbClr val="9A9993"/>
                          </a:solidFill>
                        </a:rPr>
                        <a:t>Seasonal naive (benchmark)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6B6A66"/>
                          </a:solidFill>
                        </a:rPr>
                        <a:t>0.814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5.5%</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1.17</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&lt;1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029200"/>
            <a:ext cx="11064240" cy="274320"/>
          </a:xfrm>
          <a:prstGeom prst="rect">
            <a:avLst/>
          </a:prstGeom>
          <a:noFill/>
          <a:ln/>
        </p:spPr>
        <p:txBody>
          <a:bodyPr wrap="square" lIns="0" tIns="0" rIns="0" bIns="0" rtlCol="0" anchor="ctr"/>
          <a:lstStyle/>
          <a:p>
            <a:pPr algn="r" indent="0" marL="0">
              <a:buNone/>
            </a:pPr>
            <a:r>
              <a:rPr lang="en-US" sz="1100" dirty="0">
                <a:solidFill>
                  <a:srgbClr val="6B6A66"/>
                </a:solidFill>
              </a:rPr>
              <a:t>Green = best in its column (benchmark excluded)</a:t>
            </a:r>
            <a:endParaRPr lang="en-US" sz="1100" dirty="0"/>
          </a:p>
        </p:txBody>
      </p:sp>
      <p:sp>
        <p:nvSpPr>
          <p:cNvPr id="5" name="scorecard summary"/>
          <p:cNvSpPr/>
          <p:nvPr/>
        </p:nvSpPr>
        <p:spPr>
          <a:xfrm>
            <a:off x="548640" y="5349240"/>
            <a:ext cx="11064240" cy="960120"/>
          </a:xfrm>
          <a:prstGeom prst="roundRect">
            <a:avLst>
              <a:gd name="adj" fmla="val 11429"/>
            </a:avLst>
          </a:prstGeom>
          <a:solidFill>
            <a:schemeClr val="bg2"/>
          </a:solidFill>
          <a:ln w="12700">
            <a:solidFill>
              <a:schemeClr val="bg2"/>
            </a:solidFill>
            <a:prstDash val="solid"/>
          </a:ln>
        </p:spPr>
      </p:sp>
      <p:sp>
        <p:nvSpPr>
          <p:cNvPr id="6" name="Text 3"/>
          <p:cNvSpPr txBox="1"/>
          <p:nvPr/>
        </p:nvSpPr>
        <p:spPr>
          <a:xfrm>
            <a:off x="822960" y="5349240"/>
            <a:ext cx="10607040" cy="960120"/>
          </a:xfrm>
          <a:prstGeom prst="rect">
            <a:avLst/>
          </a:prstGeom>
          <a:noFill/>
          <a:ln/>
        </p:spPr>
        <p:txBody>
          <a:bodyPr wrap="square" lIns="0" tIns="0" rIns="0" bIns="0" rtlCol="0" anchor="ctr"/>
          <a:lstStyle/>
          <a:p>
            <a:pPr indent="0" marL="0">
              <a:spcAft>
                <a:spcPts val="400"/>
              </a:spcAft>
              <a:buNone/>
            </a:pPr>
            <a:r>
              <a:rPr lang="en-US" sz="1400" b="1" dirty="0">
                <a:solidFill>
                  <a:srgbClr val="1F2328"/>
                </a:solidFill>
              </a:rPr>
              <a:t>How to read: </a:t>
            </a:r>
            <a:pPr indent="0" marL="0">
              <a:spcAft>
                <a:spcPts val="400"/>
              </a:spcAft>
              <a:buNone/>
            </a:pPr>
            <a:r>
              <a:rPr lang="en-US" sz="1400" dirty="0">
                <a:solidFill>
                  <a:schemeClr val="tx1"/>
                </a:solidFill>
              </a:rPr>
              <a:t>RMSSE = error vs a naive “same as yesterday” forecast; WRMSSE = RMSSE weighted by dollar sales. Smaller is better.</a:t>
            </a:r>
            <a:endParaRPr lang="en-US" sz="1400" dirty="0"/>
          </a:p>
          <a:p>
            <a:pPr indent="0" marL="0">
              <a:spcAft>
                <a:spcPts val="400"/>
              </a:spcAft>
              <a:buNone/>
            </a:pPr>
            <a:r>
              <a:rPr lang="en-US" sz="1400" b="1" dirty="0">
                <a:solidFill>
                  <a:srgbClr val="0F5C73"/>
                </a:solidFill>
              </a:rPr>
              <a:t>Best traditional choice: </a:t>
            </a:r>
            <a:pPr indent="0" marL="0">
              <a:spcAft>
                <a:spcPts val="400"/>
              </a:spcAft>
              <a:buNone/>
            </a:pPr>
            <a:r>
              <a:rPr lang="en-US" sz="1400" dirty="0">
                <a:solidFill>
                  <a:schemeClr val="tx1"/>
                </a:solidFill>
              </a:rPr>
              <a:t>the AutoETS + LightGBM average, for accuracy.   </a:t>
            </a:r>
            <a:pPr indent="0" marL="0">
              <a:spcAft>
                <a:spcPts val="400"/>
              </a:spcAft>
              <a:buNone/>
            </a:pPr>
            <a:r>
              <a:rPr lang="en-US" sz="1400" b="1" dirty="0">
                <a:solidFill>
                  <a:srgbClr val="EB6834"/>
                </a:solidFill>
              </a:rPr>
              <a:t>Best AI strength: </a:t>
            </a:r>
            <a:pPr indent="0" marL="0">
              <a:spcAft>
                <a:spcPts val="400"/>
              </a:spcAft>
              <a:buNone/>
            </a:pPr>
            <a:r>
              <a:rPr lang="en-US" sz="1400" dirty="0">
                <a:solidFill>
                  <a:schemeClr val="tx1"/>
                </a:solidFill>
              </a:rPr>
              <a:t>Chronos, for speed with no training.</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tracks the peaks; the AI runs low</a:t>
            </a:r>
            <a:endParaRPr lang="en-US" sz="3400" dirty="0"/>
          </a:p>
        </p:txBody>
      </p:sp>
      <p:graphicFrame>
        <p:nvGraphicFramePr>
          <p:cNvPr id="3" name="forecast chart" descr=""/>
          <p:cNvGraphicFramePr/>
          <p:nvPr/>
        </p:nvGraphicFramePr>
        <p:xfrm>
          <a:off x="548640" y="137160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4" name="forecast note 0"/>
          <p:cNvSpPr/>
          <p:nvPr/>
        </p:nvSpPr>
        <p:spPr>
          <a:xfrm>
            <a:off x="8321040" y="1463040"/>
            <a:ext cx="3291840"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8549640" y="1572768"/>
            <a:ext cx="2926080" cy="411480"/>
          </a:xfrm>
          <a:prstGeom prst="rect">
            <a:avLst/>
          </a:prstGeom>
          <a:noFill/>
          <a:ln/>
        </p:spPr>
        <p:txBody>
          <a:bodyPr wrap="square" lIns="0" tIns="0" rIns="0" bIns="0" rtlCol="0" anchor="ctr"/>
          <a:lstStyle/>
          <a:p>
            <a:pPr indent="0" marL="0">
              <a:buNone/>
            </a:pPr>
            <a:r>
              <a:rPr lang="en-US" sz="1700" b="1" dirty="0">
                <a:solidFill>
                  <a:srgbClr val="0F5C73"/>
                </a:solidFill>
                <a:latin typeface="Cambria" pitchFamily="34" charset="0"/>
                <a:ea typeface="Cambria" pitchFamily="34" charset="-122"/>
                <a:cs typeface="Cambria" pitchFamily="34" charset="-120"/>
              </a:rPr>
              <a:t>Follows the peaks</a:t>
            </a:r>
            <a:endParaRPr lang="en-US" sz="1700" dirty="0"/>
          </a:p>
        </p:txBody>
      </p:sp>
      <p:sp>
        <p:nvSpPr>
          <p:cNvPr id="6" name="Text 3"/>
          <p:cNvSpPr txBox="1"/>
          <p:nvPr/>
        </p:nvSpPr>
        <p:spPr>
          <a:xfrm>
            <a:off x="8549640" y="2011680"/>
            <a:ext cx="2926080" cy="640080"/>
          </a:xfrm>
          <a:prstGeom prst="rect">
            <a:avLst/>
          </a:prstGeom>
          <a:noFill/>
          <a:ln/>
        </p:spPr>
        <p:txBody>
          <a:bodyPr wrap="square" lIns="0" tIns="0" rIns="0" bIns="0" rtlCol="0" anchor="t"/>
          <a:lstStyle/>
          <a:p>
            <a:pPr indent="0" marL="0">
              <a:buNone/>
            </a:pPr>
            <a:r>
              <a:rPr lang="en-US" sz="1300" dirty="0">
                <a:solidFill>
                  <a:schemeClr val="tx1"/>
                </a:solidFill>
              </a:rPr>
              <a:t>The traditional average rises and falls with every weekend</a:t>
            </a:r>
            <a:endParaRPr lang="en-US" sz="1300" dirty="0"/>
          </a:p>
        </p:txBody>
      </p:sp>
      <p:sp>
        <p:nvSpPr>
          <p:cNvPr id="7" name="forecast note 1"/>
          <p:cNvSpPr/>
          <p:nvPr/>
        </p:nvSpPr>
        <p:spPr>
          <a:xfrm>
            <a:off x="8321040" y="2880360"/>
            <a:ext cx="3291840" cy="1234440"/>
          </a:xfrm>
          <a:prstGeom prst="roundRect">
            <a:avLst>
              <a:gd name="adj" fmla="val 8889"/>
            </a:avLst>
          </a:prstGeom>
          <a:solidFill>
            <a:schemeClr val="bg2"/>
          </a:solidFill>
          <a:ln w="12700">
            <a:solidFill>
              <a:schemeClr val="bg2"/>
            </a:solidFill>
            <a:prstDash val="solid"/>
          </a:ln>
        </p:spPr>
      </p:sp>
      <p:sp>
        <p:nvSpPr>
          <p:cNvPr id="8" name="Text 5"/>
          <p:cNvSpPr txBox="1"/>
          <p:nvPr/>
        </p:nvSpPr>
        <p:spPr>
          <a:xfrm>
            <a:off x="8549640" y="2990088"/>
            <a:ext cx="2926080" cy="41148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Flat line</a:t>
            </a:r>
            <a:endParaRPr lang="en-US" sz="1700" dirty="0"/>
          </a:p>
        </p:txBody>
      </p:sp>
      <p:sp>
        <p:nvSpPr>
          <p:cNvPr id="9" name="Text 6"/>
          <p:cNvSpPr txBox="1"/>
          <p:nvPr/>
        </p:nvSpPr>
        <p:spPr>
          <a:xfrm>
            <a:off x="8549640" y="3429000"/>
            <a:ext cx="2926080" cy="640080"/>
          </a:xfrm>
          <a:prstGeom prst="rect">
            <a:avLst/>
          </a:prstGeom>
          <a:noFill/>
          <a:ln/>
        </p:spPr>
        <p:txBody>
          <a:bodyPr wrap="square" lIns="0" tIns="0" rIns="0" bIns="0" rtlCol="0" anchor="t"/>
          <a:lstStyle/>
          <a:p>
            <a:pPr indent="0" marL="0">
              <a:buNone/>
            </a:pPr>
            <a:r>
              <a:rPr lang="en-US" sz="1300" dirty="0">
                <a:solidFill>
                  <a:schemeClr val="tx1"/>
                </a:solidFill>
              </a:rPr>
              <a:t>AutoARIMA's product-by-product forecasts add up to a flat total</a:t>
            </a:r>
            <a:endParaRPr lang="en-US" sz="1300" dirty="0"/>
          </a:p>
        </p:txBody>
      </p:sp>
      <p:sp>
        <p:nvSpPr>
          <p:cNvPr id="10" name="forecast note 2"/>
          <p:cNvSpPr/>
          <p:nvPr/>
        </p:nvSpPr>
        <p:spPr>
          <a:xfrm>
            <a:off x="8321040" y="4297680"/>
            <a:ext cx="3291840" cy="1234440"/>
          </a:xfrm>
          <a:prstGeom prst="roundRect">
            <a:avLst>
              <a:gd name="adj" fmla="val 8889"/>
            </a:avLst>
          </a:prstGeom>
          <a:solidFill>
            <a:schemeClr val="bg2"/>
          </a:solidFill>
          <a:ln w="12700">
            <a:solidFill>
              <a:schemeClr val="bg2"/>
            </a:solidFill>
            <a:prstDash val="solid"/>
          </a:ln>
        </p:spPr>
      </p:sp>
      <p:sp>
        <p:nvSpPr>
          <p:cNvPr id="11" name="Text 8"/>
          <p:cNvSpPr txBox="1"/>
          <p:nvPr/>
        </p:nvSpPr>
        <p:spPr>
          <a:xfrm>
            <a:off x="8549640" y="4407408"/>
            <a:ext cx="2926080" cy="411480"/>
          </a:xfrm>
          <a:prstGeom prst="rect">
            <a:avLst/>
          </a:prstGeom>
          <a:noFill/>
          <a:ln/>
        </p:spPr>
        <p:txBody>
          <a:bodyPr wrap="square" lIns="0" tIns="0" rIns="0" bIns="0" rtlCol="0" anchor="ctr"/>
          <a:lstStyle/>
          <a:p>
            <a:pPr indent="0" marL="0">
              <a:buNone/>
            </a:pPr>
            <a:r>
              <a:rPr lang="en-US" sz="1700" b="1" dirty="0">
                <a:solidFill>
                  <a:srgbClr val="EB6834"/>
                </a:solidFill>
                <a:latin typeface="Cambria" pitchFamily="34" charset="0"/>
                <a:ea typeface="Cambria" pitchFamily="34" charset="-122"/>
                <a:cs typeface="Cambria" pitchFamily="34" charset="-120"/>
              </a:rPr>
              <a:t>Right shape, too low</a:t>
            </a:r>
            <a:endParaRPr lang="en-US" sz="1700" dirty="0"/>
          </a:p>
        </p:txBody>
      </p:sp>
      <p:sp>
        <p:nvSpPr>
          <p:cNvPr id="12" name="Text 9"/>
          <p:cNvSpPr txBox="1"/>
          <p:nvPr/>
        </p:nvSpPr>
        <p:spPr>
          <a:xfrm>
            <a:off x="8549640" y="4846320"/>
            <a:ext cx="2926080" cy="640080"/>
          </a:xfrm>
          <a:prstGeom prst="rect">
            <a:avLst/>
          </a:prstGeom>
          <a:noFill/>
          <a:ln/>
        </p:spPr>
        <p:txBody>
          <a:bodyPr wrap="square" lIns="0" tIns="0" rIns="0" bIns="0" rtlCol="0" anchor="t"/>
          <a:lstStyle/>
          <a:p>
            <a:pPr indent="0" marL="0">
              <a:buNone/>
            </a:pPr>
            <a:r>
              <a:rPr lang="en-US" sz="1300" dirty="0">
                <a:solidFill>
                  <a:schemeClr val="tx1"/>
                </a:solidFill>
              </a:rPr>
              <a:t>Chronos sees the weekly rhythm but forecasts about 11% low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Hours; paid per request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to keep cost down: 100 random items + 12 totals,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Paid per request; slow at scale</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2026-10-22T03:42:57Z</dcterms:created>
  <dcterms:modified xsi:type="dcterms:W3CDTF">2026-10-22T03:42:57Z</dcterms:modified>
</cp:coreProperties>
</file>