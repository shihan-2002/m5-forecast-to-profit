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and data" id="{86244d65-bdae-3efd-d44d-1a7d432090f6}">
          <p14:sldIdLst>
            <p14:sldId id="256"/>
            <p14:sldId id="257"/>
          </p14:sldIdLst>
        </p14:section>
        <p14:section name="Models and results" id="{9667a602-e17c-4fc8-f5e3-e665bcdd8202}">
          <p14:sldIdLst>
            <p14:sldId id="258"/>
            <p14:sldId id="259"/>
            <p14:sldId id="260"/>
          </p14:sldIdLst>
        </p14:section>
        <p14:section name="LLM experiment" id="{1b072fb9-91c5-7b71-6132-717e86a39455}">
          <p14:sldIdLst>
            <p14:sldId id="261"/>
            <p14:sldId id="262"/>
          </p14:sldIdLst>
        </p14:section>
        <p14:section name="Answer and demo" id="{b166d616-ad74-56f4-17bc-d3aac4dde18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Weekly food units sold, 4 California stores</a:t>
            </a:r>
          </a:p>
        </c:rich>
      </c:tx>
      <c:layout/>
      <c:overlay val="0"/>
    </c:title>
    <c:autoTitleDeleted val="0"/>
    <c:plotArea>
      <c:layout/>
      <c:lineChart>
        <c:varyColors val="0"/>
        <c:ser>
          <c:idx val="0"/>
          <c:order val="0"/>
          <c:tx>
            <c:strRef>
              <c:f>Sheet1!$B$1</c:f>
              <c:strCache>
                <c:ptCount val="1"/>
                <c:pt idx="0">
                  <c:v>Weekly units</c:v>
                </c:pt>
              </c:strCache>
            </c:strRef>
          </c:tx>
          <c:spPr>
            <a:solidFill>
              <a:srgbClr val="1B2A41"/>
            </a:solidFill>
            <a:ln w="19050" cap="flat">
              <a:solidFill>
                <a:srgbClr val="1B2A41"/>
              </a:solidFill>
              <a:prstDash val="solid"/>
              <a:round/>
            </a:ln>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c:symbol val="none"/>
            <c:size val="6"/>
            <c:spPr>
              <a:solidFill>
                <a:srgbClr val="1B2A41"/>
              </a:solidFill>
              <a:ln w="9525" cap="flat">
                <a:solidFill>
                  <a:srgbClr val="1B2A41"/>
                </a:solidFill>
                <a:prstDash val="solid"/>
                <a:round/>
              </a:ln>
              <a:effectLst/>
            </c:spPr>
          </c:marker>
          <c:cat>
            <c:multiLvlStrRef>
              <c:f>Sheet1!$A$2:$A$282</c:f>
              <c:multiLvlStrCache>
                <c:ptCount val="281"/>
                <c:lvl>
                  <c:pt idx="0">
                    <c:v>2011-02</c:v>
                  </c:pt>
                  <c:pt idx="1">
                    <c:v>2011-02</c:v>
                  </c:pt>
                  <c:pt idx="2">
                    <c:v>2011-02</c:v>
                  </c:pt>
                  <c:pt idx="3">
                    <c:v>2011-02</c:v>
                  </c:pt>
                  <c:pt idx="4">
                    <c:v>2011-03</c:v>
                  </c:pt>
                  <c:pt idx="5">
                    <c:v>2011-03</c:v>
                  </c:pt>
                  <c:pt idx="6">
                    <c:v>2011-03</c:v>
                  </c:pt>
                  <c:pt idx="7">
                    <c:v>2011-03</c:v>
                  </c:pt>
                  <c:pt idx="8">
                    <c:v>2011-04</c:v>
                  </c:pt>
                  <c:pt idx="9">
                    <c:v>2011-04</c:v>
                  </c:pt>
                  <c:pt idx="10">
                    <c:v>2011-04</c:v>
                  </c:pt>
                  <c:pt idx="11">
                    <c:v>2011-04</c:v>
                  </c:pt>
                  <c:pt idx="12">
                    <c:v>2011-05</c:v>
                  </c:pt>
                  <c:pt idx="13">
                    <c:v>2011-05</c:v>
                  </c:pt>
                  <c:pt idx="14">
                    <c:v>2011-05</c:v>
                  </c:pt>
                  <c:pt idx="15">
                    <c:v>2011-05</c:v>
                  </c:pt>
                  <c:pt idx="16">
                    <c:v>2011-05</c:v>
                  </c:pt>
                  <c:pt idx="17">
                    <c:v>2011-06</c:v>
                  </c:pt>
                  <c:pt idx="18">
                    <c:v>2011-06</c:v>
                  </c:pt>
                  <c:pt idx="19">
                    <c:v>2011-06</c:v>
                  </c:pt>
                  <c:pt idx="20">
                    <c:v>2011-06</c:v>
                  </c:pt>
                  <c:pt idx="21">
                    <c:v>2011-07</c:v>
                  </c:pt>
                  <c:pt idx="22">
                    <c:v>2011-07</c:v>
                  </c:pt>
                  <c:pt idx="23">
                    <c:v>2011-07</c:v>
                  </c:pt>
                  <c:pt idx="24">
                    <c:v>2011-07</c:v>
                  </c:pt>
                  <c:pt idx="25">
                    <c:v>2011-07</c:v>
                  </c:pt>
                  <c:pt idx="26">
                    <c:v>2011-08</c:v>
                  </c:pt>
                  <c:pt idx="27">
                    <c:v>2011-08</c:v>
                  </c:pt>
                  <c:pt idx="28">
                    <c:v>2011-08</c:v>
                  </c:pt>
                  <c:pt idx="29">
                    <c:v>2011-08</c:v>
                  </c:pt>
                  <c:pt idx="30">
                    <c:v>2011-09</c:v>
                  </c:pt>
                  <c:pt idx="31">
                    <c:v>2011-09</c:v>
                  </c:pt>
                  <c:pt idx="32">
                    <c:v>2011-09</c:v>
                  </c:pt>
                  <c:pt idx="33">
                    <c:v>2011-09</c:v>
                  </c:pt>
                  <c:pt idx="34">
                    <c:v>2011-10</c:v>
                  </c:pt>
                  <c:pt idx="35">
                    <c:v>2011-10</c:v>
                  </c:pt>
                  <c:pt idx="36">
                    <c:v>2011-10</c:v>
                  </c:pt>
                  <c:pt idx="37">
                    <c:v>2011-10</c:v>
                  </c:pt>
                  <c:pt idx="38">
                    <c:v>2011-10</c:v>
                  </c:pt>
                  <c:pt idx="39">
                    <c:v>2011-11</c:v>
                  </c:pt>
                  <c:pt idx="40">
                    <c:v>2011-11</c:v>
                  </c:pt>
                  <c:pt idx="41">
                    <c:v>2011-11</c:v>
                  </c:pt>
                  <c:pt idx="42">
                    <c:v>2011-11</c:v>
                  </c:pt>
                  <c:pt idx="43">
                    <c:v>2011-12</c:v>
                  </c:pt>
                  <c:pt idx="44">
                    <c:v>2011-12</c:v>
                  </c:pt>
                  <c:pt idx="45">
                    <c:v>2011-12</c:v>
                  </c:pt>
                  <c:pt idx="46">
                    <c:v>2011-12</c:v>
                  </c:pt>
                  <c:pt idx="47">
                    <c:v>2012-01</c:v>
                  </c:pt>
                  <c:pt idx="48">
                    <c:v>2012-01</c:v>
                  </c:pt>
                  <c:pt idx="49">
                    <c:v>2012-01</c:v>
                  </c:pt>
                  <c:pt idx="50">
                    <c:v>2012-01</c:v>
                  </c:pt>
                  <c:pt idx="51">
                    <c:v>2012-01</c:v>
                  </c:pt>
                  <c:pt idx="52">
                    <c:v>2012-02</c:v>
                  </c:pt>
                  <c:pt idx="53">
                    <c:v>2012-02</c:v>
                  </c:pt>
                  <c:pt idx="54">
                    <c:v>2012-02</c:v>
                  </c:pt>
                  <c:pt idx="55">
                    <c:v>2012-02</c:v>
                  </c:pt>
                  <c:pt idx="56">
                    <c:v>2012-03</c:v>
                  </c:pt>
                  <c:pt idx="57">
                    <c:v>2012-03</c:v>
                  </c:pt>
                  <c:pt idx="58">
                    <c:v>2012-03</c:v>
                  </c:pt>
                  <c:pt idx="59">
                    <c:v>2012-03</c:v>
                  </c:pt>
                  <c:pt idx="60">
                    <c:v>2012-04</c:v>
                  </c:pt>
                  <c:pt idx="61">
                    <c:v>2012-04</c:v>
                  </c:pt>
                  <c:pt idx="62">
                    <c:v>2012-04</c:v>
                  </c:pt>
                  <c:pt idx="63">
                    <c:v>2012-04</c:v>
                  </c:pt>
                  <c:pt idx="64">
                    <c:v>2012-04</c:v>
                  </c:pt>
                  <c:pt idx="65">
                    <c:v>2012-05</c:v>
                  </c:pt>
                  <c:pt idx="66">
                    <c:v>2012-05</c:v>
                  </c:pt>
                  <c:pt idx="67">
                    <c:v>2012-05</c:v>
                  </c:pt>
                  <c:pt idx="68">
                    <c:v>2012-05</c:v>
                  </c:pt>
                  <c:pt idx="69">
                    <c:v>2012-06</c:v>
                  </c:pt>
                  <c:pt idx="70">
                    <c:v>2012-06</c:v>
                  </c:pt>
                  <c:pt idx="71">
                    <c:v>2012-06</c:v>
                  </c:pt>
                  <c:pt idx="72">
                    <c:v>2012-06</c:v>
                  </c:pt>
                  <c:pt idx="73">
                    <c:v>2012-07</c:v>
                  </c:pt>
                  <c:pt idx="74">
                    <c:v>2012-07</c:v>
                  </c:pt>
                  <c:pt idx="75">
                    <c:v>2012-07</c:v>
                  </c:pt>
                  <c:pt idx="76">
                    <c:v>2012-07</c:v>
                  </c:pt>
                  <c:pt idx="77">
                    <c:v>2012-07</c:v>
                  </c:pt>
                  <c:pt idx="78">
                    <c:v>2012-08</c:v>
                  </c:pt>
                  <c:pt idx="79">
                    <c:v>2012-08</c:v>
                  </c:pt>
                  <c:pt idx="80">
                    <c:v>2012-08</c:v>
                  </c:pt>
                  <c:pt idx="81">
                    <c:v>2012-08</c:v>
                  </c:pt>
                  <c:pt idx="82">
                    <c:v>2012-09</c:v>
                  </c:pt>
                  <c:pt idx="83">
                    <c:v>2012-09</c:v>
                  </c:pt>
                  <c:pt idx="84">
                    <c:v>2012-09</c:v>
                  </c:pt>
                  <c:pt idx="85">
                    <c:v>2012-09</c:v>
                  </c:pt>
                  <c:pt idx="86">
                    <c:v>2012-09</c:v>
                  </c:pt>
                  <c:pt idx="87">
                    <c:v>2012-10</c:v>
                  </c:pt>
                  <c:pt idx="88">
                    <c:v>2012-10</c:v>
                  </c:pt>
                  <c:pt idx="89">
                    <c:v>2012-10</c:v>
                  </c:pt>
                  <c:pt idx="90">
                    <c:v>2012-10</c:v>
                  </c:pt>
                  <c:pt idx="91">
                    <c:v>2012-11</c:v>
                  </c:pt>
                  <c:pt idx="92">
                    <c:v>2012-11</c:v>
                  </c:pt>
                  <c:pt idx="93">
                    <c:v>2012-11</c:v>
                  </c:pt>
                  <c:pt idx="94">
                    <c:v>2012-11</c:v>
                  </c:pt>
                  <c:pt idx="95">
                    <c:v>2012-12</c:v>
                  </c:pt>
                  <c:pt idx="96">
                    <c:v>2012-12</c:v>
                  </c:pt>
                  <c:pt idx="97">
                    <c:v>2012-12</c:v>
                  </c:pt>
                  <c:pt idx="98">
                    <c:v>2012-12</c:v>
                  </c:pt>
                  <c:pt idx="99">
                    <c:v>2012-12</c:v>
                  </c:pt>
                  <c:pt idx="100">
                    <c:v>2013-01</c:v>
                  </c:pt>
                  <c:pt idx="101">
                    <c:v>2013-01</c:v>
                  </c:pt>
                  <c:pt idx="102">
                    <c:v>2013-01</c:v>
                  </c:pt>
                  <c:pt idx="103">
                    <c:v>2013-01</c:v>
                  </c:pt>
                  <c:pt idx="104">
                    <c:v>2013-02</c:v>
                  </c:pt>
                  <c:pt idx="105">
                    <c:v>2013-02</c:v>
                  </c:pt>
                  <c:pt idx="106">
                    <c:v>2013-02</c:v>
                  </c:pt>
                  <c:pt idx="107">
                    <c:v>2013-02</c:v>
                  </c:pt>
                  <c:pt idx="108">
                    <c:v>2013-03</c:v>
                  </c:pt>
                  <c:pt idx="109">
                    <c:v>2013-03</c:v>
                  </c:pt>
                  <c:pt idx="110">
                    <c:v>2013-03</c:v>
                  </c:pt>
                  <c:pt idx="111">
                    <c:v>2013-03</c:v>
                  </c:pt>
                  <c:pt idx="112">
                    <c:v>2013-03</c:v>
                  </c:pt>
                  <c:pt idx="113">
                    <c:v>2013-04</c:v>
                  </c:pt>
                  <c:pt idx="114">
                    <c:v>2013-04</c:v>
                  </c:pt>
                  <c:pt idx="115">
                    <c:v>2013-04</c:v>
                  </c:pt>
                  <c:pt idx="116">
                    <c:v>2013-04</c:v>
                  </c:pt>
                  <c:pt idx="117">
                    <c:v>2013-05</c:v>
                  </c:pt>
                  <c:pt idx="118">
                    <c:v>2013-05</c:v>
                  </c:pt>
                  <c:pt idx="119">
                    <c:v>2013-05</c:v>
                  </c:pt>
                  <c:pt idx="120">
                    <c:v>2013-05</c:v>
                  </c:pt>
                  <c:pt idx="121">
                    <c:v>2013-06</c:v>
                  </c:pt>
                  <c:pt idx="122">
                    <c:v>2013-06</c:v>
                  </c:pt>
                  <c:pt idx="123">
                    <c:v>2013-06</c:v>
                  </c:pt>
                  <c:pt idx="124">
                    <c:v>2013-06</c:v>
                  </c:pt>
                  <c:pt idx="125">
                    <c:v>2013-06</c:v>
                  </c:pt>
                  <c:pt idx="126">
                    <c:v>2013-07</c:v>
                  </c:pt>
                  <c:pt idx="127">
                    <c:v>2013-07</c:v>
                  </c:pt>
                  <c:pt idx="128">
                    <c:v>2013-07</c:v>
                  </c:pt>
                  <c:pt idx="129">
                    <c:v>2013-07</c:v>
                  </c:pt>
                  <c:pt idx="130">
                    <c:v>2013-08</c:v>
                  </c:pt>
                  <c:pt idx="131">
                    <c:v>2013-08</c:v>
                  </c:pt>
                  <c:pt idx="132">
                    <c:v>2013-08</c:v>
                  </c:pt>
                  <c:pt idx="133">
                    <c:v>2013-08</c:v>
                  </c:pt>
                  <c:pt idx="134">
                    <c:v>2013-09</c:v>
                  </c:pt>
                  <c:pt idx="135">
                    <c:v>2013-09</c:v>
                  </c:pt>
                  <c:pt idx="136">
                    <c:v>2013-09</c:v>
                  </c:pt>
                  <c:pt idx="137">
                    <c:v>2013-09</c:v>
                  </c:pt>
                  <c:pt idx="138">
                    <c:v>2013-09</c:v>
                  </c:pt>
                  <c:pt idx="139">
                    <c:v>2013-10</c:v>
                  </c:pt>
                  <c:pt idx="140">
                    <c:v>2013-10</c:v>
                  </c:pt>
                  <c:pt idx="141">
                    <c:v>2013-10</c:v>
                  </c:pt>
                  <c:pt idx="142">
                    <c:v>2013-10</c:v>
                  </c:pt>
                  <c:pt idx="143">
                    <c:v>2013-11</c:v>
                  </c:pt>
                  <c:pt idx="144">
                    <c:v>2013-11</c:v>
                  </c:pt>
                  <c:pt idx="145">
                    <c:v>2013-11</c:v>
                  </c:pt>
                  <c:pt idx="146">
                    <c:v>2013-11</c:v>
                  </c:pt>
                  <c:pt idx="147">
                    <c:v>2013-12</c:v>
                  </c:pt>
                  <c:pt idx="148">
                    <c:v>2013-12</c:v>
                  </c:pt>
                  <c:pt idx="149">
                    <c:v>2013-12</c:v>
                  </c:pt>
                  <c:pt idx="150">
                    <c:v>2013-12</c:v>
                  </c:pt>
                  <c:pt idx="151">
                    <c:v>2013-12</c:v>
                  </c:pt>
                  <c:pt idx="152">
                    <c:v>2014-01</c:v>
                  </c:pt>
                  <c:pt idx="153">
                    <c:v>2014-01</c:v>
                  </c:pt>
                  <c:pt idx="154">
                    <c:v>2014-01</c:v>
                  </c:pt>
                  <c:pt idx="155">
                    <c:v>2014-01</c:v>
                  </c:pt>
                  <c:pt idx="156">
                    <c:v>2014-02</c:v>
                  </c:pt>
                  <c:pt idx="157">
                    <c:v>2014-02</c:v>
                  </c:pt>
                  <c:pt idx="158">
                    <c:v>2014-02</c:v>
                  </c:pt>
                  <c:pt idx="159">
                    <c:v>2014-02</c:v>
                  </c:pt>
                  <c:pt idx="160">
                    <c:v>2014-03</c:v>
                  </c:pt>
                  <c:pt idx="161">
                    <c:v>2014-03</c:v>
                  </c:pt>
                  <c:pt idx="162">
                    <c:v>2014-03</c:v>
                  </c:pt>
                  <c:pt idx="163">
                    <c:v>2014-03</c:v>
                  </c:pt>
                  <c:pt idx="164">
                    <c:v>2014-03</c:v>
                  </c:pt>
                  <c:pt idx="165">
                    <c:v>2014-04</c:v>
                  </c:pt>
                  <c:pt idx="166">
                    <c:v>2014-04</c:v>
                  </c:pt>
                  <c:pt idx="167">
                    <c:v>2014-04</c:v>
                  </c:pt>
                  <c:pt idx="168">
                    <c:v>2014-04</c:v>
                  </c:pt>
                  <c:pt idx="169">
                    <c:v>2014-05</c:v>
                  </c:pt>
                  <c:pt idx="170">
                    <c:v>2014-05</c:v>
                  </c:pt>
                  <c:pt idx="171">
                    <c:v>2014-05</c:v>
                  </c:pt>
                  <c:pt idx="172">
                    <c:v>2014-05</c:v>
                  </c:pt>
                  <c:pt idx="173">
                    <c:v>2014-06</c:v>
                  </c:pt>
                  <c:pt idx="174">
                    <c:v>2014-06</c:v>
                  </c:pt>
                  <c:pt idx="175">
                    <c:v>2014-06</c:v>
                  </c:pt>
                  <c:pt idx="176">
                    <c:v>2014-06</c:v>
                  </c:pt>
                  <c:pt idx="177">
                    <c:v>2014-06</c:v>
                  </c:pt>
                  <c:pt idx="178">
                    <c:v>2014-07</c:v>
                  </c:pt>
                  <c:pt idx="179">
                    <c:v>2014-07</c:v>
                  </c:pt>
                  <c:pt idx="180">
                    <c:v>2014-07</c:v>
                  </c:pt>
                  <c:pt idx="181">
                    <c:v>2014-07</c:v>
                  </c:pt>
                  <c:pt idx="182">
                    <c:v>2014-08</c:v>
                  </c:pt>
                  <c:pt idx="183">
                    <c:v>2014-08</c:v>
                  </c:pt>
                  <c:pt idx="184">
                    <c:v>2014-08</c:v>
                  </c:pt>
                  <c:pt idx="185">
                    <c:v>2014-08</c:v>
                  </c:pt>
                  <c:pt idx="186">
                    <c:v>2014-08</c:v>
                  </c:pt>
                  <c:pt idx="187">
                    <c:v>2014-09</c:v>
                  </c:pt>
                  <c:pt idx="188">
                    <c:v>2014-09</c:v>
                  </c:pt>
                  <c:pt idx="189">
                    <c:v>2014-09</c:v>
                  </c:pt>
                  <c:pt idx="190">
                    <c:v>2014-09</c:v>
                  </c:pt>
                  <c:pt idx="191">
                    <c:v>2014-10</c:v>
                  </c:pt>
                  <c:pt idx="192">
                    <c:v>2014-10</c:v>
                  </c:pt>
                  <c:pt idx="193">
                    <c:v>2014-10</c:v>
                  </c:pt>
                  <c:pt idx="194">
                    <c:v>2014-10</c:v>
                  </c:pt>
                  <c:pt idx="195">
                    <c:v>2014-11</c:v>
                  </c:pt>
                  <c:pt idx="196">
                    <c:v>2014-11</c:v>
                  </c:pt>
                  <c:pt idx="197">
                    <c:v>2014-11</c:v>
                  </c:pt>
                  <c:pt idx="198">
                    <c:v>2014-11</c:v>
                  </c:pt>
                  <c:pt idx="199">
                    <c:v>2014-11</c:v>
                  </c:pt>
                  <c:pt idx="200">
                    <c:v>2014-12</c:v>
                  </c:pt>
                  <c:pt idx="201">
                    <c:v>2014-12</c:v>
                  </c:pt>
                  <c:pt idx="202">
                    <c:v>2014-12</c:v>
                  </c:pt>
                  <c:pt idx="203">
                    <c:v>2014-12</c:v>
                  </c:pt>
                  <c:pt idx="204">
                    <c:v>2015-01</c:v>
                  </c:pt>
                  <c:pt idx="205">
                    <c:v>2015-01</c:v>
                  </c:pt>
                  <c:pt idx="206">
                    <c:v>2015-01</c:v>
                  </c:pt>
                  <c:pt idx="207">
                    <c:v>2015-01</c:v>
                  </c:pt>
                  <c:pt idx="208">
                    <c:v>2015-02</c:v>
                  </c:pt>
                  <c:pt idx="209">
                    <c:v>2015-02</c:v>
                  </c:pt>
                  <c:pt idx="210">
                    <c:v>2015-02</c:v>
                  </c:pt>
                  <c:pt idx="211">
                    <c:v>2015-02</c:v>
                  </c:pt>
                  <c:pt idx="212">
                    <c:v>2015-03</c:v>
                  </c:pt>
                  <c:pt idx="213">
                    <c:v>2015-03</c:v>
                  </c:pt>
                  <c:pt idx="214">
                    <c:v>2015-03</c:v>
                  </c:pt>
                  <c:pt idx="215">
                    <c:v>2015-03</c:v>
                  </c:pt>
                  <c:pt idx="216">
                    <c:v>2015-03</c:v>
                  </c:pt>
                  <c:pt idx="217">
                    <c:v>2015-04</c:v>
                  </c:pt>
                  <c:pt idx="218">
                    <c:v>2015-04</c:v>
                  </c:pt>
                  <c:pt idx="219">
                    <c:v>2015-04</c:v>
                  </c:pt>
                  <c:pt idx="220">
                    <c:v>2015-04</c:v>
                  </c:pt>
                  <c:pt idx="221">
                    <c:v>2015-05</c:v>
                  </c:pt>
                  <c:pt idx="222">
                    <c:v>2015-05</c:v>
                  </c:pt>
                  <c:pt idx="223">
                    <c:v>2015-05</c:v>
                  </c:pt>
                  <c:pt idx="224">
                    <c:v>2015-05</c:v>
                  </c:pt>
                  <c:pt idx="225">
                    <c:v>2015-05</c:v>
                  </c:pt>
                  <c:pt idx="226">
                    <c:v>2015-06</c:v>
                  </c:pt>
                  <c:pt idx="227">
                    <c:v>2015-06</c:v>
                  </c:pt>
                  <c:pt idx="228">
                    <c:v>2015-06</c:v>
                  </c:pt>
                  <c:pt idx="229">
                    <c:v>2015-06</c:v>
                  </c:pt>
                  <c:pt idx="230">
                    <c:v>2015-07</c:v>
                  </c:pt>
                  <c:pt idx="231">
                    <c:v>2015-07</c:v>
                  </c:pt>
                  <c:pt idx="232">
                    <c:v>2015-07</c:v>
                  </c:pt>
                  <c:pt idx="233">
                    <c:v>2015-07</c:v>
                  </c:pt>
                  <c:pt idx="234">
                    <c:v>2015-08</c:v>
                  </c:pt>
                  <c:pt idx="235">
                    <c:v>2015-08</c:v>
                  </c:pt>
                  <c:pt idx="236">
                    <c:v>2015-08</c:v>
                  </c:pt>
                  <c:pt idx="237">
                    <c:v>2015-08</c:v>
                  </c:pt>
                  <c:pt idx="238">
                    <c:v>2015-08</c:v>
                  </c:pt>
                  <c:pt idx="239">
                    <c:v>2015-09</c:v>
                  </c:pt>
                  <c:pt idx="240">
                    <c:v>2015-09</c:v>
                  </c:pt>
                  <c:pt idx="241">
                    <c:v>2015-09</c:v>
                  </c:pt>
                  <c:pt idx="242">
                    <c:v>2015-09</c:v>
                  </c:pt>
                  <c:pt idx="243">
                    <c:v>2015-10</c:v>
                  </c:pt>
                  <c:pt idx="244">
                    <c:v>2015-10</c:v>
                  </c:pt>
                  <c:pt idx="245">
                    <c:v>2015-10</c:v>
                  </c:pt>
                  <c:pt idx="246">
                    <c:v>2015-10</c:v>
                  </c:pt>
                  <c:pt idx="247">
                    <c:v>2015-11</c:v>
                  </c:pt>
                  <c:pt idx="248">
                    <c:v>2015-11</c:v>
                  </c:pt>
                  <c:pt idx="249">
                    <c:v>2015-11</c:v>
                  </c:pt>
                  <c:pt idx="250">
                    <c:v>2015-11</c:v>
                  </c:pt>
                  <c:pt idx="251">
                    <c:v>2015-11</c:v>
                  </c:pt>
                  <c:pt idx="252">
                    <c:v>2015-12</c:v>
                  </c:pt>
                  <c:pt idx="253">
                    <c:v>2015-12</c:v>
                  </c:pt>
                  <c:pt idx="254">
                    <c:v>2015-12</c:v>
                  </c:pt>
                  <c:pt idx="255">
                    <c:v>2015-12</c:v>
                  </c:pt>
                  <c:pt idx="256">
                    <c:v>2016-01</c:v>
                  </c:pt>
                  <c:pt idx="257">
                    <c:v>2016-01</c:v>
                  </c:pt>
                  <c:pt idx="258">
                    <c:v>2016-01</c:v>
                  </c:pt>
                  <c:pt idx="259">
                    <c:v>2016-01</c:v>
                  </c:pt>
                  <c:pt idx="260">
                    <c:v>2016-01</c:v>
                  </c:pt>
                  <c:pt idx="261">
                    <c:v>2016-02</c:v>
                  </c:pt>
                  <c:pt idx="262">
                    <c:v>2016-02</c:v>
                  </c:pt>
                  <c:pt idx="263">
                    <c:v>2016-02</c:v>
                  </c:pt>
                  <c:pt idx="264">
                    <c:v>2016-02</c:v>
                  </c:pt>
                  <c:pt idx="265">
                    <c:v>2016-03</c:v>
                  </c:pt>
                  <c:pt idx="266">
                    <c:v>2016-03</c:v>
                  </c:pt>
                  <c:pt idx="267">
                    <c:v>2016-03</c:v>
                  </c:pt>
                  <c:pt idx="268">
                    <c:v>2016-03</c:v>
                  </c:pt>
                  <c:pt idx="269">
                    <c:v>2016-04</c:v>
                  </c:pt>
                  <c:pt idx="270">
                    <c:v>2016-04</c:v>
                  </c:pt>
                  <c:pt idx="271">
                    <c:v>2016-04</c:v>
                  </c:pt>
                  <c:pt idx="272">
                    <c:v>2016-04</c:v>
                  </c:pt>
                  <c:pt idx="273">
                    <c:v>2016-05</c:v>
                  </c:pt>
                  <c:pt idx="274">
                    <c:v>2016-05</c:v>
                  </c:pt>
                  <c:pt idx="275">
                    <c:v>2016-05</c:v>
                  </c:pt>
                  <c:pt idx="276">
                    <c:v>2016-05</c:v>
                  </c:pt>
                  <c:pt idx="277">
                    <c:v>2016-05</c:v>
                  </c:pt>
                  <c:pt idx="278">
                    <c:v>2016-06</c:v>
                  </c:pt>
                  <c:pt idx="279">
                    <c:v>2016-06</c:v>
                  </c:pt>
                  <c:pt idx="280">
                    <c:v>2016-06</c:v>
                  </c:pt>
                </c:lvl>
              </c:multiLvlStrCache>
            </c:multiLvlStrRef>
          </c:cat>
          <c:val>
            <c:numRef>
              <c:f>Sheet1!$B$2:$B$282</c:f>
              <c:numCache>
                <c:formatCode>General</c:formatCode>
                <c:ptCount val="281"/>
                <c:pt idx="0">
                  <c:v>62094</c:v>
                </c:pt>
                <c:pt idx="1">
                  <c:v>61600</c:v>
                </c:pt>
                <c:pt idx="2">
                  <c:v>50123</c:v>
                </c:pt>
                <c:pt idx="3">
                  <c:v>49847</c:v>
                </c:pt>
                <c:pt idx="4">
                  <c:v>56716</c:v>
                </c:pt>
                <c:pt idx="5">
                  <c:v>55797</c:v>
                </c:pt>
                <c:pt idx="6">
                  <c:v>51910</c:v>
                </c:pt>
                <c:pt idx="7">
                  <c:v>49230</c:v>
                </c:pt>
                <c:pt idx="8">
                  <c:v>54620</c:v>
                </c:pt>
                <c:pt idx="9">
                  <c:v>58151</c:v>
                </c:pt>
                <c:pt idx="10">
                  <c:v>51018</c:v>
                </c:pt>
                <c:pt idx="11">
                  <c:v>49567</c:v>
                </c:pt>
                <c:pt idx="12">
                  <c:v>43709</c:v>
                </c:pt>
                <c:pt idx="13">
                  <c:v>50165</c:v>
                </c:pt>
                <c:pt idx="14">
                  <c:v>51724</c:v>
                </c:pt>
                <c:pt idx="15">
                  <c:v>44823</c:v>
                </c:pt>
                <c:pt idx="16">
                  <c:v>45343</c:v>
                </c:pt>
                <c:pt idx="17">
                  <c:v>52860</c:v>
                </c:pt>
                <c:pt idx="18">
                  <c:v>55224</c:v>
                </c:pt>
                <c:pt idx="19">
                  <c:v>51713</c:v>
                </c:pt>
                <c:pt idx="20">
                  <c:v>52692</c:v>
                </c:pt>
                <c:pt idx="21">
                  <c:v>54210</c:v>
                </c:pt>
                <c:pt idx="22">
                  <c:v>60833</c:v>
                </c:pt>
                <c:pt idx="23">
                  <c:v>51475</c:v>
                </c:pt>
                <c:pt idx="24">
                  <c:v>52602</c:v>
                </c:pt>
                <c:pt idx="25">
                  <c:v>49235</c:v>
                </c:pt>
                <c:pt idx="26">
                  <c:v>55275</c:v>
                </c:pt>
                <c:pt idx="27">
                  <c:v>59378</c:v>
                </c:pt>
                <c:pt idx="28">
                  <c:v>55745</c:v>
                </c:pt>
                <c:pt idx="29">
                  <c:v>52648</c:v>
                </c:pt>
                <c:pt idx="30">
                  <c:v>53251</c:v>
                </c:pt>
                <c:pt idx="31">
                  <c:v>60874</c:v>
                </c:pt>
                <c:pt idx="32">
                  <c:v>54624</c:v>
                </c:pt>
                <c:pt idx="33">
                  <c:v>58449</c:v>
                </c:pt>
                <c:pt idx="34">
                  <c:v>62544</c:v>
                </c:pt>
                <c:pt idx="35">
                  <c:v>67334</c:v>
                </c:pt>
                <c:pt idx="36">
                  <c:v>66046</c:v>
                </c:pt>
                <c:pt idx="37">
                  <c:v>60889</c:v>
                </c:pt>
                <c:pt idx="38">
                  <c:v>58530</c:v>
                </c:pt>
                <c:pt idx="39">
                  <c:v>63740</c:v>
                </c:pt>
                <c:pt idx="40">
                  <c:v>66434</c:v>
                </c:pt>
                <c:pt idx="41">
                  <c:v>60816</c:v>
                </c:pt>
                <c:pt idx="42">
                  <c:v>57422</c:v>
                </c:pt>
                <c:pt idx="43">
                  <c:v>62110</c:v>
                </c:pt>
                <c:pt idx="44">
                  <c:v>68266</c:v>
                </c:pt>
                <c:pt idx="45">
                  <c:v>66639</c:v>
                </c:pt>
                <c:pt idx="46">
                  <c:v>57455</c:v>
                </c:pt>
                <c:pt idx="47">
                  <c:v>61758</c:v>
                </c:pt>
                <c:pt idx="48">
                  <c:v>70964</c:v>
                </c:pt>
                <c:pt idx="49">
                  <c:v>66473</c:v>
                </c:pt>
                <c:pt idx="50">
                  <c:v>66596</c:v>
                </c:pt>
                <c:pt idx="51">
                  <c:v>62235</c:v>
                </c:pt>
                <c:pt idx="52">
                  <c:v>74201</c:v>
                </c:pt>
                <c:pt idx="53">
                  <c:v>76659</c:v>
                </c:pt>
                <c:pt idx="54">
                  <c:v>66136</c:v>
                </c:pt>
                <c:pt idx="55">
                  <c:v>67648</c:v>
                </c:pt>
                <c:pt idx="56">
                  <c:v>71794</c:v>
                </c:pt>
                <c:pt idx="57">
                  <c:v>78944</c:v>
                </c:pt>
                <c:pt idx="58">
                  <c:v>70584</c:v>
                </c:pt>
                <c:pt idx="59">
                  <c:v>69659</c:v>
                </c:pt>
                <c:pt idx="60">
                  <c:v>69449</c:v>
                </c:pt>
                <c:pt idx="61">
                  <c:v>83246</c:v>
                </c:pt>
                <c:pt idx="62">
                  <c:v>72301</c:v>
                </c:pt>
                <c:pt idx="63">
                  <c:v>69209</c:v>
                </c:pt>
                <c:pt idx="64">
                  <c:v>65944</c:v>
                </c:pt>
                <c:pt idx="65">
                  <c:v>75082</c:v>
                </c:pt>
                <c:pt idx="66">
                  <c:v>80506</c:v>
                </c:pt>
                <c:pt idx="67">
                  <c:v>76292</c:v>
                </c:pt>
                <c:pt idx="68">
                  <c:v>69440</c:v>
                </c:pt>
                <c:pt idx="69">
                  <c:v>77994</c:v>
                </c:pt>
                <c:pt idx="70">
                  <c:v>81505</c:v>
                </c:pt>
                <c:pt idx="71">
                  <c:v>80811</c:v>
                </c:pt>
                <c:pt idx="72">
                  <c:v>75313</c:v>
                </c:pt>
                <c:pt idx="73">
                  <c:v>71828</c:v>
                </c:pt>
                <c:pt idx="74">
                  <c:v>80959</c:v>
                </c:pt>
                <c:pt idx="75">
                  <c:v>77411</c:v>
                </c:pt>
                <c:pt idx="76">
                  <c:v>73922</c:v>
                </c:pt>
                <c:pt idx="77">
                  <c:v>69567</c:v>
                </c:pt>
                <c:pt idx="78">
                  <c:v>78356</c:v>
                </c:pt>
                <c:pt idx="79">
                  <c:v>83882</c:v>
                </c:pt>
                <c:pt idx="80">
                  <c:v>83437</c:v>
                </c:pt>
                <c:pt idx="81">
                  <c:v>74310</c:v>
                </c:pt>
                <c:pt idx="82">
                  <c:v>72877</c:v>
                </c:pt>
                <c:pt idx="83">
                  <c:v>80150</c:v>
                </c:pt>
                <c:pt idx="84">
                  <c:v>75365</c:v>
                </c:pt>
                <c:pt idx="85">
                  <c:v>69321</c:v>
                </c:pt>
                <c:pt idx="86">
                  <c:v>69444</c:v>
                </c:pt>
                <c:pt idx="87">
                  <c:v>78472</c:v>
                </c:pt>
                <c:pt idx="88">
                  <c:v>70992</c:v>
                </c:pt>
                <c:pt idx="89">
                  <c:v>63156</c:v>
                </c:pt>
                <c:pt idx="90">
                  <c:v>59702</c:v>
                </c:pt>
                <c:pt idx="91">
                  <c:v>66963</c:v>
                </c:pt>
                <c:pt idx="92">
                  <c:v>69966</c:v>
                </c:pt>
                <c:pt idx="93">
                  <c:v>63378</c:v>
                </c:pt>
                <c:pt idx="94">
                  <c:v>57739</c:v>
                </c:pt>
                <c:pt idx="95">
                  <c:v>58851</c:v>
                </c:pt>
                <c:pt idx="96">
                  <c:v>69146</c:v>
                </c:pt>
                <c:pt idx="97">
                  <c:v>66293</c:v>
                </c:pt>
                <c:pt idx="98">
                  <c:v>67258</c:v>
                </c:pt>
                <c:pt idx="99">
                  <c:v>53922</c:v>
                </c:pt>
                <c:pt idx="100">
                  <c:v>70967</c:v>
                </c:pt>
                <c:pt idx="101">
                  <c:v>72628</c:v>
                </c:pt>
                <c:pt idx="102">
                  <c:v>65390</c:v>
                </c:pt>
                <c:pt idx="103">
                  <c:v>61964</c:v>
                </c:pt>
                <c:pt idx="104">
                  <c:v>66341</c:v>
                </c:pt>
                <c:pt idx="105">
                  <c:v>66885</c:v>
                </c:pt>
                <c:pt idx="106">
                  <c:v>67529</c:v>
                </c:pt>
                <c:pt idx="107">
                  <c:v>66394</c:v>
                </c:pt>
                <c:pt idx="108">
                  <c:v>68914</c:v>
                </c:pt>
                <c:pt idx="109">
                  <c:v>71154</c:v>
                </c:pt>
                <c:pt idx="110">
                  <c:v>67475</c:v>
                </c:pt>
                <c:pt idx="111">
                  <c:v>63380</c:v>
                </c:pt>
                <c:pt idx="112">
                  <c:v>66577</c:v>
                </c:pt>
                <c:pt idx="113">
                  <c:v>72665</c:v>
                </c:pt>
                <c:pt idx="114">
                  <c:v>69877</c:v>
                </c:pt>
                <c:pt idx="115">
                  <c:v>66995</c:v>
                </c:pt>
                <c:pt idx="116">
                  <c:v>64355</c:v>
                </c:pt>
                <c:pt idx="117">
                  <c:v>73139</c:v>
                </c:pt>
                <c:pt idx="118">
                  <c:v>72439</c:v>
                </c:pt>
                <c:pt idx="119">
                  <c:v>70539</c:v>
                </c:pt>
                <c:pt idx="120">
                  <c:v>66799</c:v>
                </c:pt>
                <c:pt idx="121">
                  <c:v>72811</c:v>
                </c:pt>
                <c:pt idx="122">
                  <c:v>80360</c:v>
                </c:pt>
                <c:pt idx="123">
                  <c:v>77654</c:v>
                </c:pt>
                <c:pt idx="124">
                  <c:v>73444</c:v>
                </c:pt>
                <c:pt idx="125">
                  <c:v>80681</c:v>
                </c:pt>
                <c:pt idx="126">
                  <c:v>90117</c:v>
                </c:pt>
                <c:pt idx="127">
                  <c:v>80948</c:v>
                </c:pt>
                <c:pt idx="128">
                  <c:v>76050</c:v>
                </c:pt>
                <c:pt idx="129">
                  <c:v>75729</c:v>
                </c:pt>
                <c:pt idx="130">
                  <c:v>80174</c:v>
                </c:pt>
                <c:pt idx="131">
                  <c:v>84643</c:v>
                </c:pt>
                <c:pt idx="132">
                  <c:v>81544</c:v>
                </c:pt>
                <c:pt idx="133">
                  <c:v>81468</c:v>
                </c:pt>
                <c:pt idx="134">
                  <c:v>81903</c:v>
                </c:pt>
                <c:pt idx="135">
                  <c:v>92055</c:v>
                </c:pt>
                <c:pt idx="136">
                  <c:v>84952</c:v>
                </c:pt>
                <c:pt idx="137">
                  <c:v>78579</c:v>
                </c:pt>
                <c:pt idx="138">
                  <c:v>74731</c:v>
                </c:pt>
                <c:pt idx="139">
                  <c:v>79296</c:v>
                </c:pt>
                <c:pt idx="140">
                  <c:v>80526</c:v>
                </c:pt>
                <c:pt idx="141">
                  <c:v>74231</c:v>
                </c:pt>
                <c:pt idx="142">
                  <c:v>69942</c:v>
                </c:pt>
                <c:pt idx="143">
                  <c:v>75773</c:v>
                </c:pt>
                <c:pt idx="144">
                  <c:v>76045</c:v>
                </c:pt>
                <c:pt idx="145">
                  <c:v>70618</c:v>
                </c:pt>
                <c:pt idx="146">
                  <c:v>65092</c:v>
                </c:pt>
                <c:pt idx="147">
                  <c:v>59619</c:v>
                </c:pt>
                <c:pt idx="148">
                  <c:v>76596</c:v>
                </c:pt>
                <c:pt idx="149">
                  <c:v>70385</c:v>
                </c:pt>
                <c:pt idx="150">
                  <c:v>68152</c:v>
                </c:pt>
                <c:pt idx="151">
                  <c:v>58701</c:v>
                </c:pt>
                <c:pt idx="152">
                  <c:v>74012</c:v>
                </c:pt>
                <c:pt idx="153">
                  <c:v>75942</c:v>
                </c:pt>
                <c:pt idx="154">
                  <c:v>71909</c:v>
                </c:pt>
                <c:pt idx="155">
                  <c:v>69509</c:v>
                </c:pt>
                <c:pt idx="156">
                  <c:v>68254</c:v>
                </c:pt>
                <c:pt idx="157">
                  <c:v>77007</c:v>
                </c:pt>
                <c:pt idx="158">
                  <c:v>71083</c:v>
                </c:pt>
                <c:pt idx="159">
                  <c:v>67528</c:v>
                </c:pt>
                <c:pt idx="160">
                  <c:v>68117</c:v>
                </c:pt>
                <c:pt idx="161">
                  <c:v>72410</c:v>
                </c:pt>
                <c:pt idx="162">
                  <c:v>75604</c:v>
                </c:pt>
                <c:pt idx="163">
                  <c:v>70692</c:v>
                </c:pt>
                <c:pt idx="164">
                  <c:v>70855</c:v>
                </c:pt>
                <c:pt idx="165">
                  <c:v>78748</c:v>
                </c:pt>
                <c:pt idx="166">
                  <c:v>82499</c:v>
                </c:pt>
                <c:pt idx="167">
                  <c:v>79674</c:v>
                </c:pt>
                <c:pt idx="168">
                  <c:v>73055</c:v>
                </c:pt>
                <c:pt idx="169">
                  <c:v>77955</c:v>
                </c:pt>
                <c:pt idx="170">
                  <c:v>75758</c:v>
                </c:pt>
                <c:pt idx="171">
                  <c:v>75859</c:v>
                </c:pt>
                <c:pt idx="172">
                  <c:v>68567</c:v>
                </c:pt>
                <c:pt idx="173">
                  <c:v>71367</c:v>
                </c:pt>
                <c:pt idx="174">
                  <c:v>79858</c:v>
                </c:pt>
                <c:pt idx="175">
                  <c:v>79668</c:v>
                </c:pt>
                <c:pt idx="176">
                  <c:v>77323</c:v>
                </c:pt>
                <c:pt idx="177">
                  <c:v>72803</c:v>
                </c:pt>
                <c:pt idx="178">
                  <c:v>84770</c:v>
                </c:pt>
                <c:pt idx="179">
                  <c:v>82768</c:v>
                </c:pt>
                <c:pt idx="180">
                  <c:v>75669</c:v>
                </c:pt>
                <c:pt idx="181">
                  <c:v>74039</c:v>
                </c:pt>
                <c:pt idx="182">
                  <c:v>78329</c:v>
                </c:pt>
                <c:pt idx="183">
                  <c:v>81907</c:v>
                </c:pt>
                <c:pt idx="184">
                  <c:v>77959</c:v>
                </c:pt>
                <c:pt idx="185">
                  <c:v>78127</c:v>
                </c:pt>
                <c:pt idx="186">
                  <c:v>71112</c:v>
                </c:pt>
                <c:pt idx="187">
                  <c:v>80298</c:v>
                </c:pt>
                <c:pt idx="188">
                  <c:v>78971</c:v>
                </c:pt>
                <c:pt idx="189">
                  <c:v>75847</c:v>
                </c:pt>
                <c:pt idx="190">
                  <c:v>72536</c:v>
                </c:pt>
                <c:pt idx="191">
                  <c:v>78942</c:v>
                </c:pt>
                <c:pt idx="192">
                  <c:v>75980</c:v>
                </c:pt>
                <c:pt idx="193">
                  <c:v>69936</c:v>
                </c:pt>
                <c:pt idx="194">
                  <c:v>66882</c:v>
                </c:pt>
                <c:pt idx="195">
                  <c:v>70858</c:v>
                </c:pt>
                <c:pt idx="196">
                  <c:v>74029</c:v>
                </c:pt>
                <c:pt idx="197">
                  <c:v>70460</c:v>
                </c:pt>
                <c:pt idx="198">
                  <c:v>66752</c:v>
                </c:pt>
                <c:pt idx="199">
                  <c:v>64398</c:v>
                </c:pt>
                <c:pt idx="200">
                  <c:v>70131</c:v>
                </c:pt>
                <c:pt idx="201">
                  <c:v>67517</c:v>
                </c:pt>
                <c:pt idx="202">
                  <c:v>64753</c:v>
                </c:pt>
                <c:pt idx="203">
                  <c:v>55221</c:v>
                </c:pt>
                <c:pt idx="204">
                  <c:v>66897</c:v>
                </c:pt>
                <c:pt idx="205">
                  <c:v>72435</c:v>
                </c:pt>
                <c:pt idx="206">
                  <c:v>66895</c:v>
                </c:pt>
                <c:pt idx="207">
                  <c:v>67041</c:v>
                </c:pt>
                <c:pt idx="208">
                  <c:v>66177</c:v>
                </c:pt>
                <c:pt idx="209">
                  <c:v>72669</c:v>
                </c:pt>
                <c:pt idx="210">
                  <c:v>69747</c:v>
                </c:pt>
                <c:pt idx="211">
                  <c:v>61902</c:v>
                </c:pt>
                <c:pt idx="212">
                  <c:v>61960</c:v>
                </c:pt>
                <c:pt idx="213">
                  <c:v>69990</c:v>
                </c:pt>
                <c:pt idx="214">
                  <c:v>68999</c:v>
                </c:pt>
                <c:pt idx="215">
                  <c:v>65671</c:v>
                </c:pt>
                <c:pt idx="216">
                  <c:v>64769</c:v>
                </c:pt>
                <c:pt idx="217">
                  <c:v>73202</c:v>
                </c:pt>
                <c:pt idx="218">
                  <c:v>68729</c:v>
                </c:pt>
                <c:pt idx="219">
                  <c:v>65623</c:v>
                </c:pt>
                <c:pt idx="220">
                  <c:v>66128</c:v>
                </c:pt>
                <c:pt idx="221">
                  <c:v>70855</c:v>
                </c:pt>
                <c:pt idx="222">
                  <c:v>70765</c:v>
                </c:pt>
                <c:pt idx="223">
                  <c:v>66681</c:v>
                </c:pt>
                <c:pt idx="224">
                  <c:v>63413</c:v>
                </c:pt>
                <c:pt idx="225">
                  <c:v>66200</c:v>
                </c:pt>
                <c:pt idx="226">
                  <c:v>78451</c:v>
                </c:pt>
                <c:pt idx="227">
                  <c:v>80529</c:v>
                </c:pt>
                <c:pt idx="228">
                  <c:v>74802</c:v>
                </c:pt>
                <c:pt idx="229">
                  <c:v>74825</c:v>
                </c:pt>
                <c:pt idx="230">
                  <c:v>80129</c:v>
                </c:pt>
                <c:pt idx="231">
                  <c:v>81350</c:v>
                </c:pt>
                <c:pt idx="232">
                  <c:v>78288</c:v>
                </c:pt>
                <c:pt idx="233">
                  <c:v>74526</c:v>
                </c:pt>
                <c:pt idx="234">
                  <c:v>77912</c:v>
                </c:pt>
                <c:pt idx="235">
                  <c:v>83734</c:v>
                </c:pt>
                <c:pt idx="236">
                  <c:v>81737</c:v>
                </c:pt>
                <c:pt idx="237">
                  <c:v>77379</c:v>
                </c:pt>
                <c:pt idx="238">
                  <c:v>73844</c:v>
                </c:pt>
                <c:pt idx="239">
                  <c:v>78191</c:v>
                </c:pt>
                <c:pt idx="240">
                  <c:v>86207</c:v>
                </c:pt>
                <c:pt idx="241">
                  <c:v>78867</c:v>
                </c:pt>
                <c:pt idx="242">
                  <c:v>79963</c:v>
                </c:pt>
                <c:pt idx="243">
                  <c:v>81384</c:v>
                </c:pt>
                <c:pt idx="244">
                  <c:v>83970</c:v>
                </c:pt>
                <c:pt idx="245">
                  <c:v>79617</c:v>
                </c:pt>
                <c:pt idx="246">
                  <c:v>74858</c:v>
                </c:pt>
                <c:pt idx="247">
                  <c:v>74090</c:v>
                </c:pt>
                <c:pt idx="248">
                  <c:v>74075</c:v>
                </c:pt>
                <c:pt idx="249">
                  <c:v>71668</c:v>
                </c:pt>
                <c:pt idx="250">
                  <c:v>69085</c:v>
                </c:pt>
                <c:pt idx="251">
                  <c:v>63935</c:v>
                </c:pt>
                <c:pt idx="252">
                  <c:v>70645</c:v>
                </c:pt>
                <c:pt idx="253">
                  <c:v>68990</c:v>
                </c:pt>
                <c:pt idx="254">
                  <c:v>70493</c:v>
                </c:pt>
                <c:pt idx="255">
                  <c:v>59231</c:v>
                </c:pt>
                <c:pt idx="256">
                  <c:v>70230</c:v>
                </c:pt>
                <c:pt idx="257">
                  <c:v>79529</c:v>
                </c:pt>
                <c:pt idx="258">
                  <c:v>75165</c:v>
                </c:pt>
                <c:pt idx="259">
                  <c:v>77679</c:v>
                </c:pt>
                <c:pt idx="260">
                  <c:v>74660</c:v>
                </c:pt>
                <c:pt idx="261">
                  <c:v>79329</c:v>
                </c:pt>
                <c:pt idx="262">
                  <c:v>80424</c:v>
                </c:pt>
                <c:pt idx="263">
                  <c:v>80710</c:v>
                </c:pt>
                <c:pt idx="264">
                  <c:v>77563</c:v>
                </c:pt>
                <c:pt idx="265">
                  <c:v>81410</c:v>
                </c:pt>
                <c:pt idx="266">
                  <c:v>82532</c:v>
                </c:pt>
                <c:pt idx="267">
                  <c:v>74796</c:v>
                </c:pt>
                <c:pt idx="268">
                  <c:v>84363</c:v>
                </c:pt>
                <c:pt idx="269">
                  <c:v>80359</c:v>
                </c:pt>
                <c:pt idx="270">
                  <c:v>86057</c:v>
                </c:pt>
                <c:pt idx="271">
                  <c:v>79089</c:v>
                </c:pt>
                <c:pt idx="272">
                  <c:v>80289</c:v>
                </c:pt>
                <c:pt idx="273">
                  <c:v>81008</c:v>
                </c:pt>
                <c:pt idx="274">
                  <c:v>85838</c:v>
                </c:pt>
                <c:pt idx="275">
                  <c:v>87169</c:v>
                </c:pt>
                <c:pt idx="276">
                  <c:v>85546</c:v>
                </c:pt>
                <c:pt idx="277">
                  <c:v>82639</c:v>
                </c:pt>
                <c:pt idx="278">
                  <c:v>89704</c:v>
                </c:pt>
                <c:pt idx="279">
                  <c:v>88460</c:v>
                </c:pt>
                <c:pt idx="280">
                  <c:v>81987</c:v>
                </c:pt>
              </c:numCache>
            </c:numRef>
          </c:val>
          <c:smooth val="0"/>
        </c:ser>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6B6A66"/>
                </a:solidFill>
                <a:latin typeface="+mn-lt"/>
              </a:defRPr>
            </a:pPr>
            <a:endParaRPr lang="en-US"/>
          </a:p>
        </c:txPr>
        <c:crossAx val="2094734552"/>
        <c:crosses val="autoZero"/>
        <c:auto val="1"/>
        <c:lblAlgn val="ctr"/>
        <c:noMultiLvlLbl val="1"/>
        <c:tickLblSkip val="52"/>
      </c:catAx>
      <c:valAx>
        <c:axId val="2094734552"/>
        <c:scaling>
          <c:orientation val="minMax"/>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Total daily units, all 4 stores, during the 28-day test window</a:t>
            </a:r>
          </a:p>
        </c:rich>
      </c:tx>
      <c:layout/>
      <c:overlay val="0"/>
    </c:title>
    <c:autoTitleDeleted val="0"/>
    <c:plotArea>
      <c:layout/>
      <c:lineChart>
        <c:varyColors val="0"/>
        <c:ser>
          <c:idx val="0"/>
          <c:order val="0"/>
          <c:tx>
            <c:strRef>
              <c:f>Sheet1!$B$1</c:f>
              <c:strCache>
                <c:ptCount val="1"/>
                <c:pt idx="0">
                  <c:v>Actual sales</c:v>
                </c:pt>
              </c:strCache>
            </c:strRef>
          </c:tx>
          <c:spPr>
            <a:solidFill>
              <a:srgbClr val="1F2328"/>
            </a:solidFill>
            <a:ln w="28575" cap="flat">
              <a:solidFill>
                <a:srgbClr val="1F2328"/>
              </a:solidFill>
              <a:prstDash val="solid"/>
              <a:round/>
            </a:ln>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c:symbol val="none"/>
            <c:size val="6"/>
            <c:spPr>
              <a:solidFill>
                <a:srgbClr val="1F2328"/>
              </a:solidFill>
              <a:ln w="9525" cap="flat">
                <a:solidFill>
                  <a:srgbClr val="1F2328"/>
                </a:solidFill>
                <a:prstDash val="solid"/>
                <a:round/>
              </a:ln>
              <a:effectLst/>
            </c:spPr>
          </c:marker>
          <c:cat>
            <c:multiLvlStrRef>
              <c:f>Sheet1!$A$2:$A$29</c:f>
              <c:multiLvlStrCache>
                <c:ptCount val="28"/>
                <c:lvl>
                  <c:pt idx="0">
                    <c:v>May 23</c:v>
                  </c:pt>
                  <c:pt idx="1">
                    <c:v>May 24</c:v>
                  </c:pt>
                  <c:pt idx="2">
                    <c:v>May 25</c:v>
                  </c:pt>
                  <c:pt idx="3">
                    <c:v>May 26</c:v>
                  </c:pt>
                  <c:pt idx="4">
                    <c:v>May 27</c:v>
                  </c:pt>
                  <c:pt idx="5">
                    <c:v>May 28</c:v>
                  </c:pt>
                  <c:pt idx="6">
                    <c:v>May 29</c:v>
                  </c:pt>
                  <c:pt idx="7">
                    <c:v>May 30</c:v>
                  </c:pt>
                  <c:pt idx="8">
                    <c:v>May 31</c:v>
                  </c:pt>
                  <c:pt idx="9">
                    <c:v>Jun 01</c:v>
                  </c:pt>
                  <c:pt idx="10">
                    <c:v>Jun 02</c:v>
                  </c:pt>
                  <c:pt idx="11">
                    <c:v>Jun 03</c:v>
                  </c:pt>
                  <c:pt idx="12">
                    <c:v>Jun 04</c:v>
                  </c:pt>
                  <c:pt idx="13">
                    <c:v>Jun 05</c:v>
                  </c:pt>
                  <c:pt idx="14">
                    <c:v>Jun 06</c:v>
                  </c:pt>
                  <c:pt idx="15">
                    <c:v>Jun 07</c:v>
                  </c:pt>
                  <c:pt idx="16">
                    <c:v>Jun 08</c:v>
                  </c:pt>
                  <c:pt idx="17">
                    <c:v>Jun 09</c:v>
                  </c:pt>
                  <c:pt idx="18">
                    <c:v>Jun 10</c:v>
                  </c:pt>
                  <c:pt idx="19">
                    <c:v>Jun 11</c:v>
                  </c:pt>
                  <c:pt idx="20">
                    <c:v>Jun 12</c:v>
                  </c:pt>
                  <c:pt idx="21">
                    <c:v>Jun 13</c:v>
                  </c:pt>
                  <c:pt idx="22">
                    <c:v>Jun 14</c:v>
                  </c:pt>
                  <c:pt idx="23">
                    <c:v>Jun 15</c:v>
                  </c:pt>
                  <c:pt idx="24">
                    <c:v>Jun 16</c:v>
                  </c:pt>
                  <c:pt idx="25">
                    <c:v>Jun 17</c:v>
                  </c:pt>
                  <c:pt idx="26">
                    <c:v>Jun 18</c:v>
                  </c:pt>
                  <c:pt idx="27">
                    <c:v>Jun 19</c:v>
                  </c:pt>
                </c:lvl>
              </c:multiLvlStrCache>
            </c:multiLvlStrRef>
          </c:cat>
          <c:val>
            <c:numRef>
              <c:f>Sheet1!$B$2:$B$29</c:f>
              <c:numCache>
                <c:formatCode>General</c:formatCode>
                <c:ptCount val="28"/>
                <c:pt idx="0">
                  <c:v>11368</c:v>
                </c:pt>
                <c:pt idx="1">
                  <c:v>10427</c:v>
                </c:pt>
                <c:pt idx="2">
                  <c:v>10249</c:v>
                </c:pt>
                <c:pt idx="3">
                  <c:v>11213</c:v>
                </c:pt>
                <c:pt idx="4">
                  <c:v>12113</c:v>
                </c:pt>
                <c:pt idx="5">
                  <c:v>13730</c:v>
                </c:pt>
                <c:pt idx="6">
                  <c:v>13539</c:v>
                </c:pt>
                <c:pt idx="7">
                  <c:v>12488</c:v>
                </c:pt>
                <c:pt idx="8">
                  <c:v>11014</c:v>
                </c:pt>
                <c:pt idx="9">
                  <c:v>11702</c:v>
                </c:pt>
                <c:pt idx="10">
                  <c:v>10531</c:v>
                </c:pt>
                <c:pt idx="11">
                  <c:v>12733</c:v>
                </c:pt>
                <c:pt idx="12">
                  <c:v>15366</c:v>
                </c:pt>
                <c:pt idx="13">
                  <c:v>15870</c:v>
                </c:pt>
                <c:pt idx="14">
                  <c:v>11763</c:v>
                </c:pt>
                <c:pt idx="15">
                  <c:v>11941</c:v>
                </c:pt>
                <c:pt idx="16">
                  <c:v>11081</c:v>
                </c:pt>
                <c:pt idx="17">
                  <c:v>11283</c:v>
                </c:pt>
                <c:pt idx="18">
                  <c:v>12709</c:v>
                </c:pt>
                <c:pt idx="19">
                  <c:v>14513</c:v>
                </c:pt>
                <c:pt idx="20">
                  <c:v>15170</c:v>
                </c:pt>
                <c:pt idx="21">
                  <c:v>11625</c:v>
                </c:pt>
                <c:pt idx="22">
                  <c:v>10395</c:v>
                </c:pt>
                <c:pt idx="23">
                  <c:v>10322</c:v>
                </c:pt>
                <c:pt idx="24">
                  <c:v>9982</c:v>
                </c:pt>
                <c:pt idx="25">
                  <c:v>11769</c:v>
                </c:pt>
                <c:pt idx="26">
                  <c:v>14284</c:v>
                </c:pt>
                <c:pt idx="27">
                  <c:v>13610</c:v>
                </c:pt>
              </c:numCache>
            </c:numRef>
          </c:val>
          <c:smooth val="0"/>
        </c:ser>
        <c:ser>
          <c:idx val="1"/>
          <c:order val="1"/>
          <c:tx>
            <c:strRef>
              <c:f>Sheet1!$C$1</c:f>
              <c:strCache>
                <c:ptCount val="1"/>
                <c:pt idx="0">
                  <c:v>Ensemble (traditional)</c:v>
                </c:pt>
              </c:strCache>
            </c:strRef>
          </c:tx>
          <c:spPr>
            <a:solidFill>
              <a:srgbClr val="0F5C73"/>
            </a:solidFill>
            <a:ln w="28575" cap="flat">
              <a:solidFill>
                <a:srgbClr val="0F5C73"/>
              </a:solidFill>
              <a:prstDash val="solid"/>
              <a:round/>
            </a:ln>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c:symbol val="none"/>
            <c:size val="6"/>
            <c:spPr>
              <a:solidFill>
                <a:srgbClr val="0F5C73"/>
              </a:solidFill>
              <a:ln w="9525" cap="flat">
                <a:solidFill>
                  <a:srgbClr val="0F5C73"/>
                </a:solidFill>
                <a:prstDash val="solid"/>
                <a:round/>
              </a:ln>
              <a:effectLst/>
            </c:spPr>
          </c:marker>
          <c:cat>
            <c:multiLvlStrRef>
              <c:f>Sheet1!$A$2:$A$29</c:f>
              <c:multiLvlStrCache>
                <c:ptCount val="28"/>
                <c:lvl>
                  <c:pt idx="0">
                    <c:v>May 23</c:v>
                  </c:pt>
                  <c:pt idx="1">
                    <c:v>May 24</c:v>
                  </c:pt>
                  <c:pt idx="2">
                    <c:v>May 25</c:v>
                  </c:pt>
                  <c:pt idx="3">
                    <c:v>May 26</c:v>
                  </c:pt>
                  <c:pt idx="4">
                    <c:v>May 27</c:v>
                  </c:pt>
                  <c:pt idx="5">
                    <c:v>May 28</c:v>
                  </c:pt>
                  <c:pt idx="6">
                    <c:v>May 29</c:v>
                  </c:pt>
                  <c:pt idx="7">
                    <c:v>May 30</c:v>
                  </c:pt>
                  <c:pt idx="8">
                    <c:v>May 31</c:v>
                  </c:pt>
                  <c:pt idx="9">
                    <c:v>Jun 01</c:v>
                  </c:pt>
                  <c:pt idx="10">
                    <c:v>Jun 02</c:v>
                  </c:pt>
                  <c:pt idx="11">
                    <c:v>Jun 03</c:v>
                  </c:pt>
                  <c:pt idx="12">
                    <c:v>Jun 04</c:v>
                  </c:pt>
                  <c:pt idx="13">
                    <c:v>Jun 05</c:v>
                  </c:pt>
                  <c:pt idx="14">
                    <c:v>Jun 06</c:v>
                  </c:pt>
                  <c:pt idx="15">
                    <c:v>Jun 07</c:v>
                  </c:pt>
                  <c:pt idx="16">
                    <c:v>Jun 08</c:v>
                  </c:pt>
                  <c:pt idx="17">
                    <c:v>Jun 09</c:v>
                  </c:pt>
                  <c:pt idx="18">
                    <c:v>Jun 10</c:v>
                  </c:pt>
                  <c:pt idx="19">
                    <c:v>Jun 11</c:v>
                  </c:pt>
                  <c:pt idx="20">
                    <c:v>Jun 12</c:v>
                  </c:pt>
                  <c:pt idx="21">
                    <c:v>Jun 13</c:v>
                  </c:pt>
                  <c:pt idx="22">
                    <c:v>Jun 14</c:v>
                  </c:pt>
                  <c:pt idx="23">
                    <c:v>Jun 15</c:v>
                  </c:pt>
                  <c:pt idx="24">
                    <c:v>Jun 16</c:v>
                  </c:pt>
                  <c:pt idx="25">
                    <c:v>Jun 17</c:v>
                  </c:pt>
                  <c:pt idx="26">
                    <c:v>Jun 18</c:v>
                  </c:pt>
                  <c:pt idx="27">
                    <c:v>Jun 19</c:v>
                  </c:pt>
                </c:lvl>
              </c:multiLvlStrCache>
            </c:multiLvlStrRef>
          </c:cat>
          <c:val>
            <c:numRef>
              <c:f>Sheet1!$C$2:$C$29</c:f>
              <c:numCache>
                <c:formatCode>General</c:formatCode>
                <c:ptCount val="28"/>
                <c:pt idx="0">
                  <c:v>11544</c:v>
                </c:pt>
                <c:pt idx="1">
                  <c:v>10589</c:v>
                </c:pt>
                <c:pt idx="2">
                  <c:v>10415</c:v>
                </c:pt>
                <c:pt idx="3">
                  <c:v>10387</c:v>
                </c:pt>
                <c:pt idx="4">
                  <c:v>11330</c:v>
                </c:pt>
                <c:pt idx="5">
                  <c:v>13784</c:v>
                </c:pt>
                <c:pt idx="6">
                  <c:v>14357</c:v>
                </c:pt>
                <c:pt idx="7">
                  <c:v>11927</c:v>
                </c:pt>
                <c:pt idx="8">
                  <c:v>10608</c:v>
                </c:pt>
                <c:pt idx="9">
                  <c:v>11176</c:v>
                </c:pt>
                <c:pt idx="10">
                  <c:v>11145</c:v>
                </c:pt>
                <c:pt idx="11">
                  <c:v>12594</c:v>
                </c:pt>
                <c:pt idx="12">
                  <c:v>14725</c:v>
                </c:pt>
                <c:pt idx="13">
                  <c:v>15123</c:v>
                </c:pt>
                <c:pt idx="14">
                  <c:v>12273</c:v>
                </c:pt>
                <c:pt idx="15">
                  <c:v>11557</c:v>
                </c:pt>
                <c:pt idx="16">
                  <c:v>11139</c:v>
                </c:pt>
                <c:pt idx="17">
                  <c:v>11124</c:v>
                </c:pt>
                <c:pt idx="18">
                  <c:v>12187</c:v>
                </c:pt>
                <c:pt idx="19">
                  <c:v>14553</c:v>
                </c:pt>
                <c:pt idx="20">
                  <c:v>15125</c:v>
                </c:pt>
                <c:pt idx="21">
                  <c:v>12043</c:v>
                </c:pt>
                <c:pt idx="22">
                  <c:v>11040</c:v>
                </c:pt>
                <c:pt idx="23">
                  <c:v>10881</c:v>
                </c:pt>
                <c:pt idx="24">
                  <c:v>10860</c:v>
                </c:pt>
                <c:pt idx="25">
                  <c:v>11938</c:v>
                </c:pt>
                <c:pt idx="26">
                  <c:v>14484</c:v>
                </c:pt>
                <c:pt idx="27">
                  <c:v>14472</c:v>
                </c:pt>
              </c:numCache>
            </c:numRef>
          </c:val>
          <c:smooth val="0"/>
        </c:ser>
        <c:ser>
          <c:idx val="2"/>
          <c:order val="2"/>
          <c:tx>
            <c:strRef>
              <c:f>Sheet1!$D$1</c:f>
              <c:strCache>
                <c:ptCount val="1"/>
                <c:pt idx="0">
                  <c:v>AutoARIMA (traditional)</c:v>
                </c:pt>
              </c:strCache>
            </c:strRef>
          </c:tx>
          <c:spPr>
            <a:solidFill>
              <a:srgbClr val="1BAF7A"/>
            </a:solidFill>
            <a:ln w="28575" cap="flat">
              <a:solidFill>
                <a:srgbClr val="1BAF7A"/>
              </a:solidFill>
              <a:prstDash val="solid"/>
              <a:round/>
            </a:ln>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Sheet1!$A$2:$A$29</c:f>
              <c:multiLvlStrCache>
                <c:ptCount val="28"/>
                <c:lvl>
                  <c:pt idx="0">
                    <c:v>May 23</c:v>
                  </c:pt>
                  <c:pt idx="1">
                    <c:v>May 24</c:v>
                  </c:pt>
                  <c:pt idx="2">
                    <c:v>May 25</c:v>
                  </c:pt>
                  <c:pt idx="3">
                    <c:v>May 26</c:v>
                  </c:pt>
                  <c:pt idx="4">
                    <c:v>May 27</c:v>
                  </c:pt>
                  <c:pt idx="5">
                    <c:v>May 28</c:v>
                  </c:pt>
                  <c:pt idx="6">
                    <c:v>May 29</c:v>
                  </c:pt>
                  <c:pt idx="7">
                    <c:v>May 30</c:v>
                  </c:pt>
                  <c:pt idx="8">
                    <c:v>May 31</c:v>
                  </c:pt>
                  <c:pt idx="9">
                    <c:v>Jun 01</c:v>
                  </c:pt>
                  <c:pt idx="10">
                    <c:v>Jun 02</c:v>
                  </c:pt>
                  <c:pt idx="11">
                    <c:v>Jun 03</c:v>
                  </c:pt>
                  <c:pt idx="12">
                    <c:v>Jun 04</c:v>
                  </c:pt>
                  <c:pt idx="13">
                    <c:v>Jun 05</c:v>
                  </c:pt>
                  <c:pt idx="14">
                    <c:v>Jun 06</c:v>
                  </c:pt>
                  <c:pt idx="15">
                    <c:v>Jun 07</c:v>
                  </c:pt>
                  <c:pt idx="16">
                    <c:v>Jun 08</c:v>
                  </c:pt>
                  <c:pt idx="17">
                    <c:v>Jun 09</c:v>
                  </c:pt>
                  <c:pt idx="18">
                    <c:v>Jun 10</c:v>
                  </c:pt>
                  <c:pt idx="19">
                    <c:v>Jun 11</c:v>
                  </c:pt>
                  <c:pt idx="20">
                    <c:v>Jun 12</c:v>
                  </c:pt>
                  <c:pt idx="21">
                    <c:v>Jun 13</c:v>
                  </c:pt>
                  <c:pt idx="22">
                    <c:v>Jun 14</c:v>
                  </c:pt>
                  <c:pt idx="23">
                    <c:v>Jun 15</c:v>
                  </c:pt>
                  <c:pt idx="24">
                    <c:v>Jun 16</c:v>
                  </c:pt>
                  <c:pt idx="25">
                    <c:v>Jun 17</c:v>
                  </c:pt>
                  <c:pt idx="26">
                    <c:v>Jun 18</c:v>
                  </c:pt>
                  <c:pt idx="27">
                    <c:v>Jun 19</c:v>
                  </c:pt>
                </c:lvl>
              </c:multiLvlStrCache>
            </c:multiLvlStrRef>
          </c:cat>
          <c:val>
            <c:numRef>
              <c:f>Sheet1!$D$2:$D$29</c:f>
              <c:numCache>
                <c:formatCode>General</c:formatCode>
                <c:ptCount val="28"/>
                <c:pt idx="0">
                  <c:v>12677</c:v>
                </c:pt>
                <c:pt idx="1">
                  <c:v>12231</c:v>
                </c:pt>
                <c:pt idx="2">
                  <c:v>12097</c:v>
                </c:pt>
                <c:pt idx="3">
                  <c:v>12062</c:v>
                </c:pt>
                <c:pt idx="4">
                  <c:v>12327</c:v>
                </c:pt>
                <c:pt idx="5">
                  <c:v>13014</c:v>
                </c:pt>
                <c:pt idx="6">
                  <c:v>13220</c:v>
                </c:pt>
                <c:pt idx="7">
                  <c:v>12409</c:v>
                </c:pt>
                <c:pt idx="8">
                  <c:v>12197</c:v>
                </c:pt>
                <c:pt idx="9">
                  <c:v>12136</c:v>
                </c:pt>
                <c:pt idx="10">
                  <c:v>12142</c:v>
                </c:pt>
                <c:pt idx="11">
                  <c:v>12332</c:v>
                </c:pt>
                <c:pt idx="12">
                  <c:v>12863</c:v>
                </c:pt>
                <c:pt idx="13">
                  <c:v>12976</c:v>
                </c:pt>
                <c:pt idx="14">
                  <c:v>12403</c:v>
                </c:pt>
                <c:pt idx="15">
                  <c:v>12255</c:v>
                </c:pt>
                <c:pt idx="16">
                  <c:v>12202</c:v>
                </c:pt>
                <c:pt idx="17">
                  <c:v>12211</c:v>
                </c:pt>
                <c:pt idx="18">
                  <c:v>12356</c:v>
                </c:pt>
                <c:pt idx="19">
                  <c:v>12746</c:v>
                </c:pt>
                <c:pt idx="20">
                  <c:v>12848</c:v>
                </c:pt>
                <c:pt idx="21">
                  <c:v>12403</c:v>
                </c:pt>
                <c:pt idx="22">
                  <c:v>12274</c:v>
                </c:pt>
                <c:pt idx="23">
                  <c:v>12244</c:v>
                </c:pt>
                <c:pt idx="24">
                  <c:v>12238</c:v>
                </c:pt>
                <c:pt idx="25">
                  <c:v>12386</c:v>
                </c:pt>
                <c:pt idx="26">
                  <c:v>12723</c:v>
                </c:pt>
                <c:pt idx="27">
                  <c:v>12798</c:v>
                </c:pt>
              </c:numCache>
            </c:numRef>
          </c:val>
          <c:smooth val="0"/>
        </c:ser>
        <c:ser>
          <c:idx val="3"/>
          <c:order val="3"/>
          <c:tx>
            <c:strRef>
              <c:f>Sheet1!$E$1</c:f>
              <c:strCache>
                <c:ptCount val="1"/>
                <c:pt idx="0">
                  <c:v>Chronos (AI)</c:v>
                </c:pt>
              </c:strCache>
            </c:strRef>
          </c:tx>
          <c:spPr>
            <a:solidFill>
              <a:srgbClr val="EB6834"/>
            </a:solidFill>
            <a:ln w="28575" cap="flat">
              <a:solidFill>
                <a:srgbClr val="EB6834"/>
              </a:solidFill>
              <a:prstDash val="solid"/>
              <a:round/>
            </a:ln>
            <a:effectLst/>
          </c:spPr>
          <c:invertIfNegative val="0"/>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Sheet1!$A$2:$A$29</c:f>
              <c:multiLvlStrCache>
                <c:ptCount val="28"/>
                <c:lvl>
                  <c:pt idx="0">
                    <c:v>May 23</c:v>
                  </c:pt>
                  <c:pt idx="1">
                    <c:v>May 24</c:v>
                  </c:pt>
                  <c:pt idx="2">
                    <c:v>May 25</c:v>
                  </c:pt>
                  <c:pt idx="3">
                    <c:v>May 26</c:v>
                  </c:pt>
                  <c:pt idx="4">
                    <c:v>May 27</c:v>
                  </c:pt>
                  <c:pt idx="5">
                    <c:v>May 28</c:v>
                  </c:pt>
                  <c:pt idx="6">
                    <c:v>May 29</c:v>
                  </c:pt>
                  <c:pt idx="7">
                    <c:v>May 30</c:v>
                  </c:pt>
                  <c:pt idx="8">
                    <c:v>May 31</c:v>
                  </c:pt>
                  <c:pt idx="9">
                    <c:v>Jun 01</c:v>
                  </c:pt>
                  <c:pt idx="10">
                    <c:v>Jun 02</c:v>
                  </c:pt>
                  <c:pt idx="11">
                    <c:v>Jun 03</c:v>
                  </c:pt>
                  <c:pt idx="12">
                    <c:v>Jun 04</c:v>
                  </c:pt>
                  <c:pt idx="13">
                    <c:v>Jun 05</c:v>
                  </c:pt>
                  <c:pt idx="14">
                    <c:v>Jun 06</c:v>
                  </c:pt>
                  <c:pt idx="15">
                    <c:v>Jun 07</c:v>
                  </c:pt>
                  <c:pt idx="16">
                    <c:v>Jun 08</c:v>
                  </c:pt>
                  <c:pt idx="17">
                    <c:v>Jun 09</c:v>
                  </c:pt>
                  <c:pt idx="18">
                    <c:v>Jun 10</c:v>
                  </c:pt>
                  <c:pt idx="19">
                    <c:v>Jun 11</c:v>
                  </c:pt>
                  <c:pt idx="20">
                    <c:v>Jun 12</c:v>
                  </c:pt>
                  <c:pt idx="21">
                    <c:v>Jun 13</c:v>
                  </c:pt>
                  <c:pt idx="22">
                    <c:v>Jun 14</c:v>
                  </c:pt>
                  <c:pt idx="23">
                    <c:v>Jun 15</c:v>
                  </c:pt>
                  <c:pt idx="24">
                    <c:v>Jun 16</c:v>
                  </c:pt>
                  <c:pt idx="25">
                    <c:v>Jun 17</c:v>
                  </c:pt>
                  <c:pt idx="26">
                    <c:v>Jun 18</c:v>
                  </c:pt>
                  <c:pt idx="27">
                    <c:v>Jun 19</c:v>
                  </c:pt>
                </c:lvl>
              </c:multiLvlStrCache>
            </c:multiLvlStrRef>
          </c:cat>
          <c:val>
            <c:numRef>
              <c:f>Sheet1!$E$2:$E$29</c:f>
              <c:numCache>
                <c:formatCode>General</c:formatCode>
                <c:ptCount val="28"/>
                <c:pt idx="0">
                  <c:v>11182</c:v>
                </c:pt>
                <c:pt idx="1">
                  <c:v>10215</c:v>
                </c:pt>
                <c:pt idx="2">
                  <c:v>9938</c:v>
                </c:pt>
                <c:pt idx="3">
                  <c:v>10217</c:v>
                </c:pt>
                <c:pt idx="4">
                  <c:v>11170</c:v>
                </c:pt>
                <c:pt idx="5">
                  <c:v>12537</c:v>
                </c:pt>
                <c:pt idx="6">
                  <c:v>12523</c:v>
                </c:pt>
                <c:pt idx="7">
                  <c:v>11093</c:v>
                </c:pt>
                <c:pt idx="8">
                  <c:v>10209</c:v>
                </c:pt>
                <c:pt idx="9">
                  <c:v>9962</c:v>
                </c:pt>
                <c:pt idx="10">
                  <c:v>10177</c:v>
                </c:pt>
                <c:pt idx="11">
                  <c:v>11079</c:v>
                </c:pt>
                <c:pt idx="12">
                  <c:v>12326</c:v>
                </c:pt>
                <c:pt idx="13">
                  <c:v>12350</c:v>
                </c:pt>
                <c:pt idx="14">
                  <c:v>10809</c:v>
                </c:pt>
                <c:pt idx="15">
                  <c:v>9862</c:v>
                </c:pt>
                <c:pt idx="16">
                  <c:v>9557</c:v>
                </c:pt>
                <c:pt idx="17">
                  <c:v>9820</c:v>
                </c:pt>
                <c:pt idx="18">
                  <c:v>10760</c:v>
                </c:pt>
                <c:pt idx="19">
                  <c:v>12135</c:v>
                </c:pt>
                <c:pt idx="20">
                  <c:v>12124</c:v>
                </c:pt>
                <c:pt idx="21">
                  <c:v>10678</c:v>
                </c:pt>
                <c:pt idx="22">
                  <c:v>9859</c:v>
                </c:pt>
                <c:pt idx="23">
                  <c:v>9656</c:v>
                </c:pt>
                <c:pt idx="24">
                  <c:v>9896</c:v>
                </c:pt>
                <c:pt idx="25">
                  <c:v>10769</c:v>
                </c:pt>
                <c:pt idx="26">
                  <c:v>12034</c:v>
                </c:pt>
                <c:pt idx="27">
                  <c:v>12108</c:v>
                </c:pt>
              </c:numCache>
            </c:numRef>
          </c:val>
          <c:smooth val="0"/>
        </c:ser>
        <c:dLbls>
          <c:numFmt formatCode="#,##0" sourceLinked="0"/>
          <c:txPr>
            <a:bodyPr/>
            <a:lstStyle/>
            <a:p>
              <a:pPr>
                <a:defRPr b="0" i="0" strike="noStrike" sz="1200" u="none">
                  <a:solidFill>
                    <a:srgbClr val="1F2328"/>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none"/>
        <c:minorTickMark val="none"/>
        <c:tickLblPos val="low"/>
        <c:spPr>
          <a:ln w="12700" cap="flat">
            <a:solidFill>
              <a:srgbClr val="888888"/>
            </a:solidFill>
            <a:prstDash val="solid"/>
            <a:round/>
          </a:ln>
        </c:spPr>
        <c:txPr>
          <a:bodyPr/>
          <a:lstStyle/>
          <a:p>
            <a:pPr>
              <a:defRPr sz="1200" b="0" i="0" u="none" strike="noStrike">
                <a:solidFill>
                  <a:srgbClr val="6B6A66"/>
                </a:solidFill>
                <a:latin typeface="+mn-lt"/>
              </a:defRPr>
            </a:pPr>
            <a:endParaRPr lang="en-US"/>
          </a:p>
        </c:txPr>
        <c:crossAx val="2094734552"/>
        <c:crosses val="autoZero"/>
        <c:auto val="1"/>
        <c:lblAlgn val="ctr"/>
        <c:noMultiLvlLbl val="1"/>
        <c:tickLblSkip val="7"/>
      </c:catAx>
      <c:valAx>
        <c:axId val="2094734552"/>
        <c:scaling>
          <c:orientation val="minMax"/>
          <c:min val="9000"/>
        </c:scaling>
        <c:delete val="0"/>
        <c:axPos val="l"/>
        <c:majorGridlines>
          <c:spPr>
            <a:ln w="6350" cap="flat">
              <a:solidFill>
                <a:srgbClr val="D9DCE1"/>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32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328"/>
                </a:solidFill>
                <a:latin typeface="+mn-lt"/>
              </a:defRPr>
            </a:pPr>
            <a:r>
              <a:rPr sz="1400" b="0" i="0" u="none" strike="noStrike">
                <a:solidFill>
                  <a:srgbClr val="1F2328"/>
                </a:solidFill>
                <a:latin typeface="+mn-lt"/>
              </a:rPr>
              <a:t>12 store × dept totals, WRMSSE (pale = summed item forecasts)</a:t>
            </a:r>
          </a:p>
        </c:rich>
      </c:tx>
      <c:layout/>
      <c:overlay val="0"/>
    </c:title>
    <c:autoTitleDeleted val="0"/>
    <c:plotArea>
      <c:layout/>
      <c:barChart>
        <c:barDir val="bar"/>
        <c:grouping val="stacked"/>
        <c:varyColors val="0"/>
        <c:ser>
          <c:idx val="0"/>
          <c:order val="0"/>
          <c:tx>
            <c:strRef>
              <c:f>Sheet1!$B$1</c:f>
              <c:strCache>
                <c:ptCount val="1"/>
                <c:pt idx="0">
                  <c:v>9FC0CB</c:v>
                </c:pt>
              </c:strCache>
            </c:strRef>
          </c:tx>
          <c:spPr>
            <a:solidFill>
              <a:srgbClr val="9FC0CB"/>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Sheet1!$B$2:$B$12</c:f>
              <c:numCache>
                <c:formatCode>General</c:formatCode>
                <c:ptCount val="11"/>
                <c:pt idx="0">
                  <c:v>0.579</c:v>
                </c:pt>
                <c:pt idx="1">
                  <c:v>0</c:v>
                </c:pt>
                <c:pt idx="2">
                  <c:v>0</c:v>
                </c:pt>
                <c:pt idx="3">
                  <c:v>0</c:v>
                </c:pt>
                <c:pt idx="4">
                  <c:v>0</c:v>
                </c:pt>
                <c:pt idx="5">
                  <c:v>0</c:v>
                </c:pt>
                <c:pt idx="6">
                  <c:v>0</c:v>
                </c:pt>
                <c:pt idx="7">
                  <c:v>0</c:v>
                </c:pt>
                <c:pt idx="8">
                  <c:v>0</c:v>
                </c:pt>
                <c:pt idx="9">
                  <c:v>0</c:v>
                </c:pt>
                <c:pt idx="10">
                  <c:v>0</c:v>
                </c:pt>
              </c:numCache>
            </c:numRef>
          </c:val>
        </c:ser>
        <c:ser>
          <c:idx val="1"/>
          <c:order val="1"/>
          <c:tx>
            <c:strRef>
              <c:f>Sheet1!$C$1</c:f>
              <c:strCache>
                <c:ptCount val="1"/>
                <c:pt idx="0">
                  <c:v>4A3AA7</c:v>
                </c:pt>
              </c:strCache>
            </c:strRef>
          </c:tx>
          <c:spPr>
            <a:solidFill>
              <a:srgbClr val="4A3AA7"/>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Sheet1!$C$2:$C$12</c:f>
              <c:numCache>
                <c:formatCode>General</c:formatCode>
                <c:ptCount val="11"/>
                <c:pt idx="0">
                  <c:v>0</c:v>
                </c:pt>
                <c:pt idx="1">
                  <c:v>0.579</c:v>
                </c:pt>
                <c:pt idx="2">
                  <c:v>0.583</c:v>
                </c:pt>
                <c:pt idx="3">
                  <c:v>0</c:v>
                </c:pt>
                <c:pt idx="4">
                  <c:v>0</c:v>
                </c:pt>
                <c:pt idx="5">
                  <c:v>0</c:v>
                </c:pt>
                <c:pt idx="6">
                  <c:v>0</c:v>
                </c:pt>
                <c:pt idx="7">
                  <c:v>0</c:v>
                </c:pt>
                <c:pt idx="8">
                  <c:v>0</c:v>
                </c:pt>
                <c:pt idx="9">
                  <c:v>0</c:v>
                </c:pt>
                <c:pt idx="10">
                  <c:v>0</c:v>
                </c:pt>
              </c:numCache>
            </c:numRef>
          </c:val>
        </c:ser>
        <c:ser>
          <c:idx val="2"/>
          <c:order val="2"/>
          <c:tx>
            <c:strRef>
              <c:f>Sheet1!$D$1</c:f>
              <c:strCache>
                <c:ptCount val="1"/>
                <c:pt idx="0">
                  <c:v>D55181</c:v>
                </c:pt>
              </c:strCache>
            </c:strRef>
          </c:tx>
          <c:spPr>
            <a:solidFill>
              <a:srgbClr val="D55181"/>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Sheet1!$D$2:$D$12</c:f>
              <c:numCache>
                <c:formatCode>General</c:formatCode>
                <c:ptCount val="11"/>
                <c:pt idx="0">
                  <c:v>0</c:v>
                </c:pt>
                <c:pt idx="1">
                  <c:v>0</c:v>
                </c:pt>
                <c:pt idx="2">
                  <c:v>0</c:v>
                </c:pt>
                <c:pt idx="3">
                  <c:v>0.626</c:v>
                </c:pt>
                <c:pt idx="4">
                  <c:v>0</c:v>
                </c:pt>
                <c:pt idx="5">
                  <c:v>0</c:v>
                </c:pt>
                <c:pt idx="6">
                  <c:v>0</c:v>
                </c:pt>
                <c:pt idx="7">
                  <c:v>0</c:v>
                </c:pt>
                <c:pt idx="8">
                  <c:v>0</c:v>
                </c:pt>
                <c:pt idx="9">
                  <c:v>0</c:v>
                </c:pt>
                <c:pt idx="10">
                  <c:v>0</c:v>
                </c:pt>
              </c:numCache>
            </c:numRef>
          </c:val>
        </c:ser>
        <c:ser>
          <c:idx val="3"/>
          <c:order val="3"/>
          <c:tx>
            <c:strRef>
              <c:f>Sheet1!$E$1</c:f>
              <c:strCache>
                <c:ptCount val="1"/>
                <c:pt idx="0">
                  <c:v>AFCDF2</c:v>
                </c:pt>
              </c:strCache>
            </c:strRef>
          </c:tx>
          <c:spPr>
            <a:solidFill>
              <a:srgbClr val="AFCDF2"/>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Sheet1!$E$2:$E$12</c:f>
              <c:numCache>
                <c:formatCode>General</c:formatCode>
                <c:ptCount val="11"/>
                <c:pt idx="0">
                  <c:v>0</c:v>
                </c:pt>
                <c:pt idx="1">
                  <c:v>0</c:v>
                </c:pt>
                <c:pt idx="2">
                  <c:v>0</c:v>
                </c:pt>
                <c:pt idx="3">
                  <c:v>0</c:v>
                </c:pt>
                <c:pt idx="4">
                  <c:v>0.628</c:v>
                </c:pt>
                <c:pt idx="5">
                  <c:v>0</c:v>
                </c:pt>
                <c:pt idx="6">
                  <c:v>0</c:v>
                </c:pt>
                <c:pt idx="7">
                  <c:v>0</c:v>
                </c:pt>
                <c:pt idx="8">
                  <c:v>0</c:v>
                </c:pt>
                <c:pt idx="9">
                  <c:v>0</c:v>
                </c:pt>
                <c:pt idx="10">
                  <c:v>0</c:v>
                </c:pt>
              </c:numCache>
            </c:numRef>
          </c:val>
        </c:ser>
        <c:ser>
          <c:idx val="4"/>
          <c:order val="4"/>
          <c:tx>
            <c:strRef>
              <c:f>Sheet1!$F$1</c:f>
              <c:strCache>
                <c:ptCount val="1"/>
                <c:pt idx="0">
                  <c:v>EDB9CC</c:v>
                </c:pt>
              </c:strCache>
            </c:strRef>
          </c:tx>
          <c:spPr>
            <a:solidFill>
              <a:srgbClr val="EDB9CC"/>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Sheet1!$F$2:$F$12</c:f>
              <c:numCache>
                <c:formatCode>General</c:formatCode>
                <c:ptCount val="11"/>
                <c:pt idx="0">
                  <c:v>0</c:v>
                </c:pt>
                <c:pt idx="1">
                  <c:v>0</c:v>
                </c:pt>
                <c:pt idx="2">
                  <c:v>0</c:v>
                </c:pt>
                <c:pt idx="3">
                  <c:v>0</c:v>
                </c:pt>
                <c:pt idx="4">
                  <c:v>0</c:v>
                </c:pt>
                <c:pt idx="5">
                  <c:v>0.637</c:v>
                </c:pt>
                <c:pt idx="6">
                  <c:v>0</c:v>
                </c:pt>
                <c:pt idx="7">
                  <c:v>0</c:v>
                </c:pt>
                <c:pt idx="8">
                  <c:v>0</c:v>
                </c:pt>
                <c:pt idx="9">
                  <c:v>0</c:v>
                </c:pt>
                <c:pt idx="10">
                  <c:v>0</c:v>
                </c:pt>
              </c:numCache>
            </c:numRef>
          </c:val>
        </c:ser>
        <c:ser>
          <c:idx val="5"/>
          <c:order val="5"/>
          <c:tx>
            <c:strRef>
              <c:f>Sheet1!$G$1</c:f>
              <c:strCache>
                <c:ptCount val="1"/>
                <c:pt idx="0">
                  <c:v>EB6834</c:v>
                </c:pt>
              </c:strCache>
            </c:strRef>
          </c:tx>
          <c:spPr>
            <a:solidFill>
              <a:srgbClr val="EB6834"/>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Sheet1!$G$2:$G$12</c:f>
              <c:numCache>
                <c:formatCode>General</c:formatCode>
                <c:ptCount val="11"/>
                <c:pt idx="0">
                  <c:v>0</c:v>
                </c:pt>
                <c:pt idx="1">
                  <c:v>0</c:v>
                </c:pt>
                <c:pt idx="2">
                  <c:v>0</c:v>
                </c:pt>
                <c:pt idx="3">
                  <c:v>0</c:v>
                </c:pt>
                <c:pt idx="4">
                  <c:v>0</c:v>
                </c:pt>
                <c:pt idx="5">
                  <c:v>0</c:v>
                </c:pt>
                <c:pt idx="6">
                  <c:v>0.637</c:v>
                </c:pt>
                <c:pt idx="7">
                  <c:v>0</c:v>
                </c:pt>
                <c:pt idx="8">
                  <c:v>0</c:v>
                </c:pt>
                <c:pt idx="9">
                  <c:v>0</c:v>
                </c:pt>
                <c:pt idx="10">
                  <c:v>0</c:v>
                </c:pt>
              </c:numCache>
            </c:numRef>
          </c:val>
        </c:ser>
        <c:ser>
          <c:idx val="6"/>
          <c:order val="6"/>
          <c:tx>
            <c:strRef>
              <c:f>Sheet1!$H$1</c:f>
              <c:strCache>
                <c:ptCount val="1"/>
                <c:pt idx="0">
                  <c:v>1BAF7A</c:v>
                </c:pt>
              </c:strCache>
            </c:strRef>
          </c:tx>
          <c:spPr>
            <a:solidFill>
              <a:srgbClr val="1BAF7A"/>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Sheet1!$H$2:$H$12</c:f>
              <c:numCache>
                <c:formatCode>General</c:formatCode>
                <c:ptCount val="11"/>
                <c:pt idx="0">
                  <c:v>0</c:v>
                </c:pt>
                <c:pt idx="1">
                  <c:v>0</c:v>
                </c:pt>
                <c:pt idx="2">
                  <c:v>0</c:v>
                </c:pt>
                <c:pt idx="3">
                  <c:v>0</c:v>
                </c:pt>
                <c:pt idx="4">
                  <c:v>0</c:v>
                </c:pt>
                <c:pt idx="5">
                  <c:v>0</c:v>
                </c:pt>
                <c:pt idx="6">
                  <c:v>0</c:v>
                </c:pt>
                <c:pt idx="7">
                  <c:v>0.644</c:v>
                </c:pt>
                <c:pt idx="8">
                  <c:v>0</c:v>
                </c:pt>
                <c:pt idx="9">
                  <c:v>0</c:v>
                </c:pt>
                <c:pt idx="10">
                  <c:v>0</c:v>
                </c:pt>
              </c:numCache>
            </c:numRef>
          </c:val>
        </c:ser>
        <c:ser>
          <c:idx val="7"/>
          <c:order val="7"/>
          <c:tx>
            <c:strRef>
              <c:f>Sheet1!$I$1</c:f>
              <c:strCache>
                <c:ptCount val="1"/>
                <c:pt idx="0">
                  <c:v>9A9993</c:v>
                </c:pt>
              </c:strCache>
            </c:strRef>
          </c:tx>
          <c:spPr>
            <a:solidFill>
              <a:srgbClr val="9A9993"/>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Sheet1!$I$2:$I$12</c:f>
              <c:numCache>
                <c:formatCode>General</c:formatCode>
                <c:ptCount val="11"/>
                <c:pt idx="0">
                  <c:v>0</c:v>
                </c:pt>
                <c:pt idx="1">
                  <c:v>0</c:v>
                </c:pt>
                <c:pt idx="2">
                  <c:v>0</c:v>
                </c:pt>
                <c:pt idx="3">
                  <c:v>0</c:v>
                </c:pt>
                <c:pt idx="4">
                  <c:v>0</c:v>
                </c:pt>
                <c:pt idx="5">
                  <c:v>0</c:v>
                </c:pt>
                <c:pt idx="6">
                  <c:v>0</c:v>
                </c:pt>
                <c:pt idx="7">
                  <c:v>0</c:v>
                </c:pt>
                <c:pt idx="8">
                  <c:v>0.739</c:v>
                </c:pt>
                <c:pt idx="9">
                  <c:v>0</c:v>
                </c:pt>
                <c:pt idx="10">
                  <c:v>0</c:v>
                </c:pt>
              </c:numCache>
            </c:numRef>
          </c:val>
        </c:ser>
        <c:ser>
          <c:idx val="8"/>
          <c:order val="8"/>
          <c:tx>
            <c:strRef>
              <c:f>Sheet1!$J$1</c:f>
              <c:strCache>
                <c:ptCount val="1"/>
                <c:pt idx="0">
                  <c:v>A6DCC6</c:v>
                </c:pt>
              </c:strCache>
            </c:strRef>
          </c:tx>
          <c:spPr>
            <a:solidFill>
              <a:srgbClr val="A6DCC6"/>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Sheet1!$J$2:$J$12</c:f>
              <c:numCache>
                <c:formatCode>General</c:formatCode>
                <c:ptCount val="11"/>
                <c:pt idx="0">
                  <c:v>0</c:v>
                </c:pt>
                <c:pt idx="1">
                  <c:v>0</c:v>
                </c:pt>
                <c:pt idx="2">
                  <c:v>0</c:v>
                </c:pt>
                <c:pt idx="3">
                  <c:v>0</c:v>
                </c:pt>
                <c:pt idx="4">
                  <c:v>0</c:v>
                </c:pt>
                <c:pt idx="5">
                  <c:v>0</c:v>
                </c:pt>
                <c:pt idx="6">
                  <c:v>0</c:v>
                </c:pt>
                <c:pt idx="7">
                  <c:v>0</c:v>
                </c:pt>
                <c:pt idx="8">
                  <c:v>0</c:v>
                </c:pt>
                <c:pt idx="9">
                  <c:v>0.9</c:v>
                </c:pt>
                <c:pt idx="10">
                  <c:v>0</c:v>
                </c:pt>
              </c:numCache>
            </c:numRef>
          </c:val>
        </c:ser>
        <c:ser>
          <c:idx val="9"/>
          <c:order val="9"/>
          <c:tx>
            <c:strRef>
              <c:f>Sheet1!$K$1</c:f>
              <c:strCache>
                <c:ptCount val="1"/>
                <c:pt idx="0">
                  <c:v>F6BFA6</c:v>
                </c:pt>
              </c:strCache>
            </c:strRef>
          </c:tx>
          <c:spPr>
            <a:solidFill>
              <a:srgbClr val="F6BFA6"/>
            </a:solidFill>
            <a:effectLst/>
          </c:spPr>
          <c:invertIfNegative val="0"/>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cat>
            <c:multiLvlStrRef>
              <c:f>Sheet1!$A$2:$A$12</c:f>
              <c:multiLvlStrCache>
                <c:ptCount val="11"/>
                <c:lvl>
                  <c:pt idx="0">
                    <c:v>Ensemble (sum of items)  0.579</c:v>
                  </c:pt>
                  <c:pt idx="1">
                    <c:v>Claude (named)  0.579</c:v>
                  </c:pt>
                  <c:pt idx="2">
                    <c:v>Claude (blind)  0.583</c:v>
                  </c:pt>
                  <c:pt idx="3">
                    <c:v>AutoETS (direct)  0.626</c:v>
                  </c:pt>
                  <c:pt idx="4">
                    <c:v>LightGBM (sum of items)  0.628</c:v>
                  </c:pt>
                  <c:pt idx="5">
                    <c:v>AutoETS (sum of items)  0.637</c:v>
                  </c:pt>
                  <c:pt idx="6">
                    <c:v>Chronos (direct)  0.637</c:v>
                  </c:pt>
                  <c:pt idx="7">
                    <c:v>AutoARIMA (direct)  0.644</c:v>
                  </c:pt>
                  <c:pt idx="8">
                    <c:v>Seasonal naive (direct)  0.739</c:v>
                  </c:pt>
                  <c:pt idx="9">
                    <c:v>AutoARIMA (sum of items)  0.900</c:v>
                  </c:pt>
                  <c:pt idx="10">
                    <c:v>Chronos (sum of items)  0.969</c:v>
                  </c:pt>
                </c:lvl>
              </c:multiLvlStrCache>
            </c:multiLvlStrRef>
          </c:cat>
          <c:val>
            <c:numRef>
              <c:f>Sheet1!$K$2:$K$12</c:f>
              <c:numCache>
                <c:formatCode>General</c:formatCode>
                <c:ptCount val="11"/>
                <c:pt idx="0">
                  <c:v>0</c:v>
                </c:pt>
                <c:pt idx="1">
                  <c:v>0</c:v>
                </c:pt>
                <c:pt idx="2">
                  <c:v>0</c:v>
                </c:pt>
                <c:pt idx="3">
                  <c:v>0</c:v>
                </c:pt>
                <c:pt idx="4">
                  <c:v>0</c:v>
                </c:pt>
                <c:pt idx="5">
                  <c:v>0</c:v>
                </c:pt>
                <c:pt idx="6">
                  <c:v>0</c:v>
                </c:pt>
                <c:pt idx="7">
                  <c:v>0</c:v>
                </c:pt>
                <c:pt idx="8">
                  <c:v>0</c:v>
                </c:pt>
                <c:pt idx="9">
                  <c:v>0</c:v>
                </c:pt>
                <c:pt idx="10">
                  <c:v>0.969</c:v>
                </c:pt>
              </c:numCache>
            </c:numRef>
          </c:val>
        </c:ser>
        <c:dLbls>
          <c:numFmt formatCode="0.000;;;" sourceLinked="0"/>
          <c:txPr>
            <a:bodyPr/>
            <a:lstStyle/>
            <a:p>
              <a:pPr>
                <a:defRPr b="0" i="0" strike="noStrike" sz="1200" u="none">
                  <a:solidFill>
                    <a:srgbClr val="FFFFFF"/>
                  </a:solidFill>
                  <a:latin typeface="+mn-lt"/>
                </a:defRPr>
              </a:pPr>
            </a:p>
          </c:txPr>
          <c:dLblPos val="inEnd"/>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9DCE1"/>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A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(0:45)
Good afternoon, we're Group 3. A retail forecast has three jobs: be accurate, be cheap and fast enough to run every day for thousands of products, and support good stocking decisions. LightGBM, a machine-learning method, dominates this kind of retail data and has become the industry default. Since then, AI foundation models, pre-trained on huge datasets, can forecast a product they have never seen, with no training at all. So we ask: can these AI models beat traditional statistical and machine-learning methods, on accuracy and on efficiency?
TRANSITION: Here is our data and how we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1 (1:20)
We used Walmart's M5 data: all 1,437 food items in four California stores, so 5,748 daily series, each one item in one store, from 2011 to 2016.
Every model trains on data up to May 22, 2016, and forecasts the next 28 days, the official M5 test window, which no model sees. The one model we tuned, LightGBM, was tuned only on the last 28 training days.
Three features make this data hard. Sales follow a weekly rhythm: weekends sell about 20% above an average day. Food-stamp payment days add about 10%. And demand is sparse: the typical item sells nothing on half of all days.
We score accuracy with WRMSSE, the official M5 metric: it scales each product's error by how hard it is to forecast and weights it by dollar sales. Lower is better, and below one beats a naive forecast. One caveat up front: this is a single 28-day window.
TRANSITION: Speaker 2 will introduce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(1:05)
We compared five models. AutoETS and AutoARIMA are classic time series models: they fit one model to each product's own history, with a weekly cycle.
LightGBM is the dominant approach for this kind of retail data. It is one machine-learning model trained across all products at once, which then predicts each product. It also sees prices, holidays and food-stamp days.
Chronos is Amazon's pre-trained AI model for time series, trained on about 100 billion data points from energy, traffic, weather and more. It was not trained on our data: the Chronos paper keeps M5, and every retail dataset it uses, out of training as held-out tests. Seasonal naive, 'same weekday last week', is the benchmark.
We also test the simplest possible combination: an unweighted average of AutoETS and LightGBM. And as an experiment, a second AI joins on a subset of series: Claude, a general-purpose language model, which we'll come back to later. Note that the inputs differ: only LightGBM and Claude see prices and the calendar.
TRANSITION: So which model is best, and at what? Here's the scorecard.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(1:00)
Here is the scorecard: traditional models against AI, on four questions. First, how to read it: RMSSE measures how big a model's errors are compared with a naive "same as yesterday" forecast on the same product, and WRMSSE combines that across all products, weighted by dollar sales. Store totals show the average daily percentage error. In every accuracy column, smaller is better. Who is most accurate overall? A traditional model: the simple average of AutoETS and LightGBM, with LightGBM alone second and AutoETS close behind. Who forecasts store totals best? Again the traditional models. For single products? It's close, and there the AI is level with LightGBM. And who is fastest? The AI, Chronos, by far: seconds instead of minutes, with no training at all.
So from a traditional point of view, the best choice is the AutoETS-plus-LightGBM average, and the AI's real strength is speed. The green cells show the winner of each column.
POINT AT: the green cells, column by column.
TRANSITION: Let's see what those forecasts actually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2 (1:00)
Here's what that looks like. The black line is actual daily sales across all four stores during the test month. The traditional average, in teal, rises and falls with every weekend peak. AutoARIMA, in green, is almost flat, and Chronos, in orange, has the right shape but sits too low.
Why? AutoARIMA and Chronos look at one product at a time. For a product that sells a unit or two a day, the best guess is a flat line, and thousands of flat lines added up miss the weekend. LightGBM learns from all products together, so it sees the weekend rush, and averaging it with AutoETS smooths out the rest. Zoom into a single product, though, and the lines come together: one product's daily sales are mostly noise.
TRANSITION: So the specialist AI is fast but less accurate. What about a generalist AI that reads and reasons? Speaker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(1:15)
Now a generalist AI. We used Claude through its API. For each product, our code sends the past year of daily sales as plain text, one row per day with the date, holidays, food-stamp days and price, plus an instruction: forecast the next 28 days and answer in a fixed format. Claude reads the numbers, reasons about patterns such as weekends and holidays, and sends back 28 daily forecasts with a short explanation. No statistical model is fitted; it works from what it learned in training.
Each request costs money and takes a few seconds, so to keep the cost down we used a subset instead of all 5,748 series: 100 randomly chosen products and the 12 store-by-department totals. Every other model was scored on exactly the same series, and to keep it fair, the other models were also fitted directly on those totals.
How did it perform? On the store totals, very well: it matched our best traditional forecast, the AutoETS-plus-LightGBM average, and beat every single model, including Chronos. On individual products it was in the pack, behind AutoETS and AutoARIMA. So the generalist AI was more accurate than the specialist one, but far slower and more costly to run at scale.
POINT AT: the Claude bars at the top of the chart, then the comparison table.
TRANSITION: Using a language model also brings a specific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3 (1:00)
The obvious worry: M5 is public data, so Claude may have seen these exact sales during training, and be remembering rather than forecasting. So we ran a blind test. Every forecast was made twice: once with the real labels, meaning Walmart, the store and product IDs, and the real dates; and once with all of that hidden, just 'day 1, day 2' with no names and no year.
Think of it as a blind taste test. It's the same idea as a permutation test in statistics: if the labels carry no information, taking them away shouldn't change the result. And it didn't: accuracy was practically identical with and without the labels, 0.579 versus 0.583. Knowing it was Walmart in 2016 gave Claude no advantage.
We also saved every response so the results can be re-checked, and checked that every answer came back in the right format. One honest limit remains: hiding the labels can't hide the sales pattern itself. If Claude had memorised the shape of these series, a blind test couldn't catch it, so contamination can't be fully ruled out.
IF ASKED (permutation test): it is the same idea, not a formal permutation test. A real one reshuffles labels many times to get a p-value; we made one with-labels vs without-labels comparison.
BACKGROUND (not to read aloud): Our code asked Claude for 28 daily forecasts in a fixed JSON format. We checked each reply had exactly 28 days and retried automatically if not. 224 requests = 112 series x 2 versions (named and blind); all came back usable. Every reply is saved in our repo.
TRANSITION: Speaker 4 will wrap up and show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(1:45)
So, can AI foundation models beat traditional methods? Our answer: not yet on accuracy, yes on speed. LightGBM, AutoETS and their simple average were the three most accurate. Chronos was the clear winner on speed: ten seconds, no training. And Claude matched the best traditional approach on store totals.
Our results have limits. First, Claude was tested on a subset, and our blind test can't fully rule out that it saw this public data. Second, sales are not demand: when a shelf is empty, sales show zero even if customers wanted the product.
And the most important limitation for a business: accuracy isn't the real goal. Ordering stock is a newsvendor problem with two different costs. If you order too little, you lose the margin on every sale you miss; that's the underage cost. If you order too much, unsold food is wasted at its cost; that's the overage cost. Because those costs depend on the margin, the best order isn't the forecast itself but a quantile of demand, and our accuracy metrics treat over- and under-forecasting the same. So what happened when we turned each model's forecasts into actual orders? For most products, it barely mattered which model we used: the profit differences were small enough to be luck. Only for high-margin products, where running out of stock is expensive, did the more accurate model, LightGBM, clearly make more money.
So our recommendation: average a statistical model like AutoETS with LightGBM, use Chronos where speed or a lack of training data matters, and choose models on the metric that matches the business decision. Our next step is a rolling backtest over several windows.
Let me show you the business problem in our dashboard.
TRANSITION: click the screenshot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4 (1:30 demo + 0:15 close)
[Click the screenshot to open the dashboard. If the internet fails, play the screen recording.]
(0:00-0:20) FORECAST EXPLORER. This is Shelf Signal, which extends our teammate's original dashboard with all our models. Here's one store's department total: the black line is actual sales, and you can switch each model on and off. The ensemble and LightGBM follow the weekend peaks; Chronos runs low.
(0:20-0:40) AI LAB. Here Claude explains its own forecast in plain English, and this chart is the named-versus-blind test: every point sits on the diagonal, so real names gave it no advantage.
(0:40-1:30) ORDER PLANNER. Now the business problem. For this item, the model forecasts about eight units for the day. At a 50% margin, the best order is the median of demand. Drop the margin to 20%: a wasted unit now costs four times a lost sale, so the order falls. Raise it to 80%: a lost sale costs four times a wasted unit, so we order more. Same forecast, different decision. The table scores every model's orders against actual sales: the profit ranking isn't the same as the accuracy ranking, and at typical margins the differences are small.
(close) That's our project: traditional methods still lead on accuracy, AI wins on speed, and the right order depends on your costs. Thank you, and we're happy to take questions.
[Press Cmd+Tab to return to the slides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1691640"/>
            <a:ext cx="10881360" cy="5486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Group 3 · Time Series Analysis and Forecasting · UCLA Anderson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shihan-2002.github.io/shelf-signal-dashboard/#planner" TargetMode="External"/><Relationship Id="rId3" Type="http://schemas.openxmlformats.org/officeDocument/2006/relationships/hyperlink" Target="https://shihan-2002.github.io/shelf-signal-dashboard/#planner" TargetMode="External"/><Relationship Id="rId4" Type="http://schemas.openxmlformats.org/officeDocument/2006/relationships/hyperlink" Target="https://shihan-2002.github.io/shelf-signal-dashboard/#planner" TargetMode="External"/><Relationship Id="rId1"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9-4.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1097280"/>
          </a:xfrm>
          <a:prstGeom prst="rect">
            <a:avLst/>
          </a:prstGeom>
          <a:noFill/>
          <a:ln/>
        </p:spPr>
        <p:txBody>
          <a:bodyPr wrap="square" rtlCol="0" anchor="b"/>
          <a:lstStyle/>
          <a:p>
            <a:pPr algn="l" indent="0" marL="0">
              <a:buNone/>
            </a:pPr>
            <a:r>
              <a:rPr lang="en-US" sz="4400" b="1" dirty="0">
                <a:solidFill>
                  <a:schemeClr val="bg1"/>
                </a:solidFill>
              </a:rPr>
              <a:t>Can AI Foundation Models Beat Traditional Statistical Models?</a:t>
            </a:r>
            <a:endParaRPr lang="en-US" sz="4400" dirty="0"/>
          </a:p>
        </p:txBody>
      </p:sp>
      <p:sp>
        <p:nvSpPr>
          <p:cNvPr id="3" name="Text 0"/>
          <p:cNvSpPr/>
          <p:nvPr>
            <p:ph idx="101" type="body" hasCustomPrompt="1"/>
          </p:nvPr>
        </p:nvSpPr>
        <p:spPr>
          <a:xfrm>
            <a:off x="640080" y="1691640"/>
            <a:ext cx="10881360" cy="548640"/>
          </a:xfrm>
          <a:prstGeom prst="rect">
            <a:avLst/>
          </a:prstGeom>
          <a:noFill/>
          <a:ln/>
        </p:spPr>
        <p:txBody>
          <a:bodyPr wrap="square" rtlCol="0" anchor="t"/>
          <a:lstStyle/>
          <a:p>
            <a:pPr algn="l" indent="0" marL="0">
              <a:buNone/>
            </a:pPr>
            <a:r>
              <a:rPr lang="en-US" sz="2000" dirty="0">
                <a:solidFill>
                  <a:schemeClr val="bg2"/>
                </a:solidFill>
              </a:rPr>
              <a:t>Retail forecasting has to balance accuracy, efficiency and business value</a:t>
            </a:r>
            <a:endParaRPr lang="en-US" sz="2000" dirty="0"/>
          </a:p>
        </p:txBody>
      </p:sp>
      <p:sp>
        <p:nvSpPr>
          <p:cNvPr id="4" name="question 1"/>
          <p:cNvSpPr/>
          <p:nvPr/>
        </p:nvSpPr>
        <p:spPr>
          <a:xfrm>
            <a:off x="640080" y="2514600"/>
            <a:ext cx="5349240" cy="1234440"/>
          </a:xfrm>
          <a:prstGeom prst="roundRect">
            <a:avLst>
              <a:gd name="adj" fmla="val 8889"/>
            </a:avLst>
          </a:prstGeom>
          <a:solidFill>
            <a:srgbClr val="2A3B55"/>
          </a:solidFill>
          <a:ln w="12700">
            <a:solidFill>
              <a:srgbClr val="2A3B55"/>
            </a:solidFill>
            <a:prstDash val="solid"/>
          </a:ln>
        </p:spPr>
      </p:sp>
      <p:sp>
        <p:nvSpPr>
          <p:cNvPr id="5" name="Text 3"/>
          <p:cNvSpPr txBox="1"/>
          <p:nvPr/>
        </p:nvSpPr>
        <p:spPr>
          <a:xfrm>
            <a:off x="914400" y="2514600"/>
            <a:ext cx="548640" cy="1234440"/>
          </a:xfrm>
          <a:prstGeom prst="rect">
            <a:avLst/>
          </a:prstGeom>
          <a:noFill/>
          <a:ln/>
        </p:spPr>
        <p:txBody>
          <a:bodyPr wrap="square" lIns="0" tIns="0" rIns="0" bIns="0" rtlCol="0" anchor="ctr"/>
          <a:lstStyle/>
          <a:p>
            <a:pPr indent="0" marL="0">
              <a:buNone/>
            </a:pPr>
            <a:r>
              <a:rPr lang="en-US" sz="4000" b="1" dirty="0">
                <a:solidFill>
                  <a:srgbClr val="4A3AA7"/>
                </a:solidFill>
                <a:latin typeface="Cambria" pitchFamily="34" charset="0"/>
                <a:ea typeface="Cambria" pitchFamily="34" charset="-122"/>
                <a:cs typeface="Cambria" pitchFamily="34" charset="-120"/>
              </a:rPr>
              <a:t>1</a:t>
            </a:r>
            <a:endParaRPr lang="en-US" sz="4000" dirty="0"/>
          </a:p>
        </p:txBody>
      </p:sp>
      <p:sp>
        <p:nvSpPr>
          <p:cNvPr id="6" name="Text 4"/>
          <p:cNvSpPr txBox="1"/>
          <p:nvPr/>
        </p:nvSpPr>
        <p:spPr>
          <a:xfrm>
            <a:off x="1554480" y="2514600"/>
            <a:ext cx="4206240" cy="1234440"/>
          </a:xfrm>
          <a:prstGeom prst="rect">
            <a:avLst/>
          </a:prstGeom>
          <a:noFill/>
          <a:ln/>
        </p:spPr>
        <p:txBody>
          <a:bodyPr wrap="square" lIns="0" tIns="0" rIns="0" bIns="0" rtlCol="0" anchor="ctr"/>
          <a:lstStyle/>
          <a:p>
            <a:pPr indent="0" marL="0">
              <a:buNone/>
            </a:pPr>
            <a:r>
              <a:rPr lang="en-US" sz="1800" dirty="0">
                <a:solidFill>
                  <a:schemeClr val="bg1"/>
                </a:solidFill>
              </a:rPr>
              <a:t>Can pre-trained AI forecast as well as traditional methods, and faster?</a:t>
            </a:r>
            <a:endParaRPr lang="en-US" sz="1800" dirty="0"/>
          </a:p>
        </p:txBody>
      </p:sp>
      <p:sp>
        <p:nvSpPr>
          <p:cNvPr id="7" name="question 2"/>
          <p:cNvSpPr/>
          <p:nvPr/>
        </p:nvSpPr>
        <p:spPr>
          <a:xfrm>
            <a:off x="6172200" y="2514600"/>
            <a:ext cx="5349240" cy="1234440"/>
          </a:xfrm>
          <a:prstGeom prst="roundRect">
            <a:avLst>
              <a:gd name="adj" fmla="val 8889"/>
            </a:avLst>
          </a:prstGeom>
          <a:solidFill>
            <a:srgbClr val="2A3B55"/>
          </a:solidFill>
          <a:ln w="12700">
            <a:solidFill>
              <a:srgbClr val="2A3B55"/>
            </a:solidFill>
            <a:prstDash val="solid"/>
          </a:ln>
        </p:spPr>
      </p:sp>
      <p:sp>
        <p:nvSpPr>
          <p:cNvPr id="8" name="Text 6"/>
          <p:cNvSpPr txBox="1"/>
          <p:nvPr/>
        </p:nvSpPr>
        <p:spPr>
          <a:xfrm>
            <a:off x="6446520" y="2514600"/>
            <a:ext cx="548640" cy="1234440"/>
          </a:xfrm>
          <a:prstGeom prst="rect">
            <a:avLst/>
          </a:prstGeom>
          <a:noFill/>
          <a:ln/>
        </p:spPr>
        <p:txBody>
          <a:bodyPr wrap="square" lIns="0" tIns="0" rIns="0" bIns="0" rtlCol="0" anchor="ctr"/>
          <a:lstStyle/>
          <a:p>
            <a:pPr indent="0" marL="0">
              <a:buNone/>
            </a:pPr>
            <a:r>
              <a:rPr lang="en-US" sz="4000" b="1" dirty="0">
                <a:solidFill>
                  <a:srgbClr val="F2B33D"/>
                </a:solidFill>
                <a:latin typeface="Cambria" pitchFamily="34" charset="0"/>
                <a:ea typeface="Cambria" pitchFamily="34" charset="-122"/>
                <a:cs typeface="Cambria" pitchFamily="34" charset="-120"/>
              </a:rPr>
              <a:t>2</a:t>
            </a:r>
            <a:endParaRPr lang="en-US" sz="4000" dirty="0"/>
          </a:p>
        </p:txBody>
      </p:sp>
      <p:sp>
        <p:nvSpPr>
          <p:cNvPr id="9" name="Text 7"/>
          <p:cNvSpPr txBox="1"/>
          <p:nvPr/>
        </p:nvSpPr>
        <p:spPr>
          <a:xfrm>
            <a:off x="7086600" y="2514600"/>
            <a:ext cx="4206240" cy="1234440"/>
          </a:xfrm>
          <a:prstGeom prst="rect">
            <a:avLst/>
          </a:prstGeom>
          <a:noFill/>
          <a:ln/>
        </p:spPr>
        <p:txBody>
          <a:bodyPr wrap="square" lIns="0" tIns="0" rIns="0" bIns="0" rtlCol="0" anchor="ctr"/>
          <a:lstStyle/>
          <a:p>
            <a:pPr indent="0" marL="0">
              <a:buNone/>
            </a:pPr>
            <a:r>
              <a:rPr lang="en-US" sz="1800" dirty="0">
                <a:solidFill>
                  <a:schemeClr val="bg1"/>
                </a:solidFill>
              </a:rPr>
              <a:t>Does a better forecast mean a better replenishment decision?</a:t>
            </a:r>
            <a:endParaRPr lang="en-US" sz="1800" dirty="0"/>
          </a:p>
        </p:txBody>
      </p:sp>
      <p:sp>
        <p:nvSpPr>
          <p:cNvPr id="10" name="Sales history circle"/>
          <p:cNvSpPr/>
          <p:nvPr/>
        </p:nvSpPr>
        <p:spPr>
          <a:xfrm>
            <a:off x="1097280" y="4160520"/>
            <a:ext cx="777240" cy="777240"/>
          </a:xfrm>
          <a:prstGeom prst="ellipse">
            <a:avLst/>
          </a:prstGeom>
          <a:solidFill>
            <a:srgbClr val="3A4D6B"/>
          </a:solidFill>
          <a:ln w="12700">
            <a:solidFill>
              <a:srgbClr val="3A4D6B"/>
            </a:solidFill>
            <a:prstDash val="solid"/>
          </a:ln>
        </p:spPr>
      </p:sp>
      <p:pic>
        <p:nvPicPr>
          <p:cNvPr id="11" name="Sales history icon" descr="preencoded.png">    </p:cNvPr>
          <p:cNvPicPr>
            <a:picLocks noChangeAspect="1"/>
          </p:cNvPicPr>
          <p:nvPr/>
        </p:nvPicPr>
        <p:blipFill>
          <a:blip r:embed="rId1"/>
          <a:stretch>
            <a:fillRect/>
          </a:stretch>
        </p:blipFill>
        <p:spPr>
          <a:xfrm>
            <a:off x="1283818" y="4347058"/>
            <a:ext cx="404165" cy="404165"/>
          </a:xfrm>
          <a:prstGeom prst="rect">
            <a:avLst/>
          </a:prstGeom>
        </p:spPr>
      </p:pic>
      <p:sp>
        <p:nvSpPr>
          <p:cNvPr id="12" name="Text 9"/>
          <p:cNvSpPr txBox="1"/>
          <p:nvPr/>
        </p:nvSpPr>
        <p:spPr>
          <a:xfrm>
            <a:off x="640080" y="5029200"/>
            <a:ext cx="1691640" cy="365760"/>
          </a:xfrm>
          <a:prstGeom prst="rect">
            <a:avLst/>
          </a:prstGeom>
          <a:noFill/>
          <a:ln/>
        </p:spPr>
        <p:txBody>
          <a:bodyPr wrap="square" lIns="0" tIns="0" rIns="0" bIns="0" rtlCol="0" anchor="ctr"/>
          <a:lstStyle/>
          <a:p>
            <a:pPr algn="ctr" indent="0" marL="0">
              <a:buNone/>
            </a:pPr>
            <a:r>
              <a:rPr lang="en-US" sz="1500" dirty="0">
                <a:solidFill>
                  <a:schemeClr val="bg2"/>
                </a:solidFill>
              </a:rPr>
              <a:t>Sales history</a:t>
            </a:r>
            <a:endParaRPr lang="en-US" sz="1500" dirty="0"/>
          </a:p>
        </p:txBody>
      </p:sp>
      <p:sp>
        <p:nvSpPr>
          <p:cNvPr id="13" name="Text 10"/>
          <p:cNvSpPr txBox="1"/>
          <p:nvPr/>
        </p:nvSpPr>
        <p:spPr>
          <a:xfrm>
            <a:off x="2286000" y="4160520"/>
            <a:ext cx="1097280" cy="777240"/>
          </a:xfrm>
          <a:prstGeom prst="rect">
            <a:avLst/>
          </a:prstGeom>
          <a:noFill/>
          <a:ln/>
        </p:spPr>
        <p:txBody>
          <a:bodyPr wrap="square" lIns="0" tIns="0" rIns="0" bIns="0" rtlCol="0" anchor="ctr"/>
          <a:lstStyle/>
          <a:p>
            <a:pPr algn="ctr" indent="0" marL="0">
              <a:buNone/>
            </a:pPr>
            <a:r>
              <a:rPr lang="en-US" sz="3000" dirty="0">
                <a:solidFill>
                  <a:srgbClr val="9A9993"/>
                </a:solidFill>
              </a:rPr>
              <a:t>→</a:t>
            </a:r>
            <a:endParaRPr lang="en-US" sz="3000" dirty="0"/>
          </a:p>
        </p:txBody>
      </p:sp>
      <p:sp>
        <p:nvSpPr>
          <p:cNvPr id="14" name="Forecast circle"/>
          <p:cNvSpPr/>
          <p:nvPr/>
        </p:nvSpPr>
        <p:spPr>
          <a:xfrm>
            <a:off x="3840480" y="4160520"/>
            <a:ext cx="777240" cy="777240"/>
          </a:xfrm>
          <a:prstGeom prst="ellipse">
            <a:avLst/>
          </a:prstGeom>
          <a:solidFill>
            <a:srgbClr val="2A78D6"/>
          </a:solidFill>
          <a:ln w="12700">
            <a:solidFill>
              <a:srgbClr val="2A78D6"/>
            </a:solidFill>
            <a:prstDash val="solid"/>
          </a:ln>
        </p:spPr>
      </p:sp>
      <p:pic>
        <p:nvPicPr>
          <p:cNvPr id="15" name="Forecast icon" descr="preencoded.png">    </p:cNvPr>
          <p:cNvPicPr>
            <a:picLocks noChangeAspect="1"/>
          </p:cNvPicPr>
          <p:nvPr/>
        </p:nvPicPr>
        <p:blipFill>
          <a:blip r:embed="rId2"/>
          <a:stretch>
            <a:fillRect/>
          </a:stretch>
        </p:blipFill>
        <p:spPr>
          <a:xfrm>
            <a:off x="4027018" y="4347058"/>
            <a:ext cx="404165" cy="404165"/>
          </a:xfrm>
          <a:prstGeom prst="rect">
            <a:avLst/>
          </a:prstGeom>
        </p:spPr>
      </p:pic>
      <p:sp>
        <p:nvSpPr>
          <p:cNvPr id="16" name="Text 12"/>
          <p:cNvSpPr txBox="1"/>
          <p:nvPr/>
        </p:nvSpPr>
        <p:spPr>
          <a:xfrm>
            <a:off x="3383280" y="5029200"/>
            <a:ext cx="1691640" cy="365760"/>
          </a:xfrm>
          <a:prstGeom prst="rect">
            <a:avLst/>
          </a:prstGeom>
          <a:noFill/>
          <a:ln/>
        </p:spPr>
        <p:txBody>
          <a:bodyPr wrap="square" lIns="0" tIns="0" rIns="0" bIns="0" rtlCol="0" anchor="ctr"/>
          <a:lstStyle/>
          <a:p>
            <a:pPr algn="ctr" indent="0" marL="0">
              <a:buNone/>
            </a:pPr>
            <a:r>
              <a:rPr lang="en-US" sz="1500" dirty="0">
                <a:solidFill>
                  <a:schemeClr val="bg2"/>
                </a:solidFill>
              </a:rPr>
              <a:t>Forecast</a:t>
            </a:r>
            <a:endParaRPr lang="en-US" sz="1500" dirty="0"/>
          </a:p>
        </p:txBody>
      </p:sp>
      <p:sp>
        <p:nvSpPr>
          <p:cNvPr id="17" name="Text 13"/>
          <p:cNvSpPr txBox="1"/>
          <p:nvPr/>
        </p:nvSpPr>
        <p:spPr>
          <a:xfrm>
            <a:off x="5029200" y="4160520"/>
            <a:ext cx="1097280" cy="777240"/>
          </a:xfrm>
          <a:prstGeom prst="rect">
            <a:avLst/>
          </a:prstGeom>
          <a:noFill/>
          <a:ln/>
        </p:spPr>
        <p:txBody>
          <a:bodyPr wrap="square" lIns="0" tIns="0" rIns="0" bIns="0" rtlCol="0" anchor="ctr"/>
          <a:lstStyle/>
          <a:p>
            <a:pPr algn="ctr" indent="0" marL="0">
              <a:buNone/>
            </a:pPr>
            <a:r>
              <a:rPr lang="en-US" sz="3000" dirty="0">
                <a:solidFill>
                  <a:srgbClr val="9A9993"/>
                </a:solidFill>
              </a:rPr>
              <a:t>→</a:t>
            </a:r>
            <a:endParaRPr lang="en-US" sz="3000" dirty="0"/>
          </a:p>
        </p:txBody>
      </p:sp>
      <p:sp>
        <p:nvSpPr>
          <p:cNvPr id="18" name="Order circle"/>
          <p:cNvSpPr/>
          <p:nvPr/>
        </p:nvSpPr>
        <p:spPr>
          <a:xfrm>
            <a:off x="6583680" y="4160520"/>
            <a:ext cx="777240" cy="777240"/>
          </a:xfrm>
          <a:prstGeom prst="ellipse">
            <a:avLst/>
          </a:prstGeom>
          <a:solidFill>
            <a:srgbClr val="F2B33D"/>
          </a:solidFill>
          <a:ln w="12700">
            <a:solidFill>
              <a:srgbClr val="F2B33D"/>
            </a:solidFill>
            <a:prstDash val="solid"/>
          </a:ln>
        </p:spPr>
      </p:sp>
      <p:pic>
        <p:nvPicPr>
          <p:cNvPr id="19" name="Order icon" descr="preencoded.png">    </p:cNvPr>
          <p:cNvPicPr>
            <a:picLocks noChangeAspect="1"/>
          </p:cNvPicPr>
          <p:nvPr/>
        </p:nvPicPr>
        <p:blipFill>
          <a:blip r:embed="rId3"/>
          <a:stretch>
            <a:fillRect/>
          </a:stretch>
        </p:blipFill>
        <p:spPr>
          <a:xfrm>
            <a:off x="6770218" y="4347058"/>
            <a:ext cx="404165" cy="404165"/>
          </a:xfrm>
          <a:prstGeom prst="rect">
            <a:avLst/>
          </a:prstGeom>
        </p:spPr>
      </p:pic>
      <p:sp>
        <p:nvSpPr>
          <p:cNvPr id="20" name="Text 15"/>
          <p:cNvSpPr txBox="1"/>
          <p:nvPr/>
        </p:nvSpPr>
        <p:spPr>
          <a:xfrm>
            <a:off x="6126480" y="5029200"/>
            <a:ext cx="1691640" cy="365760"/>
          </a:xfrm>
          <a:prstGeom prst="rect">
            <a:avLst/>
          </a:prstGeom>
          <a:noFill/>
          <a:ln/>
        </p:spPr>
        <p:txBody>
          <a:bodyPr wrap="square" lIns="0" tIns="0" rIns="0" bIns="0" rtlCol="0" anchor="ctr"/>
          <a:lstStyle/>
          <a:p>
            <a:pPr algn="ctr" indent="0" marL="0">
              <a:buNone/>
            </a:pPr>
            <a:r>
              <a:rPr lang="en-US" sz="1500" dirty="0">
                <a:solidFill>
                  <a:schemeClr val="bg2"/>
                </a:solidFill>
              </a:rPr>
              <a:t>Order</a:t>
            </a:r>
            <a:endParaRPr lang="en-US" sz="1500" dirty="0"/>
          </a:p>
        </p:txBody>
      </p:sp>
      <p:sp>
        <p:nvSpPr>
          <p:cNvPr id="21" name="Text 16"/>
          <p:cNvSpPr txBox="1"/>
          <p:nvPr/>
        </p:nvSpPr>
        <p:spPr>
          <a:xfrm>
            <a:off x="7772400" y="4160520"/>
            <a:ext cx="1097280" cy="777240"/>
          </a:xfrm>
          <a:prstGeom prst="rect">
            <a:avLst/>
          </a:prstGeom>
          <a:noFill/>
          <a:ln/>
        </p:spPr>
        <p:txBody>
          <a:bodyPr wrap="square" lIns="0" tIns="0" rIns="0" bIns="0" rtlCol="0" anchor="ctr"/>
          <a:lstStyle/>
          <a:p>
            <a:pPr algn="ctr" indent="0" marL="0">
              <a:buNone/>
            </a:pPr>
            <a:r>
              <a:rPr lang="en-US" sz="3000" dirty="0">
                <a:solidFill>
                  <a:srgbClr val="9A9993"/>
                </a:solidFill>
              </a:rPr>
              <a:t>→</a:t>
            </a:r>
            <a:endParaRPr lang="en-US" sz="3000" dirty="0"/>
          </a:p>
        </p:txBody>
      </p:sp>
      <p:sp>
        <p:nvSpPr>
          <p:cNvPr id="22" name="Shelf circle"/>
          <p:cNvSpPr/>
          <p:nvPr/>
        </p:nvSpPr>
        <p:spPr>
          <a:xfrm>
            <a:off x="9326880" y="4160520"/>
            <a:ext cx="777240" cy="777240"/>
          </a:xfrm>
          <a:prstGeom prst="ellipse">
            <a:avLst/>
          </a:prstGeom>
          <a:solidFill>
            <a:srgbClr val="3A4D6B"/>
          </a:solidFill>
          <a:ln w="12700">
            <a:solidFill>
              <a:srgbClr val="3A4D6B"/>
            </a:solidFill>
            <a:prstDash val="solid"/>
          </a:ln>
        </p:spPr>
      </p:sp>
      <p:pic>
        <p:nvPicPr>
          <p:cNvPr id="23" name="Shelf icon" descr="preencoded.png">    </p:cNvPr>
          <p:cNvPicPr>
            <a:picLocks noChangeAspect="1"/>
          </p:cNvPicPr>
          <p:nvPr/>
        </p:nvPicPr>
        <p:blipFill>
          <a:blip r:embed="rId4"/>
          <a:stretch>
            <a:fillRect/>
          </a:stretch>
        </p:blipFill>
        <p:spPr>
          <a:xfrm>
            <a:off x="9513418" y="4347058"/>
            <a:ext cx="404165" cy="404165"/>
          </a:xfrm>
          <a:prstGeom prst="rect">
            <a:avLst/>
          </a:prstGeom>
        </p:spPr>
      </p:pic>
      <p:sp>
        <p:nvSpPr>
          <p:cNvPr id="24" name="Text 18"/>
          <p:cNvSpPr txBox="1"/>
          <p:nvPr/>
        </p:nvSpPr>
        <p:spPr>
          <a:xfrm>
            <a:off x="8869680" y="5029200"/>
            <a:ext cx="1691640" cy="365760"/>
          </a:xfrm>
          <a:prstGeom prst="rect">
            <a:avLst/>
          </a:prstGeom>
          <a:noFill/>
          <a:ln/>
        </p:spPr>
        <p:txBody>
          <a:bodyPr wrap="square" lIns="0" tIns="0" rIns="0" bIns="0" rtlCol="0" anchor="ctr"/>
          <a:lstStyle/>
          <a:p>
            <a:pPr algn="ctr" indent="0" marL="0">
              <a:buNone/>
            </a:pPr>
            <a:r>
              <a:rPr lang="en-US" sz="1500" dirty="0">
                <a:solidFill>
                  <a:schemeClr val="bg2"/>
                </a:solidFill>
              </a:rPr>
              <a:t>Shelf</a:t>
            </a:r>
            <a:endParaRPr lang="en-US" sz="1500" dirty="0"/>
          </a:p>
        </p:txBody>
      </p:sp>
      <p:sp>
        <p:nvSpPr>
          <p:cNvPr id="25" name="Text 19"/>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300" dirty="0">
                <a:solidFill>
                  <a:schemeClr val="bg2"/>
                </a:solidFill>
              </a:rPr>
              <a:t>Group 3: Charlotte Zhu, Shihan Wang, Jing Chang, Rachel Liu · Time Series Analysis and Forecasting · UCLA Anderson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5,748 daily series, one 28-day test window</a:t>
            </a:r>
            <a:endParaRPr lang="en-US" sz="3400" dirty="0"/>
          </a:p>
        </p:txBody>
      </p:sp>
      <p:sp>
        <p:nvSpPr>
          <p:cNvPr id="3" name="train bar"/>
          <p:cNvSpPr/>
          <p:nvPr/>
        </p:nvSpPr>
        <p:spPr>
          <a:xfrm>
            <a:off x="548640" y="1325880"/>
            <a:ext cx="9326880" cy="685800"/>
          </a:xfrm>
          <a:prstGeom prst="roundRect">
            <a:avLst>
              <a:gd name="adj" fmla="val 10667"/>
            </a:avLst>
          </a:prstGeom>
          <a:solidFill>
            <a:srgbClr val="1B2A41"/>
          </a:solidFill>
          <a:ln w="12700">
            <a:solidFill>
              <a:srgbClr val="1B2A41"/>
            </a:solidFill>
            <a:prstDash val="solid"/>
          </a:ln>
        </p:spPr>
      </p:sp>
      <p:sp>
        <p:nvSpPr>
          <p:cNvPr id="4" name="Text 2"/>
          <p:cNvSpPr txBox="1"/>
          <p:nvPr/>
        </p:nvSpPr>
        <p:spPr>
          <a:xfrm>
            <a:off x="777240" y="1325880"/>
            <a:ext cx="8961120" cy="685800"/>
          </a:xfrm>
          <a:prstGeom prst="rect">
            <a:avLst/>
          </a:prstGeom>
          <a:noFill/>
          <a:ln/>
        </p:spPr>
        <p:txBody>
          <a:bodyPr wrap="square" lIns="0" tIns="0" rIns="0" bIns="0" rtlCol="0" anchor="ctr"/>
          <a:lstStyle/>
          <a:p>
            <a:pPr indent="0" marL="0">
              <a:buNone/>
            </a:pPr>
            <a:r>
              <a:rPr lang="en-US" sz="1500" b="1" dirty="0">
                <a:solidFill>
                  <a:srgbClr val="FFFFFF"/>
                </a:solidFill>
              </a:rPr>
              <a:t>Training: Jan 29, 2011 – May 22, 2016 (1,941 days) · models fitted and tuned here</a:t>
            </a:r>
            <a:endParaRPr lang="en-US" sz="1500" dirty="0"/>
          </a:p>
        </p:txBody>
      </p:sp>
      <p:sp>
        <p:nvSpPr>
          <p:cNvPr id="5" name="test bar"/>
          <p:cNvSpPr/>
          <p:nvPr/>
        </p:nvSpPr>
        <p:spPr>
          <a:xfrm>
            <a:off x="9966960" y="1325880"/>
            <a:ext cx="1645920" cy="685800"/>
          </a:xfrm>
          <a:prstGeom prst="roundRect">
            <a:avLst>
              <a:gd name="adj" fmla="val 10667"/>
            </a:avLst>
          </a:prstGeom>
          <a:solidFill>
            <a:srgbClr val="F2B33D"/>
          </a:solidFill>
          <a:ln w="12700">
            <a:solidFill>
              <a:srgbClr val="F2B33D"/>
            </a:solidFill>
            <a:prstDash val="solid"/>
          </a:ln>
        </p:spPr>
      </p:sp>
      <p:sp>
        <p:nvSpPr>
          <p:cNvPr id="6" name="Text 4"/>
          <p:cNvSpPr txBox="1"/>
          <p:nvPr/>
        </p:nvSpPr>
        <p:spPr>
          <a:xfrm>
            <a:off x="9966960" y="1325880"/>
            <a:ext cx="1645920" cy="685800"/>
          </a:xfrm>
          <a:prstGeom prst="rect">
            <a:avLst/>
          </a:prstGeom>
          <a:noFill/>
          <a:ln/>
        </p:spPr>
        <p:txBody>
          <a:bodyPr wrap="square" lIns="0" tIns="0" rIns="0" bIns="0" rtlCol="0" anchor="ctr"/>
          <a:lstStyle/>
          <a:p>
            <a:pPr algn="ctr" indent="0" marL="0">
              <a:buNone/>
            </a:pPr>
            <a:r>
              <a:rPr lang="en-US" sz="1500" b="1" dirty="0">
                <a:solidFill>
                  <a:srgbClr val="1F2328"/>
                </a:solidFill>
              </a:rPr>
              <a:t>Test: 28 days</a:t>
            </a:r>
            <a:endParaRPr lang="en-US" sz="1500" dirty="0"/>
          </a:p>
        </p:txBody>
      </p:sp>
      <p:sp>
        <p:nvSpPr>
          <p:cNvPr id="7" name="Text 5"/>
          <p:cNvSpPr txBox="1"/>
          <p:nvPr/>
        </p:nvSpPr>
        <p:spPr>
          <a:xfrm>
            <a:off x="548640" y="2103120"/>
            <a:ext cx="11064240" cy="320040"/>
          </a:xfrm>
          <a:prstGeom prst="rect">
            <a:avLst/>
          </a:prstGeom>
          <a:noFill/>
          <a:ln/>
        </p:spPr>
        <p:txBody>
          <a:bodyPr wrap="square" lIns="0" tIns="0" rIns="0" bIns="0" rtlCol="0" anchor="ctr"/>
          <a:lstStyle/>
          <a:p>
            <a:pPr indent="0" marL="0">
              <a:buNone/>
            </a:pPr>
            <a:r>
              <a:rPr lang="en-US" sz="1300" dirty="0">
                <a:solidFill>
                  <a:srgbClr val="6B6A66"/>
                </a:solidFill>
              </a:rPr>
              <a:t>May 23 – Jun 19, 2016, never seen by any model. LightGBM tuning used only the last 28 training days.</a:t>
            </a:r>
            <a:endParaRPr lang="en-US" sz="1300" dirty="0"/>
          </a:p>
        </p:txBody>
      </p:sp>
      <p:graphicFrame>
        <p:nvGraphicFramePr>
          <p:cNvPr id="8" name="weekly sales chart" descr=""/>
          <p:cNvGraphicFramePr/>
          <p:nvPr/>
        </p:nvGraphicFramePr>
        <p:xfrm>
          <a:off x="548640" y="260604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9" name="data card 0"/>
          <p:cNvSpPr/>
          <p:nvPr/>
        </p:nvSpPr>
        <p:spPr>
          <a:xfrm>
            <a:off x="7680960" y="2697480"/>
            <a:ext cx="3931920" cy="1051560"/>
          </a:xfrm>
          <a:prstGeom prst="roundRect">
            <a:avLst>
              <a:gd name="adj" fmla="val 10435"/>
            </a:avLst>
          </a:prstGeom>
          <a:solidFill>
            <a:schemeClr val="bg2"/>
          </a:solidFill>
          <a:ln w="12700">
            <a:solidFill>
              <a:schemeClr val="bg2"/>
            </a:solidFill>
            <a:prstDash val="solid"/>
          </a:ln>
        </p:spPr>
      </p:sp>
      <p:sp>
        <p:nvSpPr>
          <p:cNvPr id="10" name="Text 7"/>
          <p:cNvSpPr txBox="1"/>
          <p:nvPr/>
        </p:nvSpPr>
        <p:spPr>
          <a:xfrm>
            <a:off x="7909560" y="2788920"/>
            <a:ext cx="356616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4 stores × 1,437 items</a:t>
            </a:r>
            <a:endParaRPr lang="en-US" sz="1800" dirty="0"/>
          </a:p>
        </p:txBody>
      </p:sp>
      <p:sp>
        <p:nvSpPr>
          <p:cNvPr id="11" name="Text 8"/>
          <p:cNvSpPr txBox="1"/>
          <p:nvPr/>
        </p:nvSpPr>
        <p:spPr>
          <a:xfrm>
            <a:off x="7909560" y="3200400"/>
            <a:ext cx="3566160" cy="502920"/>
          </a:xfrm>
          <a:prstGeom prst="rect">
            <a:avLst/>
          </a:prstGeom>
          <a:noFill/>
          <a:ln/>
        </p:spPr>
        <p:txBody>
          <a:bodyPr wrap="square" lIns="0" tIns="0" rIns="0" bIns="0" rtlCol="0" anchor="t"/>
          <a:lstStyle/>
          <a:p>
            <a:pPr indent="0" marL="0">
              <a:buNone/>
            </a:pPr>
            <a:r>
              <a:rPr lang="en-US" sz="1300" dirty="0">
                <a:solidFill>
                  <a:schemeClr val="tx1"/>
                </a:solidFill>
              </a:rPr>
              <a:t>California, food category = 5,748 item × store series</a:t>
            </a:r>
            <a:endParaRPr lang="en-US" sz="1300" dirty="0"/>
          </a:p>
        </p:txBody>
      </p:sp>
      <p:sp>
        <p:nvSpPr>
          <p:cNvPr id="12" name="data card 1"/>
          <p:cNvSpPr/>
          <p:nvPr/>
        </p:nvSpPr>
        <p:spPr>
          <a:xfrm>
            <a:off x="7680960" y="3886200"/>
            <a:ext cx="3931920" cy="1051560"/>
          </a:xfrm>
          <a:prstGeom prst="roundRect">
            <a:avLst>
              <a:gd name="adj" fmla="val 10435"/>
            </a:avLst>
          </a:prstGeom>
          <a:solidFill>
            <a:schemeClr val="bg2"/>
          </a:solidFill>
          <a:ln w="12700">
            <a:solidFill>
              <a:schemeClr val="bg2"/>
            </a:solidFill>
            <a:prstDash val="solid"/>
          </a:ln>
        </p:spPr>
      </p:sp>
      <p:sp>
        <p:nvSpPr>
          <p:cNvPr id="13" name="Text 10"/>
          <p:cNvSpPr txBox="1"/>
          <p:nvPr/>
        </p:nvSpPr>
        <p:spPr>
          <a:xfrm>
            <a:off x="7909560" y="3977640"/>
            <a:ext cx="356616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WRMSSE</a:t>
            </a:r>
            <a:endParaRPr lang="en-US" sz="1800" dirty="0"/>
          </a:p>
        </p:txBody>
      </p:sp>
      <p:sp>
        <p:nvSpPr>
          <p:cNvPr id="14" name="Text 11"/>
          <p:cNvSpPr txBox="1"/>
          <p:nvPr/>
        </p:nvSpPr>
        <p:spPr>
          <a:xfrm>
            <a:off x="7909560" y="4389120"/>
            <a:ext cx="3566160" cy="502920"/>
          </a:xfrm>
          <a:prstGeom prst="rect">
            <a:avLst/>
          </a:prstGeom>
          <a:noFill/>
          <a:ln/>
        </p:spPr>
        <p:txBody>
          <a:bodyPr wrap="square" lIns="0" tIns="0" rIns="0" bIns="0" rtlCol="0" anchor="t"/>
          <a:lstStyle/>
          <a:p>
            <a:pPr indent="0" marL="0">
              <a:buNone/>
            </a:pPr>
            <a:r>
              <a:rPr lang="en-US" sz="1300" dirty="0">
                <a:solidFill>
                  <a:schemeClr val="tx1"/>
                </a:solidFill>
              </a:rPr>
              <a:t>The official M5 score: scaled, sales-weighted error; below 1 beats naive</a:t>
            </a:r>
            <a:endParaRPr lang="en-US" sz="1300" dirty="0"/>
          </a:p>
        </p:txBody>
      </p:sp>
      <p:sp>
        <p:nvSpPr>
          <p:cNvPr id="15" name="data card 2"/>
          <p:cNvSpPr/>
          <p:nvPr/>
        </p:nvSpPr>
        <p:spPr>
          <a:xfrm>
            <a:off x="7680960" y="5074920"/>
            <a:ext cx="3931920" cy="1051560"/>
          </a:xfrm>
          <a:prstGeom prst="roundRect">
            <a:avLst>
              <a:gd name="adj" fmla="val 10435"/>
            </a:avLst>
          </a:prstGeom>
          <a:solidFill>
            <a:schemeClr val="bg2"/>
          </a:solidFill>
          <a:ln w="12700">
            <a:solidFill>
              <a:schemeClr val="bg2"/>
            </a:solidFill>
            <a:prstDash val="solid"/>
          </a:ln>
        </p:spPr>
      </p:sp>
      <p:sp>
        <p:nvSpPr>
          <p:cNvPr id="16" name="Text 13"/>
          <p:cNvSpPr txBox="1"/>
          <p:nvPr/>
        </p:nvSpPr>
        <p:spPr>
          <a:xfrm>
            <a:off x="7909560" y="5166360"/>
            <a:ext cx="3566160" cy="411480"/>
          </a:xfrm>
          <a:prstGeom prst="rect">
            <a:avLst/>
          </a:prstGeom>
          <a:noFill/>
          <a:ln/>
        </p:spPr>
        <p:txBody>
          <a:bodyPr wrap="square" lIns="0" tIns="0" rIns="0" bIns="0" rtlCol="0" anchor="ctr"/>
          <a:lstStyle/>
          <a:p>
            <a:pPr indent="0" marL="0">
              <a:buNone/>
            </a:pPr>
            <a:r>
              <a:rPr lang="en-US" sz="1800" b="1" dirty="0">
                <a:solidFill>
                  <a:srgbClr val="EB6834"/>
                </a:solidFill>
                <a:latin typeface="Cambria" pitchFamily="34" charset="0"/>
                <a:ea typeface="Cambria" pitchFamily="34" charset="-122"/>
                <a:cs typeface="Cambria" pitchFamily="34" charset="-120"/>
              </a:rPr>
              <a:t>One test window</a:t>
            </a:r>
            <a:endParaRPr lang="en-US" sz="1800" dirty="0"/>
          </a:p>
        </p:txBody>
      </p:sp>
      <p:sp>
        <p:nvSpPr>
          <p:cNvPr id="17" name="Text 14"/>
          <p:cNvSpPr txBox="1"/>
          <p:nvPr/>
        </p:nvSpPr>
        <p:spPr>
          <a:xfrm>
            <a:off x="7909560" y="5577840"/>
            <a:ext cx="3566160" cy="502920"/>
          </a:xfrm>
          <a:prstGeom prst="rect">
            <a:avLst/>
          </a:prstGeom>
          <a:noFill/>
          <a:ln/>
        </p:spPr>
        <p:txBody>
          <a:bodyPr wrap="square" lIns="0" tIns="0" rIns="0" bIns="0" rtlCol="0" anchor="t"/>
          <a:lstStyle/>
          <a:p>
            <a:pPr indent="0" marL="0">
              <a:buNone/>
            </a:pPr>
            <a:r>
              <a:rPr lang="en-US" sz="1300" dirty="0">
                <a:solidFill>
                  <a:schemeClr val="tx1"/>
                </a:solidFill>
              </a:rPr>
              <a:t>All results come from a single 28 days; rankings could shift</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Five models plus a simple average</a:t>
            </a:r>
            <a:endParaRPr lang="en-US" sz="3400" dirty="0"/>
          </a:p>
        </p:txBody>
      </p:sp>
      <p:graphicFrame>
        <p:nvGraphicFramePr>
          <p:cNvPr id="4" name="model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2194560"/>
                <a:gridCol w="4206240"/>
                <a:gridCol w="2743200"/>
              </a:tblGrid>
              <a:tr h="457200">
                <a:tc>
                  <a:txBody>
                    <a:bodyPr/>
                    <a:lstStyle/>
                    <a:p>
                      <a:pPr indent="0" marL="0">
                        <a:buNone/>
                      </a:pPr>
                      <a:r>
                        <a:rPr lang="en-US" sz="1500" b="1" dirty="0">
                          <a:solidFill>
                            <a:srgbClr val="FFFFFF"/>
                          </a:solidFill>
                        </a:rPr>
                        <a:t>Model</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indent="0" marL="0">
                        <a:buNone/>
                      </a:pPr>
                      <a:r>
                        <a:rPr lang="en-US" sz="1500" b="1" dirty="0">
                          <a:solidFill>
                            <a:srgbClr val="FFFFFF"/>
                          </a:solidFill>
                        </a:rPr>
                        <a:t>Family</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indent="0" marL="0">
                        <a:buNone/>
                      </a:pPr>
                      <a:r>
                        <a:rPr lang="en-US" sz="1500" b="1" dirty="0">
                          <a:solidFill>
                            <a:srgbClr val="FFFFFF"/>
                          </a:solidFill>
                        </a:rPr>
                        <a:t>How it is fitted</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indent="0" marL="0">
                        <a:buNone/>
                      </a:pPr>
                      <a:r>
                        <a:rPr lang="en-US" sz="1500" b="1" dirty="0">
                          <a:solidFill>
                            <a:srgbClr val="FFFFFF"/>
                          </a:solidFill>
                        </a:rPr>
                        <a:t>What it sees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r>
              <a:tr h="457200">
                <a:tc>
                  <a:txBody>
                    <a:bodyPr/>
                    <a:lstStyle/>
                    <a:p>
                      <a:pPr indent="0" marL="0">
                        <a:buNone/>
                      </a:pPr>
                      <a:r>
                        <a:rPr lang="en-US" sz="1500" b="1" dirty="0">
                          <a:solidFill>
                            <a:srgbClr val="D55181"/>
                          </a:solidFill>
                        </a:rPr>
                        <a:t>AutoETS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Statistics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model per series (exponential smoothing)</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Own history</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1BAF7A"/>
                          </a:solidFill>
                        </a:rPr>
                        <a:t>AutoARIMA</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Statistics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model per series (seasonal ARIMA)</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Own history</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2A78D6"/>
                          </a:solidFill>
                        </a:rPr>
                        <a:t>LightGBM</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Machine learning</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One model trained across all items, predicts each item</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History + price, calendar, SNAP</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EB6834"/>
                          </a:solidFill>
                        </a:rPr>
                        <a:t>Chronos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AI foundation model</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Pre-trained by Amazon, zero-shot: no training on our data</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Own history</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0F5C73"/>
                          </a:solidFill>
                        </a:rPr>
                        <a:t>Ensemble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Combination</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Unweighted average of AutoETS and LightGBM</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Their two forecasts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9A9993"/>
                          </a:solidFill>
                        </a:rPr>
                        <a:t>Seasonal naive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Benchmark</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Repeats the same weekday last week</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Last week</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500" b="1" dirty="0">
                          <a:solidFill>
                            <a:srgbClr val="4A3AA7"/>
                          </a:solidFill>
                        </a:rPr>
                        <a:t>Claude (experiment)</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General-purpose AI</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Reads sales as text and reasons; 112 series only</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F2328"/>
                          </a:solidFill>
                        </a:rPr>
                        <a:t>History + price, calendar</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4" name="inputs note"/>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sp>
      <p:sp>
        <p:nvSpPr>
          <p:cNvPr id="5" name="Text 2"/>
          <p:cNvSpPr txBox="1"/>
          <p:nvPr/>
        </p:nvSpPr>
        <p:spPr>
          <a:xfrm>
            <a:off x="822960" y="5577840"/>
            <a:ext cx="10607040" cy="640080"/>
          </a:xfrm>
          <a:prstGeom prst="rect">
            <a:avLst/>
          </a:prstGeom>
          <a:noFill/>
          <a:ln/>
        </p:spPr>
        <p:txBody>
          <a:bodyPr wrap="square" lIns="0" tIns="0" rIns="0" bIns="0" rtlCol="0" anchor="ctr"/>
          <a:lstStyle/>
          <a:p>
            <a:pPr indent="0" marL="0">
              <a:buNone/>
            </a:pPr>
            <a:r>
              <a:rPr lang="en-US" sz="1400" b="1" dirty="0">
                <a:solidFill>
                  <a:schemeClr val="tx2"/>
                </a:solidFill>
              </a:rPr>
              <a:t>Inputs differ: </a:t>
            </a:r>
            <a:pPr indent="0" marL="0">
              <a:buNone/>
            </a:pPr>
            <a:r>
              <a:rPr lang="en-US" sz="1400" dirty="0">
                <a:solidFill>
                  <a:schemeClr val="tx2"/>
                </a:solidFill>
              </a:rPr>
              <a:t>AutoETS, AutoARIMA and Chronos see only each series' own history; LightGBM and Claude also see prices and the calendar.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Traditional wins accuracy; AI wins speed</a:t>
            </a:r>
            <a:endParaRPr lang="en-US" sz="3400" dirty="0"/>
          </a:p>
        </p:txBody>
      </p:sp>
      <p:graphicFrame>
        <p:nvGraphicFramePr>
          <p:cNvPr id="5" name="scorecard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1691640"/>
                <a:gridCol w="1691640"/>
                <a:gridCol w="1600200"/>
                <a:gridCol w="1508760"/>
                <a:gridCol w="1463040"/>
              </a:tblGrid>
              <a:tr h="685800">
                <a:tc>
                  <a:txBody>
                    <a:bodyPr/>
                    <a:lstStyle/>
                    <a:p>
                      <a:pPr algn="l" indent="0" marL="0">
                        <a:buNone/>
                      </a:pPr>
                      <a:r>
                        <a:rPr lang="en-US" sz="1500" b="1" dirty="0">
                          <a:solidFill>
                            <a:srgbClr val="FFFFFF"/>
                          </a:solidFill>
                        </a:rPr>
                        <a:t>Model</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algn="ctr" indent="0" marL="0">
                        <a:buNone/>
                      </a:pPr>
                      <a:r>
                        <a:rPr lang="en-US" sz="1500" b="1" dirty="0">
                          <a:solidFill>
                            <a:srgbClr val="FFFFFF"/>
                          </a:solidFill>
                        </a:rPr>
                        <a:t>Overall accuracy</a:t>
                      </a:r>
                      <a:endParaRPr lang="en-US" sz="1500" dirty="0"/>
                    </a:p>
                    <a:p>
                      <a:pPr algn="ctr" indent="0" marL="0">
                        <a:buNone/>
                      </a:pPr>
                      <a:r>
                        <a:rPr lang="en-US" sz="1500" b="1" dirty="0">
                          <a:solidFill>
                            <a:srgbClr val="FFFFFF"/>
                          </a:solidFill>
                        </a:rPr>
                        <a:t>(WRMSSE)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algn="ctr" indent="0" marL="0">
                        <a:buNone/>
                      </a:pPr>
                      <a:r>
                        <a:rPr lang="en-US" sz="1500" b="1" dirty="0">
                          <a:solidFill>
                            <a:srgbClr val="FFFFFF"/>
                          </a:solidFill>
                        </a:rPr>
                        <a:t>Store totals</a:t>
                      </a:r>
                      <a:endParaRPr lang="en-US" sz="1500" dirty="0"/>
                    </a:p>
                    <a:p>
                      <a:pPr algn="ctr" indent="0" marL="0">
                        <a:buNone/>
                      </a:pPr>
                      <a:r>
                        <a:rPr lang="en-US" sz="1500" b="1" dirty="0">
                          <a:solidFill>
                            <a:srgbClr val="FFFFFF"/>
                          </a:solidFill>
                        </a:rPr>
                        <a:t>(daily error)</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algn="ctr" indent="0" marL="0">
                        <a:buNone/>
                      </a:pPr>
                      <a:r>
                        <a:rPr lang="en-US" sz="1500" b="1" dirty="0">
                          <a:solidFill>
                            <a:srgbClr val="FFFFFF"/>
                          </a:solidFill>
                        </a:rPr>
                        <a:t>Single items</a:t>
                      </a:r>
                      <a:endParaRPr lang="en-US" sz="1500" dirty="0"/>
                    </a:p>
                    <a:p>
                      <a:pPr algn="ctr" indent="0" marL="0">
                        <a:buNone/>
                      </a:pPr>
                      <a:r>
                        <a:rPr lang="en-US" sz="1500" b="1" dirty="0">
                          <a:solidFill>
                            <a:srgbClr val="FFFFFF"/>
                          </a:solidFill>
                        </a:rPr>
                        <a:t>(RMSSE)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algn="ctr" indent="0" marL="0">
                        <a:buNone/>
                      </a:pPr>
                      <a:r>
                        <a:rPr lang="en-US" sz="1500" b="1" dirty="0">
                          <a:solidFill>
                            <a:srgbClr val="FFFFFF"/>
                          </a:solidFill>
                        </a:rPr>
                        <a:t>Time for</a:t>
                      </a:r>
                      <a:endParaRPr lang="en-US" sz="1500" dirty="0"/>
                    </a:p>
                    <a:p>
                      <a:pPr algn="ctr" indent="0" marL="0">
                        <a:buNone/>
                      </a:pPr>
                      <a:r>
                        <a:rPr lang="en-US" sz="1500" b="1" dirty="0">
                          <a:solidFill>
                            <a:srgbClr val="FFFFFF"/>
                          </a:solidFill>
                        </a:rPr>
                        <a:t>all series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c>
                  <a:txBody>
                    <a:bodyPr/>
                    <a:lstStyle/>
                    <a:p>
                      <a:pPr algn="ctr" indent="0" marL="0">
                        <a:buNone/>
                      </a:pPr>
                      <a:r>
                        <a:rPr lang="en-US" sz="1500" b="1" dirty="0">
                          <a:solidFill>
                            <a:srgbClr val="FFFFFF"/>
                          </a:solidFill>
                        </a:rPr>
                        <a:t>Training</a:t>
                      </a:r>
                      <a:endParaRPr lang="en-US" sz="1500" dirty="0"/>
                    </a:p>
                    <a:p>
                      <a:pPr algn="ctr" indent="0" marL="0">
                        <a:buNone/>
                      </a:pPr>
                      <a:r>
                        <a:rPr lang="en-US" sz="1500" b="1" dirty="0">
                          <a:solidFill>
                            <a:srgbClr val="FFFFFF"/>
                          </a:solidFill>
                        </a:rPr>
                        <a:t>needed</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B2A41"/>
                    </a:solidFill>
                  </a:tcPr>
                </a:tc>
              </a:tr>
              <a:tr h="502920">
                <a:tc>
                  <a:txBody>
                    <a:bodyPr/>
                    <a:lstStyle/>
                    <a:p>
                      <a:pPr indent="0" marL="0">
                        <a:buNone/>
                      </a:pPr>
                      <a:r>
                        <a:rPr lang="en-US" sz="1500" b="1" dirty="0">
                          <a:solidFill>
                            <a:srgbClr val="0F5C73"/>
                          </a:solidFill>
                        </a:rPr>
                        <a:t>Ensemble (AutoETS + LightGBM)</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b="1" dirty="0">
                          <a:solidFill>
                            <a:srgbClr val="1F2328"/>
                          </a:solidFill>
                        </a:rPr>
                        <a:t>0.604</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DDF2E3"/>
                    </a:solidFill>
                  </a:tcPr>
                </a:tc>
                <a:tc>
                  <a:txBody>
                    <a:bodyPr/>
                    <a:lstStyle/>
                    <a:p>
                      <a:pPr algn="ctr" indent="0" marL="0">
                        <a:buNone/>
                      </a:pPr>
                      <a:r>
                        <a:rPr lang="en-US" sz="1500" b="1" dirty="0">
                          <a:solidFill>
                            <a:srgbClr val="1F2328"/>
                          </a:solidFill>
                        </a:rPr>
                        <a:t>3.6%</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DDF2E3"/>
                    </a:solidFill>
                  </a:tcPr>
                </a:tc>
                <a:tc>
                  <a:txBody>
                    <a:bodyPr/>
                    <a:lstStyle/>
                    <a:p>
                      <a:pPr algn="ctr" indent="0" marL="0">
                        <a:buNone/>
                      </a:pPr>
                      <a:r>
                        <a:rPr lang="en-US" sz="1500" b="1" dirty="0">
                          <a:solidFill>
                            <a:srgbClr val="1F2328"/>
                          </a:solidFill>
                        </a:rPr>
                        <a:t>0.90</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DDF2E3"/>
                    </a:solidFill>
                  </a:tcPr>
                </a:tc>
                <a:tc>
                  <a:txBody>
                    <a:bodyPr/>
                    <a:lstStyle/>
                    <a:p>
                      <a:pPr algn="ctr" indent="0" marL="0">
                        <a:buNone/>
                      </a:pPr>
                      <a:r>
                        <a:rPr lang="en-US" sz="1500" dirty="0">
                          <a:solidFill>
                            <a:srgbClr val="1F2328"/>
                          </a:solidFill>
                        </a:rPr>
                        <a:t>~3 min</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Yes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2A78D6"/>
                          </a:solidFill>
                        </a:rPr>
                        <a:t>LightGBM</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dirty="0">
                          <a:solidFill>
                            <a:srgbClr val="1F2328"/>
                          </a:solidFill>
                        </a:rPr>
                        <a:t>0.646</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4.1%</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0.92</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80 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Yes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D55181"/>
                          </a:solidFill>
                        </a:rPr>
                        <a:t>AutoETS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dirty="0">
                          <a:solidFill>
                            <a:srgbClr val="1F2328"/>
                          </a:solidFill>
                        </a:rPr>
                        <a:t>0.661</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4.9%</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0.93</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86 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Yes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1BAF7A"/>
                          </a:solidFill>
                        </a:rPr>
                        <a:t>AutoARIMA</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dirty="0">
                          <a:solidFill>
                            <a:srgbClr val="1F2328"/>
                          </a:solidFill>
                        </a:rPr>
                        <a:t>0.892</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9.9%</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0.94</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39 min</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Yes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r h="502920">
                <a:tc>
                  <a:txBody>
                    <a:bodyPr/>
                    <a:lstStyle/>
                    <a:p>
                      <a:pPr indent="0" marL="0">
                        <a:buNone/>
                      </a:pPr>
                      <a:r>
                        <a:rPr lang="en-US" sz="1500" b="1" dirty="0">
                          <a:solidFill>
                            <a:srgbClr val="EB6834"/>
                          </a:solidFill>
                        </a:rPr>
                        <a:t>Chronos (AI)</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dirty="0">
                          <a:solidFill>
                            <a:srgbClr val="1F2328"/>
                          </a:solidFill>
                        </a:rPr>
                        <a:t>0.949</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10.4%</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328"/>
                          </a:solidFill>
                        </a:rPr>
                        <a:t>0.92</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F2328"/>
                          </a:solidFill>
                        </a:rPr>
                        <a:t>10 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DDF2E3"/>
                    </a:solidFill>
                  </a:tcPr>
                </a:tc>
                <a:tc>
                  <a:txBody>
                    <a:bodyPr/>
                    <a:lstStyle/>
                    <a:p>
                      <a:pPr algn="ctr" indent="0" marL="0">
                        <a:buNone/>
                      </a:pPr>
                      <a:r>
                        <a:rPr lang="en-US" sz="1500" b="1" dirty="0">
                          <a:solidFill>
                            <a:srgbClr val="1F2328"/>
                          </a:solidFill>
                        </a:rPr>
                        <a:t>None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DDF2E3"/>
                    </a:solidFill>
                  </a:tcPr>
                </a:tc>
              </a:tr>
              <a:tr h="502920">
                <a:tc>
                  <a:txBody>
                    <a:bodyPr/>
                    <a:lstStyle/>
                    <a:p>
                      <a:pPr indent="0" marL="0">
                        <a:buNone/>
                      </a:pPr>
                      <a:r>
                        <a:rPr lang="en-US" sz="1500" b="1" dirty="0">
                          <a:solidFill>
                            <a:srgbClr val="9A9993"/>
                          </a:solidFill>
                        </a:rPr>
                        <a:t>Seasonal naive (benchmark)</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ctr" indent="0" marL="0">
                        <a:buNone/>
                      </a:pPr>
                      <a:r>
                        <a:rPr lang="en-US" sz="1500" dirty="0">
                          <a:solidFill>
                            <a:srgbClr val="6B6A66"/>
                          </a:solidFill>
                        </a:rPr>
                        <a:t>0.814</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6A66"/>
                          </a:solidFill>
                        </a:rPr>
                        <a:t>5.5%</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6A66"/>
                          </a:solidFill>
                        </a:rPr>
                        <a:t>1.17</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6A66"/>
                          </a:solidFill>
                        </a:rPr>
                        <a:t>&lt;1 s</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6B6A66"/>
                          </a:solidFill>
                        </a:rPr>
                        <a:t>None</a:t>
                      </a:r>
                      <a:endParaRPr lang="en-US" sz="15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029200"/>
            <a:ext cx="11064240" cy="274320"/>
          </a:xfrm>
          <a:prstGeom prst="rect">
            <a:avLst/>
          </a:prstGeom>
          <a:noFill/>
          <a:ln/>
        </p:spPr>
        <p:txBody>
          <a:bodyPr wrap="square" lIns="0" tIns="0" rIns="0" bIns="0" rtlCol="0" anchor="ctr"/>
          <a:lstStyle/>
          <a:p>
            <a:pPr algn="r" indent="0" marL="0">
              <a:buNone/>
            </a:pPr>
            <a:r>
              <a:rPr lang="en-US" sz="1100" dirty="0">
                <a:solidFill>
                  <a:srgbClr val="6B6A66"/>
                </a:solidFill>
              </a:rPr>
              <a:t>Green = best in its column (benchmark excluded)</a:t>
            </a:r>
            <a:endParaRPr lang="en-US" sz="1100" dirty="0"/>
          </a:p>
        </p:txBody>
      </p:sp>
      <p:sp>
        <p:nvSpPr>
          <p:cNvPr id="5" name="scorecard summary"/>
          <p:cNvSpPr/>
          <p:nvPr/>
        </p:nvSpPr>
        <p:spPr>
          <a:xfrm>
            <a:off x="548640" y="5486400"/>
            <a:ext cx="11064240" cy="731520"/>
          </a:xfrm>
          <a:prstGeom prst="roundRect">
            <a:avLst>
              <a:gd name="adj" fmla="val 15000"/>
            </a:avLst>
          </a:prstGeom>
          <a:solidFill>
            <a:schemeClr val="bg2"/>
          </a:solidFill>
          <a:ln w="12700">
            <a:solidFill>
              <a:schemeClr val="bg2"/>
            </a:solidFill>
            <a:prstDash val="solid"/>
          </a:ln>
        </p:spPr>
      </p:sp>
      <p:sp>
        <p:nvSpPr>
          <p:cNvPr id="6" name="Text 3"/>
          <p:cNvSpPr txBox="1"/>
          <p:nvPr/>
        </p:nvSpPr>
        <p:spPr>
          <a:xfrm>
            <a:off x="822960" y="5486400"/>
            <a:ext cx="10607040" cy="731520"/>
          </a:xfrm>
          <a:prstGeom prst="rect">
            <a:avLst/>
          </a:prstGeom>
          <a:noFill/>
          <a:ln/>
        </p:spPr>
        <p:txBody>
          <a:bodyPr wrap="square" lIns="0" tIns="0" rIns="0" bIns="0" rtlCol="0" anchor="ctr"/>
          <a:lstStyle/>
          <a:p>
            <a:pPr indent="0" marL="0">
              <a:buNone/>
            </a:pPr>
            <a:r>
              <a:rPr lang="en-US" sz="1400" b="1" dirty="0">
                <a:solidFill>
                  <a:srgbClr val="0F5C73"/>
                </a:solidFill>
              </a:rPr>
              <a:t>Best traditional choice: </a:t>
            </a:r>
            <a:pPr indent="0" marL="0">
              <a:buNone/>
            </a:pPr>
            <a:r>
              <a:rPr lang="en-US" sz="1400" dirty="0">
                <a:solidFill>
                  <a:schemeClr val="tx1"/>
                </a:solidFill>
              </a:rPr>
              <a:t>the AutoETS + LightGBM average, for accuracy.   </a:t>
            </a:r>
            <a:pPr indent="0" marL="0">
              <a:buNone/>
            </a:pPr>
            <a:r>
              <a:rPr lang="en-US" sz="1400" b="1" dirty="0">
                <a:solidFill>
                  <a:srgbClr val="EB6834"/>
                </a:solidFill>
              </a:rPr>
              <a:t>Best AI strength: </a:t>
            </a:r>
            <a:pPr indent="0" marL="0">
              <a:buNone/>
            </a:pPr>
            <a:r>
              <a:rPr lang="en-US" sz="1400" dirty="0">
                <a:solidFill>
                  <a:schemeClr val="tx1"/>
                </a:solidFill>
              </a:rPr>
              <a:t>Chronos, for speed with no training.</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Traditional tracks the peaks; the AI runs low</a:t>
            </a:r>
            <a:endParaRPr lang="en-US" sz="3400" dirty="0"/>
          </a:p>
        </p:txBody>
      </p:sp>
      <p:graphicFrame>
        <p:nvGraphicFramePr>
          <p:cNvPr id="3" name="forecast chart" descr=""/>
          <p:cNvGraphicFramePr/>
          <p:nvPr/>
        </p:nvGraphicFramePr>
        <p:xfrm>
          <a:off x="548640" y="137160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4" name="forecast note 0"/>
          <p:cNvSpPr/>
          <p:nvPr/>
        </p:nvSpPr>
        <p:spPr>
          <a:xfrm>
            <a:off x="8321040" y="1463040"/>
            <a:ext cx="3291840" cy="1234440"/>
          </a:xfrm>
          <a:prstGeom prst="roundRect">
            <a:avLst>
              <a:gd name="adj" fmla="val 8889"/>
            </a:avLst>
          </a:prstGeom>
          <a:solidFill>
            <a:schemeClr val="bg2"/>
          </a:solidFill>
          <a:ln w="12700">
            <a:solidFill>
              <a:schemeClr val="bg2"/>
            </a:solidFill>
            <a:prstDash val="solid"/>
          </a:ln>
        </p:spPr>
      </p:sp>
      <p:sp>
        <p:nvSpPr>
          <p:cNvPr id="5" name="Text 2"/>
          <p:cNvSpPr txBox="1"/>
          <p:nvPr/>
        </p:nvSpPr>
        <p:spPr>
          <a:xfrm>
            <a:off x="8549640" y="1572768"/>
            <a:ext cx="2926080" cy="411480"/>
          </a:xfrm>
          <a:prstGeom prst="rect">
            <a:avLst/>
          </a:prstGeom>
          <a:noFill/>
          <a:ln/>
        </p:spPr>
        <p:txBody>
          <a:bodyPr wrap="square" lIns="0" tIns="0" rIns="0" bIns="0" rtlCol="0" anchor="ctr"/>
          <a:lstStyle/>
          <a:p>
            <a:pPr indent="0" marL="0">
              <a:buNone/>
            </a:pPr>
            <a:r>
              <a:rPr lang="en-US" sz="1700" b="1" dirty="0">
                <a:solidFill>
                  <a:srgbClr val="0F5C73"/>
                </a:solidFill>
                <a:latin typeface="Cambria" pitchFamily="34" charset="0"/>
                <a:ea typeface="Cambria" pitchFamily="34" charset="-122"/>
                <a:cs typeface="Cambria" pitchFamily="34" charset="-120"/>
              </a:rPr>
              <a:t>Follows the peaks</a:t>
            </a:r>
            <a:endParaRPr lang="en-US" sz="1700" dirty="0"/>
          </a:p>
        </p:txBody>
      </p:sp>
      <p:sp>
        <p:nvSpPr>
          <p:cNvPr id="6" name="Text 3"/>
          <p:cNvSpPr txBox="1"/>
          <p:nvPr/>
        </p:nvSpPr>
        <p:spPr>
          <a:xfrm>
            <a:off x="8549640" y="2011680"/>
            <a:ext cx="2926080" cy="640080"/>
          </a:xfrm>
          <a:prstGeom prst="rect">
            <a:avLst/>
          </a:prstGeom>
          <a:noFill/>
          <a:ln/>
        </p:spPr>
        <p:txBody>
          <a:bodyPr wrap="square" lIns="0" tIns="0" rIns="0" bIns="0" rtlCol="0" anchor="t"/>
          <a:lstStyle/>
          <a:p>
            <a:pPr indent="0" marL="0">
              <a:buNone/>
            </a:pPr>
            <a:r>
              <a:rPr lang="en-US" sz="1300" dirty="0">
                <a:solidFill>
                  <a:schemeClr val="tx1"/>
                </a:solidFill>
              </a:rPr>
              <a:t>The traditional average rises and falls with every weekend</a:t>
            </a:r>
            <a:endParaRPr lang="en-US" sz="1300" dirty="0"/>
          </a:p>
        </p:txBody>
      </p:sp>
      <p:sp>
        <p:nvSpPr>
          <p:cNvPr id="7" name="forecast note 1"/>
          <p:cNvSpPr/>
          <p:nvPr/>
        </p:nvSpPr>
        <p:spPr>
          <a:xfrm>
            <a:off x="8321040" y="2880360"/>
            <a:ext cx="3291840" cy="1234440"/>
          </a:xfrm>
          <a:prstGeom prst="roundRect">
            <a:avLst>
              <a:gd name="adj" fmla="val 8889"/>
            </a:avLst>
          </a:prstGeom>
          <a:solidFill>
            <a:schemeClr val="bg2"/>
          </a:solidFill>
          <a:ln w="12700">
            <a:solidFill>
              <a:schemeClr val="bg2"/>
            </a:solidFill>
            <a:prstDash val="solid"/>
          </a:ln>
        </p:spPr>
      </p:sp>
      <p:sp>
        <p:nvSpPr>
          <p:cNvPr id="8" name="Text 5"/>
          <p:cNvSpPr txBox="1"/>
          <p:nvPr/>
        </p:nvSpPr>
        <p:spPr>
          <a:xfrm>
            <a:off x="8549640" y="2990088"/>
            <a:ext cx="2926080" cy="411480"/>
          </a:xfrm>
          <a:prstGeom prst="rect">
            <a:avLst/>
          </a:prstGeom>
          <a:noFill/>
          <a:ln/>
        </p:spPr>
        <p:txBody>
          <a:bodyPr wrap="square" lIns="0" tIns="0" rIns="0" bIns="0" rtlCol="0" anchor="ctr"/>
          <a:lstStyle/>
          <a:p>
            <a:pPr indent="0" marL="0">
              <a:buNone/>
            </a:pPr>
            <a:r>
              <a:rPr lang="en-US" sz="1700" b="1" dirty="0">
                <a:solidFill>
                  <a:srgbClr val="1BAF7A"/>
                </a:solidFill>
                <a:latin typeface="Cambria" pitchFamily="34" charset="0"/>
                <a:ea typeface="Cambria" pitchFamily="34" charset="-122"/>
                <a:cs typeface="Cambria" pitchFamily="34" charset="-120"/>
              </a:rPr>
              <a:t>Flat line</a:t>
            </a:r>
            <a:endParaRPr lang="en-US" sz="1700" dirty="0"/>
          </a:p>
        </p:txBody>
      </p:sp>
      <p:sp>
        <p:nvSpPr>
          <p:cNvPr id="9" name="Text 6"/>
          <p:cNvSpPr txBox="1"/>
          <p:nvPr/>
        </p:nvSpPr>
        <p:spPr>
          <a:xfrm>
            <a:off x="8549640" y="3429000"/>
            <a:ext cx="2926080" cy="640080"/>
          </a:xfrm>
          <a:prstGeom prst="rect">
            <a:avLst/>
          </a:prstGeom>
          <a:noFill/>
          <a:ln/>
        </p:spPr>
        <p:txBody>
          <a:bodyPr wrap="square" lIns="0" tIns="0" rIns="0" bIns="0" rtlCol="0" anchor="t"/>
          <a:lstStyle/>
          <a:p>
            <a:pPr indent="0" marL="0">
              <a:buNone/>
            </a:pPr>
            <a:r>
              <a:rPr lang="en-US" sz="1300" dirty="0">
                <a:solidFill>
                  <a:schemeClr val="tx1"/>
                </a:solidFill>
              </a:rPr>
              <a:t>AutoARIMA's product-by-product forecasts add up to a flat total</a:t>
            </a:r>
            <a:endParaRPr lang="en-US" sz="1300" dirty="0"/>
          </a:p>
        </p:txBody>
      </p:sp>
      <p:sp>
        <p:nvSpPr>
          <p:cNvPr id="10" name="forecast note 2"/>
          <p:cNvSpPr/>
          <p:nvPr/>
        </p:nvSpPr>
        <p:spPr>
          <a:xfrm>
            <a:off x="8321040" y="4297680"/>
            <a:ext cx="3291840" cy="1234440"/>
          </a:xfrm>
          <a:prstGeom prst="roundRect">
            <a:avLst>
              <a:gd name="adj" fmla="val 8889"/>
            </a:avLst>
          </a:prstGeom>
          <a:solidFill>
            <a:schemeClr val="bg2"/>
          </a:solidFill>
          <a:ln w="12700">
            <a:solidFill>
              <a:schemeClr val="bg2"/>
            </a:solidFill>
            <a:prstDash val="solid"/>
          </a:ln>
        </p:spPr>
      </p:sp>
      <p:sp>
        <p:nvSpPr>
          <p:cNvPr id="11" name="Text 8"/>
          <p:cNvSpPr txBox="1"/>
          <p:nvPr/>
        </p:nvSpPr>
        <p:spPr>
          <a:xfrm>
            <a:off x="8549640" y="4407408"/>
            <a:ext cx="2926080" cy="411480"/>
          </a:xfrm>
          <a:prstGeom prst="rect">
            <a:avLst/>
          </a:prstGeom>
          <a:noFill/>
          <a:ln/>
        </p:spPr>
        <p:txBody>
          <a:bodyPr wrap="square" lIns="0" tIns="0" rIns="0" bIns="0" rtlCol="0" anchor="ctr"/>
          <a:lstStyle/>
          <a:p>
            <a:pPr indent="0" marL="0">
              <a:buNone/>
            </a:pPr>
            <a:r>
              <a:rPr lang="en-US" sz="1700" b="1" dirty="0">
                <a:solidFill>
                  <a:srgbClr val="EB6834"/>
                </a:solidFill>
                <a:latin typeface="Cambria" pitchFamily="34" charset="0"/>
                <a:ea typeface="Cambria" pitchFamily="34" charset="-122"/>
                <a:cs typeface="Cambria" pitchFamily="34" charset="-120"/>
              </a:rPr>
              <a:t>Right shape, too low</a:t>
            </a:r>
            <a:endParaRPr lang="en-US" sz="1700" dirty="0"/>
          </a:p>
        </p:txBody>
      </p:sp>
      <p:sp>
        <p:nvSpPr>
          <p:cNvPr id="12" name="Text 9"/>
          <p:cNvSpPr txBox="1"/>
          <p:nvPr/>
        </p:nvSpPr>
        <p:spPr>
          <a:xfrm>
            <a:off x="8549640" y="4846320"/>
            <a:ext cx="2926080" cy="640080"/>
          </a:xfrm>
          <a:prstGeom prst="rect">
            <a:avLst/>
          </a:prstGeom>
          <a:noFill/>
          <a:ln/>
        </p:spPr>
        <p:txBody>
          <a:bodyPr wrap="square" lIns="0" tIns="0" rIns="0" bIns="0" rtlCol="0" anchor="t"/>
          <a:lstStyle/>
          <a:p>
            <a:pPr indent="0" marL="0">
              <a:buNone/>
            </a:pPr>
            <a:r>
              <a:rPr lang="en-US" sz="1300" dirty="0">
                <a:solidFill>
                  <a:schemeClr val="tx1"/>
                </a:solidFill>
              </a:rPr>
              <a:t>Chronos sees the weekly rhythm but forecasts about 11% low</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Claude: a language model that reads sales as text</a:t>
            </a:r>
            <a:endParaRPr lang="en-US" sz="3400" dirty="0"/>
          </a:p>
        </p:txBody>
      </p:sp>
      <p:graphicFrame>
        <p:nvGraphicFramePr>
          <p:cNvPr id="3" name="Claude totals chart" descr=""/>
          <p:cNvGraphicFramePr/>
          <p:nvPr/>
        </p:nvGraphicFramePr>
        <p:xfrm>
          <a:off x="548640" y="1371600"/>
          <a:ext cx="6126480" cy="43434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95160" y="1371600"/>
            <a:ext cx="4663440" cy="365760"/>
          </a:xfrm>
          <a:prstGeom prst="rect">
            <a:avLst/>
          </a:prstGeom>
          <a:noFill/>
          <a:ln/>
        </p:spPr>
        <p:txBody>
          <a:bodyPr wrap="square" lIns="0" tIns="0" rIns="0" bIns="0" rtlCol="0" anchor="ctr"/>
          <a:lstStyle/>
          <a:p>
            <a:pPr indent="0" marL="0">
              <a:buNone/>
            </a:pPr>
            <a:r>
              <a:rPr lang="en-US" sz="1500" b="1" dirty="0">
                <a:solidFill>
                  <a:schemeClr val="tx2"/>
                </a:solidFill>
              </a:rPr>
              <a:t>Chronos vs Claude: both pre-trained, zero-shot</a:t>
            </a:r>
            <a:endParaRPr lang="en-US" sz="1500" dirty="0"/>
          </a:p>
        </p:txBody>
      </p:sp>
      <p:graphicFrame>
        <p:nvGraphicFramePr>
          <p:cNvPr id="7" name="Chronos vs Claude table"/>
          <p:cNvGraphicFramePr>
            <a:graphicFrameLocks noGrp="1"/>
          </p:cNvGraphicFramePr>
          <p:nvPr>
            <p:extLst>
              <p:ext uri="{D42A27DB-BD31-4B8C-83A1-F6EECF244321}">
                <p14:modId xmlns:p14="http://schemas.microsoft.com/office/powerpoint/2010/main" val="1579011935"/>
              </p:ext>
            </p:extLst>
          </p:nvPr>
        </p:nvGraphicFramePr>
        <p:xfrm>
          <a:off x="6995160" y="1828800"/>
          <a:ext cx="4617720" cy="914400"/>
        </p:xfrm>
        <a:graphic>
          <a:graphicData uri="http://schemas.openxmlformats.org/drawingml/2006/table">
            <a:tbl>
              <a:tblPr/>
              <a:tblGrid>
                <a:gridCol w="1600200"/>
                <a:gridCol w="1325880"/>
                <a:gridCol w="1691640"/>
              </a:tblGrid>
              <a:tr h="438912">
                <a:tc>
                  <a:txBody>
                    <a:bodyPr/>
                    <a:lstStyle/>
                    <a:p>
                      <a:pPr indent="0" marL="0">
                        <a:buNone/>
                      </a:pP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EB6834"/>
                          </a:solidFill>
                        </a:rPr>
                        <a:t>Chronos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4A3AA7"/>
                          </a:solidFill>
                        </a:rPr>
                        <a:t>Claude</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300" b="1" dirty="0">
                          <a:solidFill>
                            <a:srgbClr val="1F2328"/>
                          </a:solidFill>
                        </a:rPr>
                        <a:t>Trained on</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Time series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Text</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r>
              <a:tr h="438912">
                <a:tc>
                  <a:txBody>
                    <a:bodyPr/>
                    <a:lstStyle/>
                    <a:p>
                      <a:pPr indent="0" marL="0">
                        <a:buNone/>
                      </a:pPr>
                      <a:r>
                        <a:rPr lang="en-US" sz="1300" b="1" dirty="0">
                          <a:solidFill>
                            <a:srgbClr val="1F2328"/>
                          </a:solidFill>
                        </a:rPr>
                        <a:t>Reads our data as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Numbers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Rows of text</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r>
              <a:tr h="438912">
                <a:tc>
                  <a:txBody>
                    <a:bodyPr/>
                    <a:lstStyle/>
                    <a:p>
                      <a:pPr indent="0" marL="0">
                        <a:buNone/>
                      </a:pPr>
                      <a:r>
                        <a:rPr lang="en-US" sz="1300" b="1" dirty="0">
                          <a:solidFill>
                            <a:srgbClr val="1F2328"/>
                          </a:solidFill>
                        </a:rPr>
                        <a:t>Returns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Quantiles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Forecast + explanation</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r>
              <a:tr h="438912">
                <a:tc>
                  <a:txBody>
                    <a:bodyPr/>
                    <a:lstStyle/>
                    <a:p>
                      <a:pPr indent="0" marL="0">
                        <a:buNone/>
                      </a:pPr>
                      <a:r>
                        <a:rPr lang="en-US" sz="1300" b="1" dirty="0">
                          <a:solidFill>
                            <a:srgbClr val="1F2328"/>
                          </a:solidFill>
                        </a:rPr>
                        <a:t>All 5,748 series</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10 s, free</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c>
                  <a:txBody>
                    <a:bodyPr/>
                    <a:lstStyle/>
                    <a:p>
                      <a:pPr indent="0" marL="0">
                        <a:buNone/>
                      </a:pPr>
                      <a:r>
                        <a:rPr lang="en-US" sz="1300" dirty="0">
                          <a:solidFill>
                            <a:srgbClr val="1F2328"/>
                          </a:solidFill>
                        </a:rPr>
                        <a:t>Hours; paid per request</a:t>
                      </a:r>
                      <a:endParaRPr lang="en-US" sz="1300" dirty="0"/>
                    </a:p>
                  </a:txBody>
                  <a:tcPr marL="54864" marR="54864" marT="54864" marB="54864"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5"/>
                    </a:solidFill>
                  </a:tcPr>
                </a:tc>
              </a:tr>
            </a:tbl>
          </a:graphicData>
        </a:graphic>
      </p:graphicFrame>
      <p:sp>
        <p:nvSpPr>
          <p:cNvPr id="6" name="items result"/>
          <p:cNvSpPr/>
          <p:nvPr/>
        </p:nvSpPr>
        <p:spPr>
          <a:xfrm>
            <a:off x="6995160" y="4251960"/>
            <a:ext cx="4617720" cy="1463040"/>
          </a:xfrm>
          <a:prstGeom prst="roundRect">
            <a:avLst>
              <a:gd name="adj" fmla="val 7500"/>
            </a:avLst>
          </a:prstGeom>
          <a:solidFill>
            <a:schemeClr val="bg2"/>
          </a:solidFill>
          <a:ln w="12700">
            <a:solidFill>
              <a:schemeClr val="bg2"/>
            </a:solidFill>
            <a:prstDash val="solid"/>
          </a:ln>
        </p:spPr>
      </p:sp>
      <p:sp>
        <p:nvSpPr>
          <p:cNvPr id="7" name="Text 3"/>
          <p:cNvSpPr txBox="1"/>
          <p:nvPr/>
        </p:nvSpPr>
        <p:spPr>
          <a:xfrm>
            <a:off x="7223760" y="4251960"/>
            <a:ext cx="4206240" cy="1463040"/>
          </a:xfrm>
          <a:prstGeom prst="rect">
            <a:avLst/>
          </a:prstGeom>
          <a:noFill/>
          <a:ln/>
        </p:spPr>
        <p:txBody>
          <a:bodyPr wrap="square" lIns="0" tIns="0" rIns="0" bIns="0" rtlCol="0" anchor="ctr"/>
          <a:lstStyle/>
          <a:p>
            <a:pPr indent="0" marL="0">
              <a:buNone/>
            </a:pPr>
            <a:r>
              <a:rPr lang="en-US" sz="1400" b="1" dirty="0">
                <a:solidFill>
                  <a:schemeClr val="tx1"/>
                </a:solidFill>
              </a:rPr>
              <a:t>100 sampled items: </a:t>
            </a:r>
            <a:pPr indent="0" marL="0">
              <a:buNone/>
            </a:pPr>
            <a:r>
              <a:rPr lang="en-US" sz="1400" dirty="0">
                <a:solidFill>
                  <a:schemeClr val="tx1"/>
                </a:solidFill>
              </a:rPr>
              <a:t>AutoETS 0.938 best, AutoARIMA 0.951, Claude 0.958. Same items for every model.</a:t>
            </a:r>
            <a:endParaRPr lang="en-US" sz="1400" dirty="0"/>
          </a:p>
        </p:txBody>
      </p:sp>
      <p:sp>
        <p:nvSpPr>
          <p:cNvPr id="8" name="Text 4"/>
          <p:cNvSpPr txBox="1"/>
          <p:nvPr/>
        </p:nvSpPr>
        <p:spPr>
          <a:xfrm>
            <a:off x="548640" y="5806440"/>
            <a:ext cx="11064240" cy="457200"/>
          </a:xfrm>
          <a:prstGeom prst="rect">
            <a:avLst/>
          </a:prstGeom>
          <a:noFill/>
          <a:ln/>
        </p:spPr>
        <p:txBody>
          <a:bodyPr wrap="square" lIns="0" tIns="0" rIns="0" bIns="0" rtlCol="0" anchor="ctr"/>
          <a:lstStyle/>
          <a:p>
            <a:pPr indent="0" marL="0">
              <a:buNone/>
            </a:pPr>
            <a:r>
              <a:rPr lang="en-US" sz="1300" dirty="0">
                <a:solidFill>
                  <a:srgbClr val="6B6A66"/>
                </a:solidFill>
              </a:rPr>
              <a:t>Claude covered a subset to keep cost down: 100 random items + 12 totals, compared on the same series. Totals were also fitted directly for the other models.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Using an LLM to forecast: risks and safeguards</a:t>
            </a:r>
            <a:endParaRPr lang="en-US" sz="3400" dirty="0"/>
          </a:p>
        </p:txBody>
      </p:sp>
      <p:sp>
        <p:nvSpPr>
          <p:cNvPr id="3" name="Text 1"/>
          <p:cNvSpPr txBox="1"/>
          <p:nvPr/>
        </p:nvSpPr>
        <p:spPr>
          <a:xfrm>
            <a:off x="1463040" y="1325880"/>
            <a:ext cx="4114800" cy="320040"/>
          </a:xfrm>
          <a:prstGeom prst="rect">
            <a:avLst/>
          </a:prstGeom>
          <a:noFill/>
          <a:ln/>
        </p:spPr>
        <p:txBody>
          <a:bodyPr wrap="square" lIns="0" tIns="0" rIns="0" bIns="0" rtlCol="0" anchor="ctr"/>
          <a:lstStyle/>
          <a:p>
            <a:pPr indent="0" marL="0">
              <a:buNone/>
            </a:pPr>
            <a:r>
              <a:rPr lang="en-US" sz="1300" b="1" dirty="0">
                <a:solidFill>
                  <a:srgbClr val="6B6A66"/>
                </a:solidFill>
              </a:rPr>
              <a:t>Risk</a:t>
            </a:r>
            <a:endParaRPr lang="en-US" sz="1300" dirty="0"/>
          </a:p>
        </p:txBody>
      </p:sp>
      <p:sp>
        <p:nvSpPr>
          <p:cNvPr id="4" name="Text 2"/>
          <p:cNvSpPr txBox="1"/>
          <p:nvPr/>
        </p:nvSpPr>
        <p:spPr>
          <a:xfrm>
            <a:off x="6126480" y="1325880"/>
            <a:ext cx="5486400" cy="320040"/>
          </a:xfrm>
          <a:prstGeom prst="rect">
            <a:avLst/>
          </a:prstGeom>
          <a:noFill/>
          <a:ln/>
        </p:spPr>
        <p:txBody>
          <a:bodyPr wrap="square" lIns="0" tIns="0" rIns="0" bIns="0" rtlCol="0" anchor="ctr"/>
          <a:lstStyle/>
          <a:p>
            <a:pPr indent="0" marL="0">
              <a:buNone/>
            </a:pPr>
            <a:r>
              <a:rPr lang="en-US" sz="1300" b="1" dirty="0">
                <a:solidFill>
                  <a:srgbClr val="6B6A66"/>
                </a:solidFill>
              </a:rPr>
              <a:t>What we did</a:t>
            </a:r>
            <a:endParaRPr lang="en-US" sz="1300" dirty="0"/>
          </a:p>
        </p:txBody>
      </p:sp>
      <p:sp>
        <p:nvSpPr>
          <p:cNvPr id="5" name="risk 0"/>
          <p:cNvSpPr/>
          <p:nvPr/>
        </p:nvSpPr>
        <p:spPr>
          <a:xfrm>
            <a:off x="548640" y="1691640"/>
            <a:ext cx="11064240" cy="804672"/>
          </a:xfrm>
          <a:prstGeom prst="roundRect">
            <a:avLst>
              <a:gd name="adj" fmla="val 13636"/>
            </a:avLst>
          </a:prstGeom>
          <a:solidFill>
            <a:schemeClr val="bg2"/>
          </a:solidFill>
          <a:ln w="12700">
            <a:solidFill>
              <a:schemeClr val="bg2"/>
            </a:solidFill>
            <a:prstDash val="solid"/>
          </a:ln>
        </p:spPr>
      </p:sp>
      <p:sp>
        <p:nvSpPr>
          <p:cNvPr id="6" name="Pre-training contamination circle"/>
          <p:cNvSpPr/>
          <p:nvPr/>
        </p:nvSpPr>
        <p:spPr>
          <a:xfrm>
            <a:off x="713232" y="1801368"/>
            <a:ext cx="585216" cy="585216"/>
          </a:xfrm>
          <a:prstGeom prst="ellipse">
            <a:avLst/>
          </a:prstGeom>
          <a:solidFill>
            <a:srgbClr val="4A3AA7"/>
          </a:solidFill>
          <a:ln w="12700">
            <a:solidFill>
              <a:srgbClr val="4A3AA7"/>
            </a:solidFill>
            <a:prstDash val="solid"/>
          </a:ln>
        </p:spPr>
      </p:sp>
      <p:pic>
        <p:nvPicPr>
          <p:cNvPr id="7" name="Pre-training contamination icon" descr="preencoded.png">    </p:cNvPr>
          <p:cNvPicPr>
            <a:picLocks noChangeAspect="1"/>
          </p:cNvPicPr>
          <p:nvPr/>
        </p:nvPicPr>
        <p:blipFill>
          <a:blip r:embed="rId1"/>
          <a:stretch>
            <a:fillRect/>
          </a:stretch>
        </p:blipFill>
        <p:spPr>
          <a:xfrm>
            <a:off x="853684" y="1941820"/>
            <a:ext cx="304312" cy="304312"/>
          </a:xfrm>
          <a:prstGeom prst="rect">
            <a:avLst/>
          </a:prstGeom>
        </p:spPr>
      </p:pic>
      <p:sp>
        <p:nvSpPr>
          <p:cNvPr id="8" name="Text 5"/>
          <p:cNvSpPr txBox="1"/>
          <p:nvPr/>
        </p:nvSpPr>
        <p:spPr>
          <a:xfrm>
            <a:off x="1463040" y="1691640"/>
            <a:ext cx="4480560" cy="804672"/>
          </a:xfrm>
          <a:prstGeom prst="rect">
            <a:avLst/>
          </a:prstGeom>
          <a:noFill/>
          <a:ln/>
        </p:spPr>
        <p:txBody>
          <a:bodyPr wrap="square" lIns="0" tIns="0" rIns="0" bIns="0" rtlCol="0" anchor="ctr"/>
          <a:lstStyle/>
          <a:p>
            <a:pPr indent="0" marL="0">
              <a:buNone/>
            </a:pPr>
            <a:r>
              <a:rPr lang="en-US" sz="1400" b="1" dirty="0">
                <a:solidFill>
                  <a:schemeClr val="tx2"/>
                </a:solidFill>
              </a:rPr>
              <a:t>Pre-training contamination</a:t>
            </a:r>
            <a:endParaRPr lang="en-US" sz="1400" dirty="0"/>
          </a:p>
          <a:p>
            <a:pPr indent="0" marL="0">
              <a:buNone/>
            </a:pPr>
            <a:r>
              <a:rPr lang="en-US" sz="1400" dirty="0">
                <a:solidFill>
                  <a:srgbClr val="6B6A66"/>
                </a:solidFill>
              </a:rPr>
              <a:t>M5 is public and may be in Claude's training data</a:t>
            </a:r>
            <a:endParaRPr lang="en-US" sz="1400" dirty="0"/>
          </a:p>
        </p:txBody>
      </p:sp>
      <p:sp>
        <p:nvSpPr>
          <p:cNvPr id="9" name="Text 6"/>
          <p:cNvSpPr txBox="1"/>
          <p:nvPr/>
        </p:nvSpPr>
        <p:spPr>
          <a:xfrm>
            <a:off x="6126480" y="1691640"/>
            <a:ext cx="5303520" cy="804672"/>
          </a:xfrm>
          <a:prstGeom prst="rect">
            <a:avLst/>
          </a:prstGeom>
          <a:noFill/>
          <a:ln/>
        </p:spPr>
        <p:txBody>
          <a:bodyPr wrap="square" lIns="0" tIns="0" rIns="0" bIns="0" rtlCol="0" anchor="ctr"/>
          <a:lstStyle/>
          <a:p>
            <a:pPr indent="0" marL="0">
              <a:buNone/>
            </a:pPr>
            <a:r>
              <a:rPr lang="en-US" sz="1400" dirty="0">
                <a:solidFill>
                  <a:schemeClr val="tx1"/>
                </a:solidFill>
              </a:rPr>
              <a:t>Named vs blind test: names, dates and year removed. Accuracy unchanged (0.579 vs 0.583)</a:t>
            </a:r>
            <a:endParaRPr lang="en-US" sz="1400" dirty="0"/>
          </a:p>
        </p:txBody>
      </p:sp>
      <p:sp>
        <p:nvSpPr>
          <p:cNvPr id="10" name="risk 1"/>
          <p:cNvSpPr/>
          <p:nvPr/>
        </p:nvSpPr>
        <p:spPr>
          <a:xfrm>
            <a:off x="548640" y="2606040"/>
            <a:ext cx="11064240" cy="804672"/>
          </a:xfrm>
          <a:prstGeom prst="roundRect">
            <a:avLst>
              <a:gd name="adj" fmla="val 13636"/>
            </a:avLst>
          </a:prstGeom>
          <a:solidFill>
            <a:schemeClr val="bg2"/>
          </a:solidFill>
          <a:ln w="12700">
            <a:solidFill>
              <a:schemeClr val="bg2"/>
            </a:solidFill>
            <a:prstDash val="solid"/>
          </a:ln>
        </p:spPr>
      </p:sp>
      <p:sp>
        <p:nvSpPr>
          <p:cNvPr id="11" name="Unstable output circle"/>
          <p:cNvSpPr/>
          <p:nvPr/>
        </p:nvSpPr>
        <p:spPr>
          <a:xfrm>
            <a:off x="713232" y="2715768"/>
            <a:ext cx="585216" cy="585216"/>
          </a:xfrm>
          <a:prstGeom prst="ellipse">
            <a:avLst/>
          </a:prstGeom>
          <a:solidFill>
            <a:srgbClr val="4A3AA7"/>
          </a:solidFill>
          <a:ln w="12700">
            <a:solidFill>
              <a:srgbClr val="4A3AA7"/>
            </a:solidFill>
            <a:prstDash val="solid"/>
          </a:ln>
        </p:spPr>
      </p:sp>
      <p:pic>
        <p:nvPicPr>
          <p:cNvPr id="12" name="Unstable output icon" descr="preencoded.png">    </p:cNvPr>
          <p:cNvPicPr>
            <a:picLocks noChangeAspect="1"/>
          </p:cNvPicPr>
          <p:nvPr/>
        </p:nvPicPr>
        <p:blipFill>
          <a:blip r:embed="rId2"/>
          <a:stretch>
            <a:fillRect/>
          </a:stretch>
        </p:blipFill>
        <p:spPr>
          <a:xfrm>
            <a:off x="853684" y="2856220"/>
            <a:ext cx="304312" cy="304312"/>
          </a:xfrm>
          <a:prstGeom prst="rect">
            <a:avLst/>
          </a:prstGeom>
        </p:spPr>
      </p:pic>
      <p:sp>
        <p:nvSpPr>
          <p:cNvPr id="13" name="Text 9"/>
          <p:cNvSpPr txBox="1"/>
          <p:nvPr/>
        </p:nvSpPr>
        <p:spPr>
          <a:xfrm>
            <a:off x="1463040" y="2606040"/>
            <a:ext cx="4480560" cy="804672"/>
          </a:xfrm>
          <a:prstGeom prst="rect">
            <a:avLst/>
          </a:prstGeom>
          <a:noFill/>
          <a:ln/>
        </p:spPr>
        <p:txBody>
          <a:bodyPr wrap="square" lIns="0" tIns="0" rIns="0" bIns="0" rtlCol="0" anchor="ctr"/>
          <a:lstStyle/>
          <a:p>
            <a:pPr indent="0" marL="0">
              <a:buNone/>
            </a:pPr>
            <a:r>
              <a:rPr lang="en-US" sz="1400" b="1" dirty="0">
                <a:solidFill>
                  <a:schemeClr val="tx2"/>
                </a:solidFill>
              </a:rPr>
              <a:t>Unstable output</a:t>
            </a:r>
            <a:endParaRPr lang="en-US" sz="1400" dirty="0"/>
          </a:p>
          <a:p>
            <a:pPr indent="0" marL="0">
              <a:buNone/>
            </a:pPr>
            <a:r>
              <a:rPr lang="en-US" sz="1400" dirty="0">
                <a:solidFill>
                  <a:srgbClr val="6B6A66"/>
                </a:solidFill>
              </a:rPr>
              <a:t>Answers can vary between runs</a:t>
            </a:r>
            <a:endParaRPr lang="en-US" sz="1400" dirty="0"/>
          </a:p>
        </p:txBody>
      </p:sp>
      <p:sp>
        <p:nvSpPr>
          <p:cNvPr id="14" name="Text 10"/>
          <p:cNvSpPr txBox="1"/>
          <p:nvPr/>
        </p:nvSpPr>
        <p:spPr>
          <a:xfrm>
            <a:off x="6126480" y="2606040"/>
            <a:ext cx="5303520" cy="804672"/>
          </a:xfrm>
          <a:prstGeom prst="rect">
            <a:avLst/>
          </a:prstGeom>
          <a:noFill/>
          <a:ln/>
        </p:spPr>
        <p:txBody>
          <a:bodyPr wrap="square" lIns="0" tIns="0" rIns="0" bIns="0" rtlCol="0" anchor="ctr"/>
          <a:lstStyle/>
          <a:p>
            <a:pPr indent="0" marL="0">
              <a:buNone/>
            </a:pPr>
            <a:r>
              <a:rPr lang="en-US" sz="1400" dirty="0">
                <a:solidFill>
                  <a:schemeClr val="tx1"/>
                </a:solidFill>
              </a:rPr>
              <a:t>Fixed prompt and model; every response saved and cached</a:t>
            </a:r>
            <a:endParaRPr lang="en-US" sz="1400" dirty="0"/>
          </a:p>
        </p:txBody>
      </p:sp>
      <p:sp>
        <p:nvSpPr>
          <p:cNvPr id="15" name="risk 2"/>
          <p:cNvSpPr/>
          <p:nvPr/>
        </p:nvSpPr>
        <p:spPr>
          <a:xfrm>
            <a:off x="548640" y="3520440"/>
            <a:ext cx="11064240" cy="804672"/>
          </a:xfrm>
          <a:prstGeom prst="roundRect">
            <a:avLst>
              <a:gd name="adj" fmla="val 13636"/>
            </a:avLst>
          </a:prstGeom>
          <a:solidFill>
            <a:schemeClr val="bg2"/>
          </a:solidFill>
          <a:ln w="12700">
            <a:solidFill>
              <a:schemeClr val="bg2"/>
            </a:solidFill>
            <a:prstDash val="solid"/>
          </a:ln>
        </p:spPr>
      </p:sp>
      <p:sp>
        <p:nvSpPr>
          <p:cNvPr id="16" name="Cost and scale circle"/>
          <p:cNvSpPr/>
          <p:nvPr/>
        </p:nvSpPr>
        <p:spPr>
          <a:xfrm>
            <a:off x="713232" y="3630168"/>
            <a:ext cx="585216" cy="585216"/>
          </a:xfrm>
          <a:prstGeom prst="ellipse">
            <a:avLst/>
          </a:prstGeom>
          <a:solidFill>
            <a:srgbClr val="4A3AA7"/>
          </a:solidFill>
          <a:ln w="12700">
            <a:solidFill>
              <a:srgbClr val="4A3AA7"/>
            </a:solidFill>
            <a:prstDash val="solid"/>
          </a:ln>
        </p:spPr>
      </p:sp>
      <p:pic>
        <p:nvPicPr>
          <p:cNvPr id="17" name="Cost and scale icon" descr="preencoded.png">    </p:cNvPr>
          <p:cNvPicPr>
            <a:picLocks noChangeAspect="1"/>
          </p:cNvPicPr>
          <p:nvPr/>
        </p:nvPicPr>
        <p:blipFill>
          <a:blip r:embed="rId3"/>
          <a:stretch>
            <a:fillRect/>
          </a:stretch>
        </p:blipFill>
        <p:spPr>
          <a:xfrm>
            <a:off x="853684" y="3770620"/>
            <a:ext cx="304312" cy="304312"/>
          </a:xfrm>
          <a:prstGeom prst="rect">
            <a:avLst/>
          </a:prstGeom>
        </p:spPr>
      </p:pic>
      <p:sp>
        <p:nvSpPr>
          <p:cNvPr id="18" name="Text 13"/>
          <p:cNvSpPr txBox="1"/>
          <p:nvPr/>
        </p:nvSpPr>
        <p:spPr>
          <a:xfrm>
            <a:off x="1463040" y="3520440"/>
            <a:ext cx="4480560" cy="804672"/>
          </a:xfrm>
          <a:prstGeom prst="rect">
            <a:avLst/>
          </a:prstGeom>
          <a:noFill/>
          <a:ln/>
        </p:spPr>
        <p:txBody>
          <a:bodyPr wrap="square" lIns="0" tIns="0" rIns="0" bIns="0" rtlCol="0" anchor="ctr"/>
          <a:lstStyle/>
          <a:p>
            <a:pPr indent="0" marL="0">
              <a:buNone/>
            </a:pPr>
            <a:r>
              <a:rPr lang="en-US" sz="1400" b="1" dirty="0">
                <a:solidFill>
                  <a:schemeClr val="tx2"/>
                </a:solidFill>
              </a:rPr>
              <a:t>Cost and scale</a:t>
            </a:r>
            <a:endParaRPr lang="en-US" sz="1400" dirty="0"/>
          </a:p>
          <a:p>
            <a:pPr indent="0" marL="0">
              <a:buNone/>
            </a:pPr>
            <a:r>
              <a:rPr lang="en-US" sz="1400" dirty="0">
                <a:solidFill>
                  <a:srgbClr val="6B6A66"/>
                </a:solidFill>
              </a:rPr>
              <a:t>Paid per request; slow at scale</a:t>
            </a:r>
            <a:endParaRPr lang="en-US" sz="1400" dirty="0"/>
          </a:p>
        </p:txBody>
      </p:sp>
      <p:sp>
        <p:nvSpPr>
          <p:cNvPr id="19" name="Text 14"/>
          <p:cNvSpPr txBox="1"/>
          <p:nvPr/>
        </p:nvSpPr>
        <p:spPr>
          <a:xfrm>
            <a:off x="6126480" y="3520440"/>
            <a:ext cx="5303520" cy="804672"/>
          </a:xfrm>
          <a:prstGeom prst="rect">
            <a:avLst/>
          </a:prstGeom>
          <a:noFill/>
          <a:ln/>
        </p:spPr>
        <p:txBody>
          <a:bodyPr wrap="square" lIns="0" tIns="0" rIns="0" bIns="0" rtlCol="0" anchor="ctr"/>
          <a:lstStyle/>
          <a:p>
            <a:pPr indent="0" marL="0">
              <a:buNone/>
            </a:pPr>
            <a:r>
              <a:rPr lang="en-US" sz="1400" dirty="0">
                <a:solidFill>
                  <a:schemeClr val="tx1"/>
                </a:solidFill>
              </a:rPr>
              <a:t>Tested a subset (100 items + 12 totals); same subset for every model</a:t>
            </a:r>
            <a:endParaRPr lang="en-US" sz="1400" dirty="0"/>
          </a:p>
        </p:txBody>
      </p:sp>
      <p:sp>
        <p:nvSpPr>
          <p:cNvPr id="20" name="risk 3"/>
          <p:cNvSpPr/>
          <p:nvPr/>
        </p:nvSpPr>
        <p:spPr>
          <a:xfrm>
            <a:off x="548640" y="4434840"/>
            <a:ext cx="11064240" cy="804672"/>
          </a:xfrm>
          <a:prstGeom prst="roundRect">
            <a:avLst>
              <a:gd name="adj" fmla="val 13636"/>
            </a:avLst>
          </a:prstGeom>
          <a:solidFill>
            <a:schemeClr val="bg2"/>
          </a:solidFill>
          <a:ln w="12700">
            <a:solidFill>
              <a:schemeClr val="bg2"/>
            </a:solidFill>
            <a:prstDash val="solid"/>
          </a:ln>
        </p:spPr>
      </p:sp>
      <p:sp>
        <p:nvSpPr>
          <p:cNvPr id="21" name="Malformed answers circle"/>
          <p:cNvSpPr/>
          <p:nvPr/>
        </p:nvSpPr>
        <p:spPr>
          <a:xfrm>
            <a:off x="713232" y="4544568"/>
            <a:ext cx="585216" cy="585216"/>
          </a:xfrm>
          <a:prstGeom prst="ellipse">
            <a:avLst/>
          </a:prstGeom>
          <a:solidFill>
            <a:srgbClr val="4A3AA7"/>
          </a:solidFill>
          <a:ln w="12700">
            <a:solidFill>
              <a:srgbClr val="4A3AA7"/>
            </a:solidFill>
            <a:prstDash val="solid"/>
          </a:ln>
        </p:spPr>
      </p:sp>
      <p:pic>
        <p:nvPicPr>
          <p:cNvPr id="22" name="Malformed answers icon" descr="preencoded.png">    </p:cNvPr>
          <p:cNvPicPr>
            <a:picLocks noChangeAspect="1"/>
          </p:cNvPicPr>
          <p:nvPr/>
        </p:nvPicPr>
        <p:blipFill>
          <a:blip r:embed="rId4"/>
          <a:stretch>
            <a:fillRect/>
          </a:stretch>
        </p:blipFill>
        <p:spPr>
          <a:xfrm>
            <a:off x="853684" y="4685020"/>
            <a:ext cx="304312" cy="304312"/>
          </a:xfrm>
          <a:prstGeom prst="rect">
            <a:avLst/>
          </a:prstGeom>
        </p:spPr>
      </p:pic>
      <p:sp>
        <p:nvSpPr>
          <p:cNvPr id="23" name="Text 17"/>
          <p:cNvSpPr txBox="1"/>
          <p:nvPr/>
        </p:nvSpPr>
        <p:spPr>
          <a:xfrm>
            <a:off x="1463040" y="4434840"/>
            <a:ext cx="4480560" cy="804672"/>
          </a:xfrm>
          <a:prstGeom prst="rect">
            <a:avLst/>
          </a:prstGeom>
          <a:noFill/>
          <a:ln/>
        </p:spPr>
        <p:txBody>
          <a:bodyPr wrap="square" lIns="0" tIns="0" rIns="0" bIns="0" rtlCol="0" anchor="ctr"/>
          <a:lstStyle/>
          <a:p>
            <a:pPr indent="0" marL="0">
              <a:buNone/>
            </a:pPr>
            <a:r>
              <a:rPr lang="en-US" sz="1400" b="1" dirty="0">
                <a:solidFill>
                  <a:schemeClr val="tx2"/>
                </a:solidFill>
              </a:rPr>
              <a:t>Malformed answers</a:t>
            </a:r>
            <a:endParaRPr lang="en-US" sz="1400" dirty="0"/>
          </a:p>
          <a:p>
            <a:pPr indent="0" marL="0">
              <a:buNone/>
            </a:pPr>
            <a:r>
              <a:rPr lang="en-US" sz="1400" dirty="0">
                <a:solidFill>
                  <a:srgbClr val="6B6A66"/>
                </a:solidFill>
              </a:rPr>
              <a:t>Wrong length or format</a:t>
            </a:r>
            <a:endParaRPr lang="en-US" sz="1400" dirty="0"/>
          </a:p>
        </p:txBody>
      </p:sp>
      <p:sp>
        <p:nvSpPr>
          <p:cNvPr id="24" name="Text 18"/>
          <p:cNvSpPr txBox="1"/>
          <p:nvPr/>
        </p:nvSpPr>
        <p:spPr>
          <a:xfrm>
            <a:off x="6126480" y="4434840"/>
            <a:ext cx="5303520" cy="804672"/>
          </a:xfrm>
          <a:prstGeom prst="rect">
            <a:avLst/>
          </a:prstGeom>
          <a:noFill/>
          <a:ln/>
        </p:spPr>
        <p:txBody>
          <a:bodyPr wrap="square" lIns="0" tIns="0" rIns="0" bIns="0" rtlCol="0" anchor="ctr"/>
          <a:lstStyle/>
          <a:p>
            <a:pPr indent="0" marL="0">
              <a:buNone/>
            </a:pPr>
            <a:r>
              <a:rPr lang="en-US" sz="1400" dirty="0">
                <a:solidFill>
                  <a:schemeClr val="tx1"/>
                </a:solidFill>
              </a:rPr>
              <a:t>Required a fixed JSON format, checked 28 days returned, retried on failure</a:t>
            </a:r>
            <a:endParaRPr lang="en-US" sz="1400" dirty="0"/>
          </a:p>
        </p:txBody>
      </p:sp>
      <p:sp>
        <p:nvSpPr>
          <p:cNvPr id="25" name="contamination caveat"/>
          <p:cNvSpPr/>
          <p:nvPr/>
        </p:nvSpPr>
        <p:spPr>
          <a:xfrm>
            <a:off x="548640" y="5440680"/>
            <a:ext cx="11064240" cy="777240"/>
          </a:xfrm>
          <a:prstGeom prst="roundRect">
            <a:avLst>
              <a:gd name="adj" fmla="val 14118"/>
            </a:avLst>
          </a:prstGeom>
          <a:solidFill>
            <a:srgbClr val="1B2A41"/>
          </a:solidFill>
          <a:ln w="12700">
            <a:solidFill>
              <a:srgbClr val="1B2A41"/>
            </a:solidFill>
            <a:prstDash val="solid"/>
          </a:ln>
        </p:spPr>
      </p:sp>
      <p:sp>
        <p:nvSpPr>
          <p:cNvPr id="26" name="caveat circle"/>
          <p:cNvSpPr/>
          <p:nvPr/>
        </p:nvSpPr>
        <p:spPr>
          <a:xfrm>
            <a:off x="713232" y="5532120"/>
            <a:ext cx="585216" cy="585216"/>
          </a:xfrm>
          <a:prstGeom prst="ellipse">
            <a:avLst/>
          </a:prstGeom>
          <a:solidFill>
            <a:srgbClr val="F2B33D"/>
          </a:solidFill>
          <a:ln w="12700">
            <a:solidFill>
              <a:srgbClr val="F2B33D"/>
            </a:solidFill>
            <a:prstDash val="solid"/>
          </a:ln>
        </p:spPr>
      </p:sp>
      <p:pic>
        <p:nvPicPr>
          <p:cNvPr id="27" name="caveat icon" descr="preencoded.png">    </p:cNvPr>
          <p:cNvPicPr>
            <a:picLocks noChangeAspect="1"/>
          </p:cNvPicPr>
          <p:nvPr/>
        </p:nvPicPr>
        <p:blipFill>
          <a:blip r:embed="rId5"/>
          <a:stretch>
            <a:fillRect/>
          </a:stretch>
        </p:blipFill>
        <p:spPr>
          <a:xfrm>
            <a:off x="853684" y="5672572"/>
            <a:ext cx="304312" cy="304312"/>
          </a:xfrm>
          <a:prstGeom prst="rect">
            <a:avLst/>
          </a:prstGeom>
        </p:spPr>
      </p:pic>
      <p:sp>
        <p:nvSpPr>
          <p:cNvPr id="28" name="Text 21"/>
          <p:cNvSpPr txBox="1"/>
          <p:nvPr/>
        </p:nvSpPr>
        <p:spPr>
          <a:xfrm>
            <a:off x="1463040" y="5440680"/>
            <a:ext cx="9966960" cy="777240"/>
          </a:xfrm>
          <a:prstGeom prst="rect">
            <a:avLst/>
          </a:prstGeom>
          <a:noFill/>
          <a:ln/>
        </p:spPr>
        <p:txBody>
          <a:bodyPr wrap="square" lIns="0" tIns="0" rIns="0" bIns="0" rtlCol="0" anchor="ctr"/>
          <a:lstStyle/>
          <a:p>
            <a:pPr indent="0" marL="0">
              <a:buNone/>
            </a:pPr>
            <a:r>
              <a:rPr lang="en-US" sz="1500" b="1" dirty="0">
                <a:solidFill>
                  <a:srgbClr val="FFFFFF"/>
                </a:solidFill>
              </a:rPr>
              <a:t>The blind test reduces identity cues, but it cannot guarantee that contamination is excluded: the sales pattern itself could be recognised.</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bg1"/>
                </a:solidFill>
              </a:rPr>
              <a:t>Our answer: not yet on accuracy, yes on speed</a:t>
            </a:r>
            <a:endParaRPr lang="en-US" sz="3400" dirty="0"/>
          </a:p>
        </p:txBody>
      </p:sp>
      <p:sp>
        <p:nvSpPr>
          <p:cNvPr id="3" name="Traditional methods lead on accuracy circle"/>
          <p:cNvSpPr/>
          <p:nvPr/>
        </p:nvSpPr>
        <p:spPr>
          <a:xfrm>
            <a:off x="548640" y="1463040"/>
            <a:ext cx="731520" cy="731520"/>
          </a:xfrm>
          <a:prstGeom prst="ellipse">
            <a:avLst/>
          </a:prstGeom>
          <a:solidFill>
            <a:srgbClr val="2A78D6"/>
          </a:solidFill>
          <a:ln w="12700">
            <a:solidFill>
              <a:srgbClr val="2A78D6"/>
            </a:solidFill>
            <a:prstDash val="solid"/>
          </a:ln>
        </p:spPr>
      </p:sp>
      <p:pic>
        <p:nvPicPr>
          <p:cNvPr id="4" name="Traditional methods lead on accuracy icon" descr="preencoded.png">    </p:cNvPr>
          <p:cNvPicPr>
            <a:picLocks noChangeAspect="1"/>
          </p:cNvPicPr>
          <p:nvPr/>
        </p:nvPicPr>
        <p:blipFill>
          <a:blip r:embed="rId1"/>
          <a:stretch>
            <a:fillRect/>
          </a:stretch>
        </p:blipFill>
        <p:spPr>
          <a:xfrm>
            <a:off x="724205" y="1638605"/>
            <a:ext cx="380390" cy="380390"/>
          </a:xfrm>
          <a:prstGeom prst="rect">
            <a:avLst/>
          </a:prstGeom>
        </p:spPr>
      </p:pic>
      <p:sp>
        <p:nvSpPr>
          <p:cNvPr id="5" name="Text 2"/>
          <p:cNvSpPr txBox="1"/>
          <p:nvPr/>
        </p:nvSpPr>
        <p:spPr>
          <a:xfrm>
            <a:off x="1463040" y="1463040"/>
            <a:ext cx="4937760" cy="411480"/>
          </a:xfrm>
          <a:prstGeom prst="rect">
            <a:avLst/>
          </a:prstGeom>
          <a:noFill/>
          <a:ln/>
        </p:spPr>
        <p:txBody>
          <a:bodyPr wrap="square" lIns="0" tIns="0" rIns="0" bIns="0" rtlCol="0" anchor="ctr"/>
          <a:lstStyle/>
          <a:p>
            <a:pPr indent="0" marL="0">
              <a:buNone/>
            </a:pPr>
            <a:r>
              <a:rPr lang="en-US" sz="1900" b="1" dirty="0">
                <a:solidFill>
                  <a:schemeClr val="bg1"/>
                </a:solidFill>
              </a:rPr>
              <a:t>Traditional methods lead on accuracy</a:t>
            </a:r>
            <a:endParaRPr lang="en-US" sz="1900" dirty="0"/>
          </a:p>
        </p:txBody>
      </p:sp>
      <p:sp>
        <p:nvSpPr>
          <p:cNvPr id="6" name="Text 3"/>
          <p:cNvSpPr txBox="1"/>
          <p:nvPr/>
        </p:nvSpPr>
        <p:spPr>
          <a:xfrm>
            <a:off x="1463040" y="1901952"/>
            <a:ext cx="4937760" cy="411480"/>
          </a:xfrm>
          <a:prstGeom prst="rect">
            <a:avLst/>
          </a:prstGeom>
          <a:noFill/>
          <a:ln/>
        </p:spPr>
        <p:txBody>
          <a:bodyPr wrap="square" lIns="0" tIns="0" rIns="0" bIns="0" rtlCol="0" anchor="ctr"/>
          <a:lstStyle/>
          <a:p>
            <a:pPr indent="0" marL="0">
              <a:buNone/>
            </a:pPr>
            <a:r>
              <a:rPr lang="en-US" sz="1400" dirty="0">
                <a:solidFill>
                  <a:schemeClr val="bg2"/>
                </a:solidFill>
              </a:rPr>
              <a:t>LightGBM, AutoETS and their average are the three best</a:t>
            </a:r>
            <a:endParaRPr lang="en-US" sz="1400" dirty="0"/>
          </a:p>
        </p:txBody>
      </p:sp>
      <p:sp>
        <p:nvSpPr>
          <p:cNvPr id="7" name="Chronos wins on speed circle"/>
          <p:cNvSpPr/>
          <p:nvPr/>
        </p:nvSpPr>
        <p:spPr>
          <a:xfrm>
            <a:off x="548640" y="2697480"/>
            <a:ext cx="731520" cy="731520"/>
          </a:xfrm>
          <a:prstGeom prst="ellipse">
            <a:avLst/>
          </a:prstGeom>
          <a:solidFill>
            <a:srgbClr val="EB6834"/>
          </a:solidFill>
          <a:ln w="12700">
            <a:solidFill>
              <a:srgbClr val="EB6834"/>
            </a:solidFill>
            <a:prstDash val="solid"/>
          </a:ln>
        </p:spPr>
      </p:sp>
      <p:pic>
        <p:nvPicPr>
          <p:cNvPr id="8" name="Chronos wins on speed icon" descr="preencoded.png">    </p:cNvPr>
          <p:cNvPicPr>
            <a:picLocks noChangeAspect="1"/>
          </p:cNvPicPr>
          <p:nvPr/>
        </p:nvPicPr>
        <p:blipFill>
          <a:blip r:embed="rId2"/>
          <a:stretch>
            <a:fillRect/>
          </a:stretch>
        </p:blipFill>
        <p:spPr>
          <a:xfrm>
            <a:off x="724205" y="2873045"/>
            <a:ext cx="380390" cy="380390"/>
          </a:xfrm>
          <a:prstGeom prst="rect">
            <a:avLst/>
          </a:prstGeom>
        </p:spPr>
      </p:pic>
      <p:sp>
        <p:nvSpPr>
          <p:cNvPr id="9" name="Text 5"/>
          <p:cNvSpPr txBox="1"/>
          <p:nvPr/>
        </p:nvSpPr>
        <p:spPr>
          <a:xfrm>
            <a:off x="1463040" y="2697480"/>
            <a:ext cx="4937760" cy="411480"/>
          </a:xfrm>
          <a:prstGeom prst="rect">
            <a:avLst/>
          </a:prstGeom>
          <a:noFill/>
          <a:ln/>
        </p:spPr>
        <p:txBody>
          <a:bodyPr wrap="square" lIns="0" tIns="0" rIns="0" bIns="0" rtlCol="0" anchor="ctr"/>
          <a:lstStyle/>
          <a:p>
            <a:pPr indent="0" marL="0">
              <a:buNone/>
            </a:pPr>
            <a:r>
              <a:rPr lang="en-US" sz="1900" b="1" dirty="0">
                <a:solidFill>
                  <a:schemeClr val="bg1"/>
                </a:solidFill>
              </a:rPr>
              <a:t>Chronos wins on speed</a:t>
            </a:r>
            <a:endParaRPr lang="en-US" sz="1900" dirty="0"/>
          </a:p>
        </p:txBody>
      </p:sp>
      <p:sp>
        <p:nvSpPr>
          <p:cNvPr id="10" name="Text 6"/>
          <p:cNvSpPr txBox="1"/>
          <p:nvPr/>
        </p:nvSpPr>
        <p:spPr>
          <a:xfrm>
            <a:off x="1463040" y="3136392"/>
            <a:ext cx="4937760" cy="411480"/>
          </a:xfrm>
          <a:prstGeom prst="rect">
            <a:avLst/>
          </a:prstGeom>
          <a:noFill/>
          <a:ln/>
        </p:spPr>
        <p:txBody>
          <a:bodyPr wrap="square" lIns="0" tIns="0" rIns="0" bIns="0" rtlCol="0" anchor="ctr"/>
          <a:lstStyle/>
          <a:p>
            <a:pPr indent="0" marL="0">
              <a:buNone/>
            </a:pPr>
            <a:r>
              <a:rPr lang="en-US" sz="1400" dirty="0">
                <a:solidFill>
                  <a:schemeClr val="bg2"/>
                </a:solidFill>
              </a:rPr>
              <a:t>10 s for all series, no training</a:t>
            </a:r>
            <a:endParaRPr lang="en-US" sz="1400" dirty="0"/>
          </a:p>
        </p:txBody>
      </p:sp>
      <p:sp>
        <p:nvSpPr>
          <p:cNvPr id="11" name="Claude matched the best on totals circle"/>
          <p:cNvSpPr/>
          <p:nvPr/>
        </p:nvSpPr>
        <p:spPr>
          <a:xfrm>
            <a:off x="548640" y="3931920"/>
            <a:ext cx="731520" cy="731520"/>
          </a:xfrm>
          <a:prstGeom prst="ellipse">
            <a:avLst/>
          </a:prstGeom>
          <a:solidFill>
            <a:srgbClr val="4A3AA7"/>
          </a:solidFill>
          <a:ln w="12700">
            <a:solidFill>
              <a:srgbClr val="4A3AA7"/>
            </a:solidFill>
            <a:prstDash val="solid"/>
          </a:ln>
        </p:spPr>
      </p:sp>
      <p:pic>
        <p:nvPicPr>
          <p:cNvPr id="12" name="Claude matched the best on totals icon" descr="preencoded.png">    </p:cNvPr>
          <p:cNvPicPr>
            <a:picLocks noChangeAspect="1"/>
          </p:cNvPicPr>
          <p:nvPr/>
        </p:nvPicPr>
        <p:blipFill>
          <a:blip r:embed="rId3"/>
          <a:stretch>
            <a:fillRect/>
          </a:stretch>
        </p:blipFill>
        <p:spPr>
          <a:xfrm>
            <a:off x="724205" y="4107485"/>
            <a:ext cx="380390" cy="380390"/>
          </a:xfrm>
          <a:prstGeom prst="rect">
            <a:avLst/>
          </a:prstGeom>
        </p:spPr>
      </p:pic>
      <p:sp>
        <p:nvSpPr>
          <p:cNvPr id="13" name="Text 8"/>
          <p:cNvSpPr txBox="1"/>
          <p:nvPr/>
        </p:nvSpPr>
        <p:spPr>
          <a:xfrm>
            <a:off x="1463040" y="3931920"/>
            <a:ext cx="4937760" cy="411480"/>
          </a:xfrm>
          <a:prstGeom prst="rect">
            <a:avLst/>
          </a:prstGeom>
          <a:noFill/>
          <a:ln/>
        </p:spPr>
        <p:txBody>
          <a:bodyPr wrap="square" lIns="0" tIns="0" rIns="0" bIns="0" rtlCol="0" anchor="ctr"/>
          <a:lstStyle/>
          <a:p>
            <a:pPr indent="0" marL="0">
              <a:buNone/>
            </a:pPr>
            <a:r>
              <a:rPr lang="en-US" sz="1900" b="1" dirty="0">
                <a:solidFill>
                  <a:schemeClr val="bg1"/>
                </a:solidFill>
              </a:rPr>
              <a:t>Claude matched the best on totals</a:t>
            </a:r>
            <a:endParaRPr lang="en-US" sz="1900" dirty="0"/>
          </a:p>
        </p:txBody>
      </p:sp>
      <p:sp>
        <p:nvSpPr>
          <p:cNvPr id="14" name="Text 9"/>
          <p:cNvSpPr txBox="1"/>
          <p:nvPr/>
        </p:nvSpPr>
        <p:spPr>
          <a:xfrm>
            <a:off x="1463040" y="4370832"/>
            <a:ext cx="4937760" cy="411480"/>
          </a:xfrm>
          <a:prstGeom prst="rect">
            <a:avLst/>
          </a:prstGeom>
          <a:noFill/>
          <a:ln/>
        </p:spPr>
        <p:txBody>
          <a:bodyPr wrap="square" lIns="0" tIns="0" rIns="0" bIns="0" rtlCol="0" anchor="ctr"/>
          <a:lstStyle/>
          <a:p>
            <a:pPr indent="0" marL="0">
              <a:buNone/>
            </a:pPr>
            <a:r>
              <a:rPr lang="en-US" sz="1400" dirty="0">
                <a:solidFill>
                  <a:schemeClr val="bg2"/>
                </a:solidFill>
              </a:rPr>
              <a:t>Promising, but tested on 112 series only</a:t>
            </a:r>
            <a:endParaRPr lang="en-US" sz="1400" dirty="0"/>
          </a:p>
        </p:txBody>
      </p:sp>
      <p:sp>
        <p:nvSpPr>
          <p:cNvPr id="15" name="limitations card"/>
          <p:cNvSpPr/>
          <p:nvPr/>
        </p:nvSpPr>
        <p:spPr>
          <a:xfrm>
            <a:off x="6675120" y="1371600"/>
            <a:ext cx="4937760" cy="4572000"/>
          </a:xfrm>
          <a:prstGeom prst="roundRect">
            <a:avLst>
              <a:gd name="adj" fmla="val 2400"/>
            </a:avLst>
          </a:prstGeom>
          <a:solidFill>
            <a:srgbClr val="2A3B55"/>
          </a:solidFill>
          <a:ln w="12700">
            <a:solidFill>
              <a:srgbClr val="2A3B55"/>
            </a:solidFill>
            <a:prstDash val="solid"/>
          </a:ln>
        </p:spPr>
      </p:sp>
      <p:sp>
        <p:nvSpPr>
          <p:cNvPr id="16" name="limitations circle"/>
          <p:cNvSpPr/>
          <p:nvPr/>
        </p:nvSpPr>
        <p:spPr>
          <a:xfrm>
            <a:off x="6949440" y="1600200"/>
            <a:ext cx="594360" cy="594360"/>
          </a:xfrm>
          <a:prstGeom prst="ellipse">
            <a:avLst/>
          </a:prstGeom>
          <a:solidFill>
            <a:srgbClr val="F2B33D"/>
          </a:solidFill>
          <a:ln w="12700">
            <a:solidFill>
              <a:srgbClr val="F2B33D"/>
            </a:solidFill>
            <a:prstDash val="solid"/>
          </a:ln>
        </p:spPr>
      </p:sp>
      <p:pic>
        <p:nvPicPr>
          <p:cNvPr id="17" name="limitations icon" descr="preencoded.png">    </p:cNvPr>
          <p:cNvPicPr>
            <a:picLocks noChangeAspect="1"/>
          </p:cNvPicPr>
          <p:nvPr/>
        </p:nvPicPr>
        <p:blipFill>
          <a:blip r:embed="rId4"/>
          <a:stretch>
            <a:fillRect/>
          </a:stretch>
        </p:blipFill>
        <p:spPr>
          <a:xfrm>
            <a:off x="7092086" y="1742846"/>
            <a:ext cx="309067" cy="309067"/>
          </a:xfrm>
          <a:prstGeom prst="rect">
            <a:avLst/>
          </a:prstGeom>
        </p:spPr>
      </p:pic>
      <p:sp>
        <p:nvSpPr>
          <p:cNvPr id="18" name="Text 12"/>
          <p:cNvSpPr txBox="1"/>
          <p:nvPr/>
        </p:nvSpPr>
        <p:spPr>
          <a:xfrm>
            <a:off x="7680960" y="1600200"/>
            <a:ext cx="3657600" cy="594360"/>
          </a:xfrm>
          <a:prstGeom prst="rect">
            <a:avLst/>
          </a:prstGeom>
          <a:noFill/>
          <a:ln/>
        </p:spPr>
        <p:txBody>
          <a:bodyPr wrap="square" lIns="0" tIns="0" rIns="0" bIns="0" rtlCol="0" anchor="ctr"/>
          <a:lstStyle/>
          <a:p>
            <a:pPr indent="0" marL="0">
              <a:buNone/>
            </a:pPr>
            <a:r>
              <a:rPr lang="en-US" sz="1900" b="1" dirty="0">
                <a:solidFill>
                  <a:schemeClr val="bg1"/>
                </a:solidFill>
              </a:rPr>
              <a:t>Limitations</a:t>
            </a:r>
            <a:endParaRPr lang="en-US" sz="1900" dirty="0"/>
          </a:p>
        </p:txBody>
      </p:sp>
      <p:sp>
        <p:nvSpPr>
          <p:cNvPr id="19" name="Text 13"/>
          <p:cNvSpPr txBox="1"/>
          <p:nvPr/>
        </p:nvSpPr>
        <p:spPr>
          <a:xfrm>
            <a:off x="6949440" y="2377440"/>
            <a:ext cx="448056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2"/>
                </a:solidFill>
              </a:rPr>
              <a:t>One 28-day test window: close rankings could flip in another month.</a:t>
            </a:r>
            <a:endParaRPr lang="en-US" sz="1400" dirty="0"/>
          </a:p>
          <a:p>
            <a:pPr marL="342900" indent="-342900">
              <a:spcAft>
                <a:spcPts val="800"/>
              </a:spcAft>
              <a:buSzPct val="100000"/>
              <a:buChar char="•"/>
            </a:pPr>
            <a:r>
              <a:rPr lang="en-US" sz="1400" dirty="0">
                <a:solidFill>
                  <a:schemeClr val="bg2"/>
                </a:solidFill>
              </a:rPr>
              <a:t>Claude: 112 series only; the blind test can't fully rule out contamination.</a:t>
            </a:r>
            <a:endParaRPr lang="en-US" sz="1400" dirty="0"/>
          </a:p>
          <a:p>
            <a:pPr marL="342900" indent="-342900">
              <a:spcAft>
                <a:spcPts val="800"/>
              </a:spcAft>
              <a:buSzPct val="100000"/>
              <a:buChar char="•"/>
            </a:pPr>
            <a:r>
              <a:rPr lang="en-US" sz="1400" dirty="0">
                <a:solidFill>
                  <a:schemeClr val="bg2"/>
                </a:solidFill>
              </a:rPr>
              <a:t>Accuracy is not the business goal. Ordering is a newsvendor problem: running out costs the margin (underage), unsold food costs its price (overage). The best order is a margin-set quantile, not the forecast, and our accuracy metrics weigh both errors equally.</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nchor="ctr"/>
          <a:lstStyle/>
          <a:p>
            <a:pPr algn="l" indent="0" marL="0">
              <a:buNone/>
            </a:pPr>
            <a:r>
              <a:rPr lang="en-US" sz="3400" b="1" dirty="0">
                <a:solidFill>
                  <a:schemeClr val="tx2"/>
                </a:solidFill>
              </a:rPr>
              <a:t>Demo: Shelf Signal dashboard</a:t>
            </a:r>
            <a:endParaRPr lang="en-US" sz="3400" dirty="0"/>
          </a:p>
        </p:txBody>
      </p:sp>
      <p:sp>
        <p:nvSpPr>
          <p:cNvPr id="3" name="screenshot frame"/>
          <p:cNvSpPr/>
          <p:nvPr/>
        </p:nvSpPr>
        <p:spPr>
          <a:xfrm>
            <a:off x="548640" y="1371600"/>
            <a:ext cx="6583680" cy="4370832"/>
          </a:xfrm>
          <a:prstGeom prst="rect">
            <a:avLst/>
          </a:prstGeom>
          <a:solidFill>
            <a:srgbClr val="FFFFFF"/>
          </a:solidFill>
          <a:ln w="12700">
            <a:solidFill>
              <a:srgbClr val="D9DCE1"/>
            </a:solidFill>
            <a:prstDash val="solid"/>
          </a:ln>
        </p:spPr>
      </p:sp>
      <p:pic>
        <p:nvPicPr>
          <p:cNvPr id="4" name="dashboard screenshot" descr="Shelf Signal order planner: demand distribution, order quantity and profit by model">
            <a:hlinkClick r:id="rId2" tooltip="Open the live dashboard"/>
          </p:cNvPr>
          <p:cNvPicPr>
            <a:picLocks noChangeAspect="1"/>
          </p:cNvPicPr>
          <p:nvPr/>
        </p:nvPicPr>
        <p:blipFill>
          <a:blip r:embed="rId1"/>
          <a:stretch>
            <a:fillRect/>
          </a:stretch>
        </p:blipFill>
        <p:spPr>
          <a:xfrm>
            <a:off x="566928" y="1389888"/>
            <a:ext cx="6547104" cy="4334256"/>
          </a:xfrm>
          <a:prstGeom prst="rect">
            <a:avLst/>
          </a:prstGeom>
        </p:spPr>
      </p:pic>
      <p:sp>
        <p:nvSpPr>
          <p:cNvPr id="5" name="Text 2"/>
          <p:cNvSpPr txBox="1"/>
          <p:nvPr/>
        </p:nvSpPr>
        <p:spPr>
          <a:xfrm>
            <a:off x="548640" y="5806440"/>
            <a:ext cx="6583680" cy="365760"/>
          </a:xfrm>
          <a:prstGeom prst="rect">
            <a:avLst/>
          </a:prstGeom>
          <a:noFill/>
          <a:ln/>
        </p:spPr>
        <p:txBody>
          <a:bodyPr wrap="square" lIns="0" tIns="0" rIns="0" bIns="0" rtlCol="0" anchor="ctr"/>
          <a:lstStyle/>
          <a:p>
            <a:pPr indent="0" marL="0">
              <a:buNone/>
            </a:pPr>
            <a:r>
              <a:rPr lang="en-US" sz="1300" b="1" u="sng" dirty="0">
                <a:solidFill>
                  <a:srgbClr val="2A78D6"/>
                </a:solidFill>
                <a:hlinkClick r:id="rId3" invalidUrl="" action="" tgtFrame="" tooltip="Opens in your browser" history="1" highlightClick="0" endSnd="0">
                  <a:extLst>
                    <a:ext uri="{A12FA001-AC4F-418D-AE19-62706E023703}">
                      <ahyp:hlinkClr xmlns:ahyp="http://schemas.microsoft.com/office/drawing/2018/hyperlinkcolor" val="tx"/>
                    </a:ext>
                  </a:extLst>
                </a:hlinkClick>
              </a:rPr>
              <a:t>Open live dashboard ↗</a:t>
            </a:r>
            <a:pPr indent="0" marL="0">
              <a:buNone/>
            </a:pPr>
            <a:r>
              <a:rPr lang="en-US" sz="1300" dirty="0">
                <a:solidFill>
                  <a:srgbClr val="6B6A66"/>
                </a:solidFill>
              </a:rPr>
              <a:t>   ·   </a:t>
            </a:r>
            <a:pPr indent="0" marL="0">
              <a:buNone/>
            </a:pPr>
            <a:r>
              <a:rPr lang="en-US" sz="1300" u="sng" dirty="0">
                <a:solidFill>
                  <a:srgbClr val="2A78D6"/>
                </a:solidFill>
                <a:hlinkClick r:id="rId4" invalidUrl="" action="" tgtFrame="" tooltip="" history="1" highlightClick="0" endSnd="0">
                  <a:extLst>
                    <a:ext uri="{A12FA001-AC4F-418D-AE19-62706E023703}">
                      <ahyp:hlinkClr xmlns:ahyp="http://schemas.microsoft.com/office/drawing/2018/hyperlinkcolor" val="tx"/>
                    </a:ext>
                  </a:extLst>
                </a:hlinkClick>
              </a:rPr>
              <a:t>shihan-2002.github.io/shelf-signal-dashboard</a:t>
            </a:r>
            <a:endParaRPr lang="en-US" sz="1300" dirty="0"/>
          </a:p>
        </p:txBody>
      </p:sp>
      <p:sp>
        <p:nvSpPr>
          <p:cNvPr id="6" name="Forecast explorer circle"/>
          <p:cNvSpPr/>
          <p:nvPr/>
        </p:nvSpPr>
        <p:spPr>
          <a:xfrm>
            <a:off x="7680960" y="1463040"/>
            <a:ext cx="685800" cy="685800"/>
          </a:xfrm>
          <a:prstGeom prst="ellipse">
            <a:avLst/>
          </a:prstGeom>
          <a:solidFill>
            <a:srgbClr val="1B2A41"/>
          </a:solidFill>
          <a:ln w="12700">
            <a:solidFill>
              <a:srgbClr val="1B2A41"/>
            </a:solidFill>
            <a:prstDash val="solid"/>
          </a:ln>
        </p:spPr>
      </p:sp>
      <p:pic>
        <p:nvPicPr>
          <p:cNvPr id="7" name="Forecast explorer icon" descr="preencoded.png">    </p:cNvPr>
          <p:cNvPicPr>
            <a:picLocks noChangeAspect="1"/>
          </p:cNvPicPr>
          <p:nvPr/>
        </p:nvPicPr>
        <p:blipFill>
          <a:blip r:embed="rId5"/>
          <a:stretch>
            <a:fillRect/>
          </a:stretch>
        </p:blipFill>
        <p:spPr>
          <a:xfrm>
            <a:off x="7845552" y="1627632"/>
            <a:ext cx="356616" cy="356616"/>
          </a:xfrm>
          <a:prstGeom prst="rect">
            <a:avLst/>
          </a:prstGeom>
        </p:spPr>
      </p:pic>
      <p:sp>
        <p:nvSpPr>
          <p:cNvPr id="8" name="Text 4"/>
          <p:cNvSpPr txBox="1"/>
          <p:nvPr/>
        </p:nvSpPr>
        <p:spPr>
          <a:xfrm>
            <a:off x="8549640" y="1417320"/>
            <a:ext cx="3108960" cy="411480"/>
          </a:xfrm>
          <a:prstGeom prst="rect">
            <a:avLst/>
          </a:prstGeom>
          <a:noFill/>
          <a:ln/>
        </p:spPr>
        <p:txBody>
          <a:bodyPr wrap="square" lIns="0" tIns="0" rIns="0" bIns="0" rtlCol="0" anchor="b"/>
          <a:lstStyle/>
          <a:p>
            <a:pPr indent="0" marL="0">
              <a:buNone/>
            </a:pPr>
            <a:r>
              <a:rPr lang="en-US" sz="1700" b="1" dirty="0">
                <a:solidFill>
                  <a:schemeClr val="tx2"/>
                </a:solidFill>
              </a:rPr>
              <a:t>Forecast explorer</a:t>
            </a:r>
            <a:endParaRPr lang="en-US" sz="1700" dirty="0"/>
          </a:p>
        </p:txBody>
      </p:sp>
      <p:sp>
        <p:nvSpPr>
          <p:cNvPr id="9" name="Text 5"/>
          <p:cNvSpPr txBox="1"/>
          <p:nvPr/>
        </p:nvSpPr>
        <p:spPr>
          <a:xfrm>
            <a:off x="8549640" y="1856232"/>
            <a:ext cx="3108960" cy="640080"/>
          </a:xfrm>
          <a:prstGeom prst="rect">
            <a:avLst/>
          </a:prstGeom>
          <a:noFill/>
          <a:ln/>
        </p:spPr>
        <p:txBody>
          <a:bodyPr wrap="square" lIns="0" tIns="0" rIns="0" bIns="0" rtlCol="0" anchor="t"/>
          <a:lstStyle/>
          <a:p>
            <a:pPr indent="0" marL="0">
              <a:buNone/>
            </a:pPr>
            <a:r>
              <a:rPr lang="en-US" sz="1400" dirty="0">
                <a:solidFill>
                  <a:schemeClr val="tx1"/>
                </a:solidFill>
              </a:rPr>
              <a:t>One store's department: every model against actual sales</a:t>
            </a:r>
            <a:endParaRPr lang="en-US" sz="1400" dirty="0"/>
          </a:p>
        </p:txBody>
      </p:sp>
      <p:sp>
        <p:nvSpPr>
          <p:cNvPr id="10" name="AI lab circle"/>
          <p:cNvSpPr/>
          <p:nvPr/>
        </p:nvSpPr>
        <p:spPr>
          <a:xfrm>
            <a:off x="7680960" y="2651760"/>
            <a:ext cx="685800" cy="685800"/>
          </a:xfrm>
          <a:prstGeom prst="ellipse">
            <a:avLst/>
          </a:prstGeom>
          <a:solidFill>
            <a:srgbClr val="1B2A41"/>
          </a:solidFill>
          <a:ln w="12700">
            <a:solidFill>
              <a:srgbClr val="1B2A41"/>
            </a:solidFill>
            <a:prstDash val="solid"/>
          </a:ln>
        </p:spPr>
      </p:sp>
      <p:pic>
        <p:nvPicPr>
          <p:cNvPr id="11" name="AI lab icon" descr="preencoded.png">    </p:cNvPr>
          <p:cNvPicPr>
            <a:picLocks noChangeAspect="1"/>
          </p:cNvPicPr>
          <p:nvPr/>
        </p:nvPicPr>
        <p:blipFill>
          <a:blip r:embed="rId6"/>
          <a:stretch>
            <a:fillRect/>
          </a:stretch>
        </p:blipFill>
        <p:spPr>
          <a:xfrm>
            <a:off x="7845552" y="2816352"/>
            <a:ext cx="356616" cy="356616"/>
          </a:xfrm>
          <a:prstGeom prst="rect">
            <a:avLst/>
          </a:prstGeom>
        </p:spPr>
      </p:pic>
      <p:sp>
        <p:nvSpPr>
          <p:cNvPr id="12" name="Text 7"/>
          <p:cNvSpPr txBox="1"/>
          <p:nvPr/>
        </p:nvSpPr>
        <p:spPr>
          <a:xfrm>
            <a:off x="8549640" y="2606040"/>
            <a:ext cx="3108960" cy="411480"/>
          </a:xfrm>
          <a:prstGeom prst="rect">
            <a:avLst/>
          </a:prstGeom>
          <a:noFill/>
          <a:ln/>
        </p:spPr>
        <p:txBody>
          <a:bodyPr wrap="square" lIns="0" tIns="0" rIns="0" bIns="0" rtlCol="0" anchor="b"/>
          <a:lstStyle/>
          <a:p>
            <a:pPr indent="0" marL="0">
              <a:buNone/>
            </a:pPr>
            <a:r>
              <a:rPr lang="en-US" sz="1700" b="1" dirty="0">
                <a:solidFill>
                  <a:schemeClr val="tx2"/>
                </a:solidFill>
              </a:rPr>
              <a:t>AI lab</a:t>
            </a:r>
            <a:endParaRPr lang="en-US" sz="1700" dirty="0"/>
          </a:p>
        </p:txBody>
      </p:sp>
      <p:sp>
        <p:nvSpPr>
          <p:cNvPr id="13" name="Text 8"/>
          <p:cNvSpPr txBox="1"/>
          <p:nvPr/>
        </p:nvSpPr>
        <p:spPr>
          <a:xfrm>
            <a:off x="8549640" y="3044952"/>
            <a:ext cx="3108960" cy="640080"/>
          </a:xfrm>
          <a:prstGeom prst="rect">
            <a:avLst/>
          </a:prstGeom>
          <a:noFill/>
          <a:ln/>
        </p:spPr>
        <p:txBody>
          <a:bodyPr wrap="square" lIns="0" tIns="0" rIns="0" bIns="0" rtlCol="0" anchor="t"/>
          <a:lstStyle/>
          <a:p>
            <a:pPr indent="0" marL="0">
              <a:buNone/>
            </a:pPr>
            <a:r>
              <a:rPr lang="en-US" sz="1400" dirty="0">
                <a:solidFill>
                  <a:schemeClr val="tx1"/>
                </a:solidFill>
              </a:rPr>
              <a:t>Claude's own reasoning, and the named-vs-blind test</a:t>
            </a:r>
            <a:endParaRPr lang="en-US" sz="1400" dirty="0"/>
          </a:p>
        </p:txBody>
      </p:sp>
      <p:sp>
        <p:nvSpPr>
          <p:cNvPr id="14" name="Order planner circle"/>
          <p:cNvSpPr/>
          <p:nvPr/>
        </p:nvSpPr>
        <p:spPr>
          <a:xfrm>
            <a:off x="7680960" y="3840480"/>
            <a:ext cx="685800" cy="685800"/>
          </a:xfrm>
          <a:prstGeom prst="ellipse">
            <a:avLst/>
          </a:prstGeom>
          <a:solidFill>
            <a:srgbClr val="1B2A41"/>
          </a:solidFill>
          <a:ln w="12700">
            <a:solidFill>
              <a:srgbClr val="1B2A41"/>
            </a:solidFill>
            <a:prstDash val="solid"/>
          </a:ln>
        </p:spPr>
      </p:sp>
      <p:pic>
        <p:nvPicPr>
          <p:cNvPr id="15" name="Order planner icon" descr="preencoded.png">    </p:cNvPr>
          <p:cNvPicPr>
            <a:picLocks noChangeAspect="1"/>
          </p:cNvPicPr>
          <p:nvPr/>
        </p:nvPicPr>
        <p:blipFill>
          <a:blip r:embed="rId7"/>
          <a:stretch>
            <a:fillRect/>
          </a:stretch>
        </p:blipFill>
        <p:spPr>
          <a:xfrm>
            <a:off x="7845552" y="4005072"/>
            <a:ext cx="356616" cy="356616"/>
          </a:xfrm>
          <a:prstGeom prst="rect">
            <a:avLst/>
          </a:prstGeom>
        </p:spPr>
      </p:pic>
      <p:sp>
        <p:nvSpPr>
          <p:cNvPr id="16" name="Text 10"/>
          <p:cNvSpPr txBox="1"/>
          <p:nvPr/>
        </p:nvSpPr>
        <p:spPr>
          <a:xfrm>
            <a:off x="8549640" y="3794760"/>
            <a:ext cx="3108960" cy="411480"/>
          </a:xfrm>
          <a:prstGeom prst="rect">
            <a:avLst/>
          </a:prstGeom>
          <a:noFill/>
          <a:ln/>
        </p:spPr>
        <p:txBody>
          <a:bodyPr wrap="square" lIns="0" tIns="0" rIns="0" bIns="0" rtlCol="0" anchor="b"/>
          <a:lstStyle/>
          <a:p>
            <a:pPr indent="0" marL="0">
              <a:buNone/>
            </a:pPr>
            <a:r>
              <a:rPr lang="en-US" sz="1700" b="1" dirty="0">
                <a:solidFill>
                  <a:schemeClr val="tx2"/>
                </a:solidFill>
              </a:rPr>
              <a:t>Order planner</a:t>
            </a:r>
            <a:endParaRPr lang="en-US" sz="1700" dirty="0"/>
          </a:p>
        </p:txBody>
      </p:sp>
      <p:sp>
        <p:nvSpPr>
          <p:cNvPr id="17" name="Text 11"/>
          <p:cNvSpPr txBox="1"/>
          <p:nvPr/>
        </p:nvSpPr>
        <p:spPr>
          <a:xfrm>
            <a:off x="8549640" y="4233672"/>
            <a:ext cx="3108960" cy="640080"/>
          </a:xfrm>
          <a:prstGeom prst="rect">
            <a:avLst/>
          </a:prstGeom>
          <a:noFill/>
          <a:ln/>
        </p:spPr>
        <p:txBody>
          <a:bodyPr wrap="square" lIns="0" tIns="0" rIns="0" bIns="0" rtlCol="0" anchor="t"/>
          <a:lstStyle/>
          <a:p>
            <a:pPr indent="0" marL="0">
              <a:buNone/>
            </a:pPr>
            <a:r>
              <a:rPr lang="en-US" sz="1400" dirty="0">
                <a:solidFill>
                  <a:schemeClr val="tx1"/>
                </a:solidFill>
              </a:rPr>
              <a:t>Change the margin: the order moves between P20 and P80</a:t>
            </a:r>
            <a:endParaRPr lang="en-US" sz="1400" dirty="0"/>
          </a:p>
        </p:txBody>
      </p:sp>
      <p:sp>
        <p:nvSpPr>
          <p:cNvPr id="18" name="Text 12"/>
          <p:cNvSpPr txBox="1"/>
          <p:nvPr/>
        </p:nvSpPr>
        <p:spPr>
          <a:xfrm>
            <a:off x="7680960" y="5074920"/>
            <a:ext cx="3931920" cy="640080"/>
          </a:xfrm>
          <a:prstGeom prst="rect">
            <a:avLst/>
          </a:prstGeom>
          <a:noFill/>
          <a:ln/>
        </p:spPr>
        <p:txBody>
          <a:bodyPr wrap="square" lIns="0" tIns="0" rIns="0" bIns="0" rtlCol="0" anchor="ctr"/>
          <a:lstStyle/>
          <a:p>
            <a:pPr indent="0" marL="0">
              <a:buNone/>
            </a:pPr>
            <a:r>
              <a:rPr lang="en-US" sz="2600" b="1" dirty="0">
                <a:solidFill>
                  <a:srgbClr val="1B2A41"/>
                </a:solidFill>
                <a:latin typeface="Cambria" pitchFamily="34" charset="0"/>
                <a:ea typeface="Cambria" pitchFamily="34" charset="-122"/>
                <a:cs typeface="Cambria" pitchFamily="34" charset="-120"/>
              </a:rPr>
              <a:t>Thank you — questions?</a:t>
            </a:r>
            <a:endParaRPr lang="en-US" sz="2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Group 3 Forecasting">
  <a:themeElements>
    <a:clrScheme name="Group 3 Forecasting">
      <a:dk1>
        <a:srgbClr val="1F2328"/>
      </a:dk1>
      <a:lt1>
        <a:srgbClr val="FFFFFF"/>
      </a:lt1>
      <a:dk2>
        <a:srgbClr val="1B2A41"/>
      </a:dk2>
      <a:lt2>
        <a:srgbClr val="EEF1F5"/>
      </a:lt2>
      <a:accent1>
        <a:srgbClr val="2A78D6"/>
      </a:accent1>
      <a:accent2>
        <a:srgbClr val="EB6834"/>
      </a:accent2>
      <a:accent3>
        <a:srgbClr val="1BAF7A"/>
      </a:accent3>
      <a:accent4>
        <a:srgbClr val="4A3AA7"/>
      </a:accent4>
      <a:accent5>
        <a:srgbClr val="D55181"/>
      </a:accent5>
      <a:accent6>
        <a:srgbClr val="F2B33D"/>
      </a:accent6>
      <a:hlink>
        <a:srgbClr val="2A78D6"/>
      </a:hlink>
      <a:folHlink>
        <a:srgbClr val="4A3AA7"/>
      </a:folHlink>
    </a:clrScheme>
    <a:fontScheme name="Group 3 Foreca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AI Foundation Models Beat Traditional Statistical Models?</dc:title>
  <dc:subject>PptxGenJS Presentation</dc:subject>
  <dc:creator>Group 3</dc:creator>
  <cp:lastModifiedBy>Group 3</cp:lastModifiedBy>
  <cp:revision>1</cp:revision>
  <dcterms:created xsi:type="dcterms:W3CDTF">2026-10-22T03:07:35Z</dcterms:created>
  <dcterms:modified xsi:type="dcterms:W3CDTF">2026-10-22T03:07:35Z</dcterms:modified>
</cp:coreProperties>
</file>