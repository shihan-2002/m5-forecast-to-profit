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e53d33f4-aa6c-5c90-3469-f815ff60a652}">
          <p14:sldIdLst>
            <p14:sldId id="256"/>
            <p14:sldId id="257"/>
          </p14:sldIdLst>
        </p14:section>
        <p14:section name="Models and results" id="{2a24e641-66d8-7f25-ab56-c58e4180f592}">
          <p14:sldIdLst>
            <p14:sldId id="258"/>
            <p14:sldId id="259"/>
            <p14:sldId id="260"/>
          </p14:sldIdLst>
        </p14:section>
        <p14:section name="LLM experiment" id="{314b57f1-0173-6e32-7d28-fdec6243a08e}">
          <p14:sldIdLst>
            <p14:sldId id="261"/>
            <p14:sldId id="262"/>
          </p14:sldIdLst>
        </p14:section>
        <p14:section name="Answer and demo" id="{396e6b55-ff42-ee61-db58-567f5c5d19cf}">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Total daily units, all 4 stores, during the 28-day test window</a:t>
            </a:r>
          </a:p>
        </c:rich>
      </c:tx>
      <c:layout/>
      <c:overlay val="0"/>
    </c:title>
    <c:autoTitleDeleted val="0"/>
    <c:plotArea>
      <c:layout/>
      <c:lineChart>
        <c:varyColors val="0"/>
        <c:ser>
          <c:idx val="0"/>
          <c:order val="0"/>
          <c:tx>
            <c:strRef>
              <c:f>Sheet1!$B$1</c:f>
              <c:strCache>
                <c:ptCount val="1"/>
                <c:pt idx="0">
                  <c:v>Actual sales</c:v>
                </c:pt>
              </c:strCache>
            </c:strRef>
          </c:tx>
          <c:spPr>
            <a:solidFill>
              <a:srgbClr val="1F2328"/>
            </a:solidFill>
            <a:ln w="28575" cap="flat">
              <a:solidFill>
                <a:srgbClr val="1F2328"/>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F2328"/>
              </a:solidFill>
              <a:ln w="9525" cap="flat">
                <a:solidFill>
                  <a:srgbClr val="1F2328"/>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Sheet1!$B$2:$B$29</c:f>
              <c:numCache>
                <c:formatCode>General</c:formatCode>
                <c:ptCount val="28"/>
                <c:pt idx="0">
                  <c:v>11368</c:v>
                </c:pt>
                <c:pt idx="1">
                  <c:v>10427</c:v>
                </c:pt>
                <c:pt idx="2">
                  <c:v>10249</c:v>
                </c:pt>
                <c:pt idx="3">
                  <c:v>11213</c:v>
                </c:pt>
                <c:pt idx="4">
                  <c:v>12113</c:v>
                </c:pt>
                <c:pt idx="5">
                  <c:v>13730</c:v>
                </c:pt>
                <c:pt idx="6">
                  <c:v>13539</c:v>
                </c:pt>
                <c:pt idx="7">
                  <c:v>12488</c:v>
                </c:pt>
                <c:pt idx="8">
                  <c:v>11014</c:v>
                </c:pt>
                <c:pt idx="9">
                  <c:v>11702</c:v>
                </c:pt>
                <c:pt idx="10">
                  <c:v>10531</c:v>
                </c:pt>
                <c:pt idx="11">
                  <c:v>12733</c:v>
                </c:pt>
                <c:pt idx="12">
                  <c:v>15366</c:v>
                </c:pt>
                <c:pt idx="13">
                  <c:v>15870</c:v>
                </c:pt>
                <c:pt idx="14">
                  <c:v>11763</c:v>
                </c:pt>
                <c:pt idx="15">
                  <c:v>11941</c:v>
                </c:pt>
                <c:pt idx="16">
                  <c:v>11081</c:v>
                </c:pt>
                <c:pt idx="17">
                  <c:v>11283</c:v>
                </c:pt>
                <c:pt idx="18">
                  <c:v>12709</c:v>
                </c:pt>
                <c:pt idx="19">
                  <c:v>14513</c:v>
                </c:pt>
                <c:pt idx="20">
                  <c:v>15170</c:v>
                </c:pt>
                <c:pt idx="21">
                  <c:v>11625</c:v>
                </c:pt>
                <c:pt idx="22">
                  <c:v>10395</c:v>
                </c:pt>
                <c:pt idx="23">
                  <c:v>10322</c:v>
                </c:pt>
                <c:pt idx="24">
                  <c:v>9982</c:v>
                </c:pt>
                <c:pt idx="25">
                  <c:v>11769</c:v>
                </c:pt>
                <c:pt idx="26">
                  <c:v>14284</c:v>
                </c:pt>
                <c:pt idx="27">
                  <c:v>13610</c:v>
                </c:pt>
              </c:numCache>
            </c:numRef>
          </c:val>
          <c:smooth val="0"/>
        </c:ser>
        <c:ser>
          <c:idx val="1"/>
          <c:order val="1"/>
          <c:tx>
            <c:strRef>
              <c:f>Sheet1!$C$1</c:f>
              <c:strCache>
                <c:ptCount val="1"/>
                <c:pt idx="0">
                  <c:v>Ensemble (traditional)</c:v>
                </c:pt>
              </c:strCache>
            </c:strRef>
          </c:tx>
          <c:spPr>
            <a:solidFill>
              <a:srgbClr val="0F5C73"/>
            </a:solidFill>
            <a:ln w="28575" cap="flat">
              <a:solidFill>
                <a:srgbClr val="0F5C7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0F5C73"/>
              </a:solidFill>
              <a:ln w="9525" cap="flat">
                <a:solidFill>
                  <a:srgbClr val="0F5C73"/>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Sheet1!$C$2:$C$29</c:f>
              <c:numCache>
                <c:formatCode>General</c:formatCode>
                <c:ptCount val="28"/>
                <c:pt idx="0">
                  <c:v>11544</c:v>
                </c:pt>
                <c:pt idx="1">
                  <c:v>10589</c:v>
                </c:pt>
                <c:pt idx="2">
                  <c:v>10415</c:v>
                </c:pt>
                <c:pt idx="3">
                  <c:v>10387</c:v>
                </c:pt>
                <c:pt idx="4">
                  <c:v>11330</c:v>
                </c:pt>
                <c:pt idx="5">
                  <c:v>13784</c:v>
                </c:pt>
                <c:pt idx="6">
                  <c:v>14357</c:v>
                </c:pt>
                <c:pt idx="7">
                  <c:v>11927</c:v>
                </c:pt>
                <c:pt idx="8">
                  <c:v>10608</c:v>
                </c:pt>
                <c:pt idx="9">
                  <c:v>11176</c:v>
                </c:pt>
                <c:pt idx="10">
                  <c:v>11145</c:v>
                </c:pt>
                <c:pt idx="11">
                  <c:v>12594</c:v>
                </c:pt>
                <c:pt idx="12">
                  <c:v>14725</c:v>
                </c:pt>
                <c:pt idx="13">
                  <c:v>15123</c:v>
                </c:pt>
                <c:pt idx="14">
                  <c:v>12273</c:v>
                </c:pt>
                <c:pt idx="15">
                  <c:v>11557</c:v>
                </c:pt>
                <c:pt idx="16">
                  <c:v>11139</c:v>
                </c:pt>
                <c:pt idx="17">
                  <c:v>11124</c:v>
                </c:pt>
                <c:pt idx="18">
                  <c:v>12187</c:v>
                </c:pt>
                <c:pt idx="19">
                  <c:v>14553</c:v>
                </c:pt>
                <c:pt idx="20">
                  <c:v>15125</c:v>
                </c:pt>
                <c:pt idx="21">
                  <c:v>12043</c:v>
                </c:pt>
                <c:pt idx="22">
                  <c:v>11040</c:v>
                </c:pt>
                <c:pt idx="23">
                  <c:v>10881</c:v>
                </c:pt>
                <c:pt idx="24">
                  <c:v>10860</c:v>
                </c:pt>
                <c:pt idx="25">
                  <c:v>11938</c:v>
                </c:pt>
                <c:pt idx="26">
                  <c:v>14484</c:v>
                </c:pt>
                <c:pt idx="27">
                  <c:v>14472</c:v>
                </c:pt>
              </c:numCache>
            </c:numRef>
          </c:val>
          <c:smooth val="0"/>
        </c:ser>
        <c:ser>
          <c:idx val="2"/>
          <c:order val="2"/>
          <c:tx>
            <c:strRef>
              <c:f>Sheet1!$D$1</c:f>
              <c:strCache>
                <c:ptCount val="1"/>
                <c:pt idx="0">
                  <c:v>AutoARIMA (traditional)</c:v>
                </c:pt>
              </c:strCache>
            </c:strRef>
          </c:tx>
          <c:spPr>
            <a:solidFill>
              <a:srgbClr val="1BAF7A"/>
            </a:solidFill>
            <a:ln w="28575"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AF7A"/>
              </a:solidFill>
              <a:ln w="9525" cap="flat">
                <a:solidFill>
                  <a:srgbClr val="1BAF7A"/>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Sheet1!$D$2:$D$29</c:f>
              <c:numCache>
                <c:formatCode>General</c:formatCode>
                <c:ptCount val="28"/>
                <c:pt idx="0">
                  <c:v>12677</c:v>
                </c:pt>
                <c:pt idx="1">
                  <c:v>12231</c:v>
                </c:pt>
                <c:pt idx="2">
                  <c:v>12097</c:v>
                </c:pt>
                <c:pt idx="3">
                  <c:v>12062</c:v>
                </c:pt>
                <c:pt idx="4">
                  <c:v>12327</c:v>
                </c:pt>
                <c:pt idx="5">
                  <c:v>13014</c:v>
                </c:pt>
                <c:pt idx="6">
                  <c:v>13220</c:v>
                </c:pt>
                <c:pt idx="7">
                  <c:v>12409</c:v>
                </c:pt>
                <c:pt idx="8">
                  <c:v>12197</c:v>
                </c:pt>
                <c:pt idx="9">
                  <c:v>12136</c:v>
                </c:pt>
                <c:pt idx="10">
                  <c:v>12142</c:v>
                </c:pt>
                <c:pt idx="11">
                  <c:v>12332</c:v>
                </c:pt>
                <c:pt idx="12">
                  <c:v>12863</c:v>
                </c:pt>
                <c:pt idx="13">
                  <c:v>12976</c:v>
                </c:pt>
                <c:pt idx="14">
                  <c:v>12403</c:v>
                </c:pt>
                <c:pt idx="15">
                  <c:v>12255</c:v>
                </c:pt>
                <c:pt idx="16">
                  <c:v>12202</c:v>
                </c:pt>
                <c:pt idx="17">
                  <c:v>12211</c:v>
                </c:pt>
                <c:pt idx="18">
                  <c:v>12356</c:v>
                </c:pt>
                <c:pt idx="19">
                  <c:v>12746</c:v>
                </c:pt>
                <c:pt idx="20">
                  <c:v>12848</c:v>
                </c:pt>
                <c:pt idx="21">
                  <c:v>12403</c:v>
                </c:pt>
                <c:pt idx="22">
                  <c:v>12274</c:v>
                </c:pt>
                <c:pt idx="23">
                  <c:v>12244</c:v>
                </c:pt>
                <c:pt idx="24">
                  <c:v>12238</c:v>
                </c:pt>
                <c:pt idx="25">
                  <c:v>12386</c:v>
                </c:pt>
                <c:pt idx="26">
                  <c:v>12723</c:v>
                </c:pt>
                <c:pt idx="27">
                  <c:v>12798</c:v>
                </c:pt>
              </c:numCache>
            </c:numRef>
          </c:val>
          <c:smooth val="0"/>
        </c:ser>
        <c:ser>
          <c:idx val="3"/>
          <c:order val="3"/>
          <c:tx>
            <c:strRef>
              <c:f>Sheet1!$E$1</c:f>
              <c:strCache>
                <c:ptCount val="1"/>
                <c:pt idx="0">
                  <c:v>Chronos (AI)</c:v>
                </c:pt>
              </c:strCache>
            </c:strRef>
          </c:tx>
          <c:spPr>
            <a:solidFill>
              <a:srgbClr val="EB6834"/>
            </a:solidFill>
            <a:ln w="28575"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Sheet1!$E$2:$E$29</c:f>
              <c:numCache>
                <c:formatCode>General</c:formatCode>
                <c:ptCount val="28"/>
                <c:pt idx="0">
                  <c:v>11182</c:v>
                </c:pt>
                <c:pt idx="1">
                  <c:v>10215</c:v>
                </c:pt>
                <c:pt idx="2">
                  <c:v>9938</c:v>
                </c:pt>
                <c:pt idx="3">
                  <c:v>10217</c:v>
                </c:pt>
                <c:pt idx="4">
                  <c:v>11170</c:v>
                </c:pt>
                <c:pt idx="5">
                  <c:v>12537</c:v>
                </c:pt>
                <c:pt idx="6">
                  <c:v>12523</c:v>
                </c:pt>
                <c:pt idx="7">
                  <c:v>11093</c:v>
                </c:pt>
                <c:pt idx="8">
                  <c:v>10209</c:v>
                </c:pt>
                <c:pt idx="9">
                  <c:v>9962</c:v>
                </c:pt>
                <c:pt idx="10">
                  <c:v>10177</c:v>
                </c:pt>
                <c:pt idx="11">
                  <c:v>11079</c:v>
                </c:pt>
                <c:pt idx="12">
                  <c:v>12326</c:v>
                </c:pt>
                <c:pt idx="13">
                  <c:v>12350</c:v>
                </c:pt>
                <c:pt idx="14">
                  <c:v>10809</c:v>
                </c:pt>
                <c:pt idx="15">
                  <c:v>9862</c:v>
                </c:pt>
                <c:pt idx="16">
                  <c:v>9557</c:v>
                </c:pt>
                <c:pt idx="17">
                  <c:v>9820</c:v>
                </c:pt>
                <c:pt idx="18">
                  <c:v>10760</c:v>
                </c:pt>
                <c:pt idx="19">
                  <c:v>12135</c:v>
                </c:pt>
                <c:pt idx="20">
                  <c:v>12124</c:v>
                </c:pt>
                <c:pt idx="21">
                  <c:v>10678</c:v>
                </c:pt>
                <c:pt idx="22">
                  <c:v>9859</c:v>
                </c:pt>
                <c:pt idx="23">
                  <c:v>9656</c:v>
                </c:pt>
                <c:pt idx="24">
                  <c:v>9896</c:v>
                </c:pt>
                <c:pt idx="25">
                  <c:v>10769</c:v>
                </c:pt>
                <c:pt idx="26">
                  <c:v>12034</c:v>
                </c:pt>
                <c:pt idx="27">
                  <c:v>12108</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7"/>
      </c:catAx>
      <c:valAx>
        <c:axId val="2094734552"/>
        <c:scaling>
          <c:orientation val="minMax"/>
          <c:min val="9000"/>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 forecast has three jobs: be accurate, be cheap and fast enough to run every day for thousands of products, and support good stocking decisions. LightGBM, a machine-learning method, dominates this kind of retail data and has become the industry default. Since then, AI foundation models, pre-trained on huge datasets, can forecast a product they have never seen, with no training at all. So we ask: can these AI models beat traditional statistical and machine-learning methods, on accuracy and on efficiency?
TRANSITION: Here is our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official M5 metric: it scales each product's error by how hard it is to forecast and weights it by dollar sales. Lower is better, and below one beats a naive forecast. One caveat up front: this is a single 28-day window.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dominant approach for this kind of retail data. It is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our data: the Chronos paper keeps M5, and every retail dataset it uses, out of training as held-out tests. Seasonal naive, 'same weekday last week', is the benchmark.
We also test the simplest possible combination: an unweighted average of AutoETS and LightGBM. And as an experiment, a second AI joins on a subset of series: Claude, a general-purpose language model, which we'll come back to later. Note that the inputs differ: only LightGBM and Claude see prices and the calendar.
TRANSITION: So which model is best, and at what? Here's the scorecard.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 is the comparison: traditional models against AI, on four questions. A quick guide first. RMSSE compares a model's errors with a naive "same as yesterday" forecast for the same product, and WRMSSE combines that score across all products, weighted by dollar sales. The store-totals column is the average daily percentage error. In every accuracy column, smaller is better. So, who is most accurate overall? A traditional model: the simple average of AutoETS and LightGBM, with LightGBM alone in second. Who forecasts store totals best? Again, the traditional models. For single products, it's close, and the AI is level with LightGBM. And who is fastest? The AI, Chronos, by far: seconds instead of minutes, with no training at all.
So from a traditional point of view, the best choice is the AutoETS-plus-LightGBM average, and the AI's real strength is speed. The green cells show the winner of each column.
POINT AT: the green cells, column by column.
TRANSITION: Let's see what those forecasts actually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Here's what that looks like. The black line is actual daily sales across all four stores during the test month. The traditional average, in teal, rises and falls with every weekend peak. AutoARIMA, in green, is almost flat, and Chronos, in orange, has the right shape but sits too low.
Why? AutoARIMA and Chronos look at one product at a time. For a product that sells a unit or two a day, the best guess is a flat line, and thousands of flat lines added up miss the weekend. LightGBM learns from all products together, so it sees the weekend rush, and averaging it with AutoETS smooths out the rest. Zoom into a single product, though, and the lines come together: one product's daily sales are mostly noise.
TRANSITION: So the specialist AI is fast but less accurate. What about a generalist AI that reads and reasons? Speaker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Now a generalist AI. We used Claude through its API. For each product, our code sends the past year of daily sales as plain text, one row per day with the date, holidays, food-stamp days and price, plus an instruction: forecast the next 28 days and answer in a fixed format. Claude reads the numbers, reasons about patterns such as weekends and holidays, and sends back 28 daily forecasts with a short explanation. No statistical model is fitted; it works from what it learned in training.
Each request costs money and takes a few seconds, so to keep the cost down we used a subset instead of all 5,748 series: 100 randomly chosen products and the 12 store-by-department totals. Every other model was scored on exactly the same series, and to keep it fair, the other models were also fitted directly on those totals.
How did it perform? On the store totals, very well: it matched our best traditional forecast, the AutoETS-plus-LightGBM average, and beat every single model, including Chronos. On individual products it was in the pack, behind AutoETS and AutoARIMA. So the generalist AI was more accurate than the specialist one, but far slower and more costly to run at scale.
POINT AT: the Claude bars at the top of the chart, then the comparison table.
TRANSITION: Using a language model also brings a specific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(1:00)
The obvious worry: M5 is public data, so Claude may have seen these exact sales during training, and be remembering rather than forecasting. So we ran a blind test. Every forecast was made twice: once with the real labels, meaning Walmart, the store and product IDs, and the real dates; and once with all of that hidden, just 'day 1, day 2' with no names and no year.
Think of it as a blind taste test. It's the same idea as a permutation test in statistics: if the labels carry no information, taking them away shouldn't change the result. And it didn't: accuracy was practically identical with and without the labels, 0.579 versus 0.583. Knowing it was Walmart in 2016 gave Claude no advantage.
We also saved every response so the results can be re-checked, and checked that every answer came back in the right format. One honest limit remains: hiding the labels can't hide the sales pattern itself. If Claude had memorised the shape of these series, a blind test couldn't catch it, so contamination can't be fully ruled out.
IF ASKED (permutation test): it is the same idea, not a formal permutation test. A real one reshuffles labels many times to get a p-value; we made one with-labels vs without-labels comparison.
BACKGROUND (not to read aloud): Our code asked Claude for 28 daily forecasts in a fixed JSON format. We checked each reply had exactly 28 days and retried automatically if not. 224 requests = 112 series x 2 versions (named and blind); all came back usable. Every reply is saved in our repo.
TRANSITION: Speaker 4 will wrap up and show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(1:45)
So, can AI foundation models beat traditional methods? Our answer: not yet on accuracy, yes on speed. LightGBM, AutoETS and their simple average were the three most accurate. Chronos was the clear winner on speed: ten seconds, no training. And Claude matched the best traditional approach on store totals.
Our results have limits. First, Claude was tested on a subset, and our blind test can't fully rule out that it saw this public data. Second,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So what happened when we turned each model's forecasts into actual orders? For most products, it barely mattered which model we used: the profit differences were small enough to be luck. Only for high-margin products, where running out of stock is expensive, did the more accurate model, LightGBM, clearly make more money.
So our recommendation: average a statistical model like AutoETS with LightGBM, use Chronos where speed or a lack of training data matters, and choose models on the metric that matches the business decision. Our next step is a rolling backtest over several windows.
Let me show you the business problem in our dashboard.
TRANSITION: click the screenshot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wins on speed, and the right order depends on your costs. Thank you, and we're happy to take questions.
[Press Cmd+Tab to return to the slides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ihan-2002.github.io/shelf-signal-dashboard/#planner" TargetMode="External"/><Relationship Id="rId3" Type="http://schemas.openxmlformats.org/officeDocument/2006/relationships/hyperlink" Target="https://shihan-2002.github.io/shelf-signal-dashboard/#planner" TargetMode="External"/><Relationship Id="rId4" Type="http://schemas.openxmlformats.org/officeDocument/2006/relationships/hyperlink" Target="https://shihan-2002.github.io/shelf-signal-dashboard/#planner"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457200">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45720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4A3AA7"/>
                          </a:solidFill>
                        </a:rPr>
                        <a:t>Claude (experiment)</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General-purpose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Reads sales as text and reasons; 112 series only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577840"/>
            <a:ext cx="11064240" cy="640080"/>
          </a:xfrm>
          <a:prstGeom prst="roundRect">
            <a:avLst>
              <a:gd name="adj" fmla="val 17143"/>
            </a:avLst>
          </a:prstGeom>
          <a:solidFill>
            <a:schemeClr val="bg2"/>
          </a:solidFill>
          <a:ln w="12700">
            <a:solidFill>
              <a:schemeClr val="bg2"/>
            </a:solidFill>
            <a:prstDash val="solid"/>
          </a:ln>
        </p:spPr>
      </p:sp>
      <p:sp>
        <p:nvSpPr>
          <p:cNvPr id="5" name="Text 2"/>
          <p:cNvSpPr txBox="1"/>
          <p:nvPr/>
        </p:nvSpPr>
        <p:spPr>
          <a:xfrm>
            <a:off x="822960" y="5577840"/>
            <a:ext cx="10607040" cy="640080"/>
          </a:xfrm>
          <a:prstGeom prst="rect">
            <a:avLst/>
          </a:prstGeom>
          <a:noFill/>
          <a:ln/>
        </p:spPr>
        <p:txBody>
          <a:bodyPr wrap="square" lIns="0" tIns="0" rIns="0" bIns="0" rtlCol="0" anchor="ctr"/>
          <a:lstStyle/>
          <a:p>
            <a:pPr indent="0" marL="0">
              <a:buNone/>
            </a:pPr>
            <a:r>
              <a:rPr lang="en-US" sz="1400" b="1" dirty="0">
                <a:solidFill>
                  <a:schemeClr val="tx2"/>
                </a:solidFill>
              </a:rPr>
              <a:t>Inputs differ: </a:t>
            </a:r>
            <a:pPr indent="0" marL="0">
              <a:buNone/>
            </a:pPr>
            <a:r>
              <a:rPr lang="en-US" sz="1400" dirty="0">
                <a:solidFill>
                  <a:schemeClr val="tx2"/>
                </a:solidFill>
              </a:rPr>
              <a:t>AutoETS, AutoARIMA and Chronos see only each series' own history; LightGBM and Claude also see prices and the calendar.</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Traditional wins accuracy; AI wins speed</a:t>
            </a:r>
            <a:endParaRPr lang="en-US" sz="3400" dirty="0"/>
          </a:p>
        </p:txBody>
      </p:sp>
      <p:graphicFrame>
        <p:nvGraphicFramePr>
          <p:cNvPr id="5" name="scorecard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gridCol w="1691640"/>
                <a:gridCol w="1691640"/>
                <a:gridCol w="1600200"/>
                <a:gridCol w="1508760"/>
                <a:gridCol w="1463040"/>
              </a:tblGrid>
              <a:tr h="685800">
                <a:tc>
                  <a:txBody>
                    <a:bodyPr/>
                    <a:lstStyle/>
                    <a:p>
                      <a:pPr algn="l"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Overall accuracy</a:t>
                      </a:r>
                      <a:endParaRPr lang="en-US" sz="1500" dirty="0"/>
                    </a:p>
                    <a:p>
                      <a:pPr algn="ctr" indent="0" marL="0">
                        <a:buNone/>
                      </a:pPr>
                      <a:r>
                        <a:rPr lang="en-US" sz="1500" b="1" dirty="0">
                          <a:solidFill>
                            <a:srgbClr val="FFFFFF"/>
                          </a:solidFill>
                        </a:rPr>
                        <a:t>(WRMSSE)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Store totals</a:t>
                      </a:r>
                      <a:endParaRPr lang="en-US" sz="1500" dirty="0"/>
                    </a:p>
                    <a:p>
                      <a:pPr algn="ctr" indent="0" marL="0">
                        <a:buNone/>
                      </a:pPr>
                      <a:r>
                        <a:rPr lang="en-US" sz="1500" b="1" dirty="0">
                          <a:solidFill>
                            <a:srgbClr val="FFFFFF"/>
                          </a:solidFill>
                        </a:rPr>
                        <a:t>(daily error)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Single items</a:t>
                      </a:r>
                      <a:endParaRPr lang="en-US" sz="1500" dirty="0"/>
                    </a:p>
                    <a:p>
                      <a:pPr algn="ctr" indent="0" marL="0">
                        <a:buNone/>
                      </a:pPr>
                      <a:r>
                        <a:rPr lang="en-US" sz="1500" b="1" dirty="0">
                          <a:solidFill>
                            <a:srgbClr val="FFFFFF"/>
                          </a:solidFill>
                        </a:rPr>
                        <a:t>(RMSSE)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Time for</a:t>
                      </a:r>
                      <a:endParaRPr lang="en-US" sz="1500" dirty="0"/>
                    </a:p>
                    <a:p>
                      <a:pPr algn="ctr" indent="0" marL="0">
                        <a:buNone/>
                      </a:pPr>
                      <a:r>
                        <a:rPr lang="en-US" sz="1500" b="1" dirty="0">
                          <a:solidFill>
                            <a:srgbClr val="FFFFFF"/>
                          </a:solidFill>
                        </a:rPr>
                        <a:t>all series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Training</a:t>
                      </a:r>
                      <a:endParaRPr lang="en-US" sz="1500" dirty="0"/>
                    </a:p>
                    <a:p>
                      <a:pPr algn="ctr" indent="0" marL="0">
                        <a:buNone/>
                      </a:pPr>
                      <a:r>
                        <a:rPr lang="en-US" sz="1500" b="1" dirty="0">
                          <a:solidFill>
                            <a:srgbClr val="FFFFFF"/>
                          </a:solidFill>
                        </a:rPr>
                        <a:t>needed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502920">
                <a:tc>
                  <a:txBody>
                    <a:bodyPr/>
                    <a:lstStyle/>
                    <a:p>
                      <a:pPr indent="0" marL="0">
                        <a:buNone/>
                      </a:pPr>
                      <a:r>
                        <a:rPr lang="en-US" sz="1500" b="1" dirty="0">
                          <a:solidFill>
                            <a:srgbClr val="0F5C73"/>
                          </a:solidFill>
                        </a:rPr>
                        <a:t>Ensemble (AutoETS +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b="1" dirty="0">
                          <a:solidFill>
                            <a:srgbClr val="1F2328"/>
                          </a:solidFill>
                        </a:rPr>
                        <a:t>0.604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3.6%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0.90</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dirty="0">
                          <a:solidFill>
                            <a:srgbClr val="1F2328"/>
                          </a:solidFill>
                        </a:rPr>
                        <a:t>~3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0.646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4.1%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80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0.661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0.93</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86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0.892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9.9%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39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EB6834"/>
                          </a:solidFill>
                        </a:rPr>
                        <a:t>Chronos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0.949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10.4%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F2328"/>
                          </a:solidFill>
                        </a:rPr>
                        <a:t>10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r>
              <a:tr h="502920">
                <a:tc>
                  <a:txBody>
                    <a:bodyPr/>
                    <a:lstStyle/>
                    <a:p>
                      <a:pPr indent="0" marL="0">
                        <a:buNone/>
                      </a:pPr>
                      <a:r>
                        <a:rPr lang="en-US" sz="1500" b="1" dirty="0">
                          <a:solidFill>
                            <a:srgbClr val="9A9993"/>
                          </a:solidFill>
                        </a:rPr>
                        <a:t>Seasonal naive (benchmark)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6B6A66"/>
                          </a:solidFill>
                        </a:rPr>
                        <a:t>0.814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5.5%</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1.17</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&lt;1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029200"/>
            <a:ext cx="11064240" cy="274320"/>
          </a:xfrm>
          <a:prstGeom prst="rect">
            <a:avLst/>
          </a:prstGeom>
          <a:noFill/>
          <a:ln/>
        </p:spPr>
        <p:txBody>
          <a:bodyPr wrap="square" lIns="0" tIns="0" rIns="0" bIns="0" rtlCol="0" anchor="ctr"/>
          <a:lstStyle/>
          <a:p>
            <a:pPr algn="r" indent="0" marL="0">
              <a:buNone/>
            </a:pPr>
            <a:r>
              <a:rPr lang="en-US" sz="1100" dirty="0">
                <a:solidFill>
                  <a:srgbClr val="6B6A66"/>
                </a:solidFill>
              </a:rPr>
              <a:t>Green = best in its column (benchmark excluded)</a:t>
            </a:r>
            <a:endParaRPr lang="en-US" sz="1100" dirty="0"/>
          </a:p>
        </p:txBody>
      </p:sp>
      <p:sp>
        <p:nvSpPr>
          <p:cNvPr id="5" name="scorecard summary"/>
          <p:cNvSpPr/>
          <p:nvPr/>
        </p:nvSpPr>
        <p:spPr>
          <a:xfrm>
            <a:off x="548640" y="5486400"/>
            <a:ext cx="11064240" cy="731520"/>
          </a:xfrm>
          <a:prstGeom prst="roundRect">
            <a:avLst>
              <a:gd name="adj" fmla="val 15000"/>
            </a:avLst>
          </a:prstGeom>
          <a:solidFill>
            <a:schemeClr val="bg2"/>
          </a:solidFill>
          <a:ln w="12700">
            <a:solidFill>
              <a:schemeClr val="bg2"/>
            </a:solidFill>
            <a:prstDash val="solid"/>
          </a:ln>
        </p:spPr>
      </p:sp>
      <p:sp>
        <p:nvSpPr>
          <p:cNvPr id="6" name="Text 3"/>
          <p:cNvSpPr txBox="1"/>
          <p:nvPr/>
        </p:nvSpPr>
        <p:spPr>
          <a:xfrm>
            <a:off x="822960" y="5486400"/>
            <a:ext cx="10607040" cy="731520"/>
          </a:xfrm>
          <a:prstGeom prst="rect">
            <a:avLst/>
          </a:prstGeom>
          <a:noFill/>
          <a:ln/>
        </p:spPr>
        <p:txBody>
          <a:bodyPr wrap="square" lIns="0" tIns="0" rIns="0" bIns="0" rtlCol="0" anchor="ctr"/>
          <a:lstStyle/>
          <a:p>
            <a:pPr indent="0" marL="0">
              <a:buNone/>
            </a:pPr>
            <a:r>
              <a:rPr lang="en-US" sz="1400" b="1" dirty="0">
                <a:solidFill>
                  <a:srgbClr val="0F5C73"/>
                </a:solidFill>
              </a:rPr>
              <a:t>Best traditional choice: </a:t>
            </a:r>
            <a:pPr indent="0" marL="0">
              <a:buNone/>
            </a:pPr>
            <a:r>
              <a:rPr lang="en-US" sz="1400" dirty="0">
                <a:solidFill>
                  <a:schemeClr val="tx1"/>
                </a:solidFill>
              </a:rPr>
              <a:t>the AutoETS + LightGBM average, for accuracy.   </a:t>
            </a:r>
            <a:pPr indent="0" marL="0">
              <a:buNone/>
            </a:pPr>
            <a:r>
              <a:rPr lang="en-US" sz="1400" b="1" dirty="0">
                <a:solidFill>
                  <a:srgbClr val="EB6834"/>
                </a:solidFill>
              </a:rPr>
              <a:t>Best AI strength: </a:t>
            </a:r>
            <a:pPr indent="0" marL="0">
              <a:buNone/>
            </a:pPr>
            <a:r>
              <a:rPr lang="en-US" sz="1400" dirty="0">
                <a:solidFill>
                  <a:schemeClr val="tx1"/>
                </a:solidFill>
              </a:rPr>
              <a:t>Chronos, for speed with no training.</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Traditional tracks the peaks; the AI runs low</a:t>
            </a:r>
            <a:endParaRPr lang="en-US" sz="3400" dirty="0"/>
          </a:p>
        </p:txBody>
      </p:sp>
      <p:graphicFrame>
        <p:nvGraphicFramePr>
          <p:cNvPr id="3" name="forecast chart" descr=""/>
          <p:cNvGraphicFramePr/>
          <p:nvPr/>
        </p:nvGraphicFramePr>
        <p:xfrm>
          <a:off x="548640" y="1371600"/>
          <a:ext cx="7498080" cy="4480560"/>
        </p:xfrm>
        <a:graphic xmlns:a="http://schemas.openxmlformats.org/drawingml/2006/main">
          <a:graphicData uri="http://schemas.openxmlformats.org/drawingml/2006/chart">
            <c:chart xmlns:c="http://schemas.openxmlformats.org/drawingml/2006/chart" r:id="rId1"/>
          </a:graphicData>
        </a:graphic>
      </p:graphicFrame>
      <p:sp>
        <p:nvSpPr>
          <p:cNvPr id="4" name="forecast note 0"/>
          <p:cNvSpPr/>
          <p:nvPr/>
        </p:nvSpPr>
        <p:spPr>
          <a:xfrm>
            <a:off x="8321040" y="1463040"/>
            <a:ext cx="3291840" cy="1234440"/>
          </a:xfrm>
          <a:prstGeom prst="roundRect">
            <a:avLst>
              <a:gd name="adj" fmla="val 8889"/>
            </a:avLst>
          </a:prstGeom>
          <a:solidFill>
            <a:schemeClr val="bg2"/>
          </a:solidFill>
          <a:ln w="12700">
            <a:solidFill>
              <a:schemeClr val="bg2"/>
            </a:solidFill>
            <a:prstDash val="solid"/>
          </a:ln>
        </p:spPr>
      </p:sp>
      <p:sp>
        <p:nvSpPr>
          <p:cNvPr id="5" name="Text 2"/>
          <p:cNvSpPr txBox="1"/>
          <p:nvPr/>
        </p:nvSpPr>
        <p:spPr>
          <a:xfrm>
            <a:off x="8549640" y="1572768"/>
            <a:ext cx="2926080" cy="411480"/>
          </a:xfrm>
          <a:prstGeom prst="rect">
            <a:avLst/>
          </a:prstGeom>
          <a:noFill/>
          <a:ln/>
        </p:spPr>
        <p:txBody>
          <a:bodyPr wrap="square" lIns="0" tIns="0" rIns="0" bIns="0" rtlCol="0" anchor="ctr"/>
          <a:lstStyle/>
          <a:p>
            <a:pPr indent="0" marL="0">
              <a:buNone/>
            </a:pPr>
            <a:r>
              <a:rPr lang="en-US" sz="1700" b="1" dirty="0">
                <a:solidFill>
                  <a:srgbClr val="0F5C73"/>
                </a:solidFill>
                <a:latin typeface="Cambria" pitchFamily="34" charset="0"/>
                <a:ea typeface="Cambria" pitchFamily="34" charset="-122"/>
                <a:cs typeface="Cambria" pitchFamily="34" charset="-120"/>
              </a:rPr>
              <a:t>Follows the peaks</a:t>
            </a:r>
            <a:endParaRPr lang="en-US" sz="1700" dirty="0"/>
          </a:p>
        </p:txBody>
      </p:sp>
      <p:sp>
        <p:nvSpPr>
          <p:cNvPr id="6" name="Text 3"/>
          <p:cNvSpPr txBox="1"/>
          <p:nvPr/>
        </p:nvSpPr>
        <p:spPr>
          <a:xfrm>
            <a:off x="8549640" y="2011680"/>
            <a:ext cx="2926080" cy="640080"/>
          </a:xfrm>
          <a:prstGeom prst="rect">
            <a:avLst/>
          </a:prstGeom>
          <a:noFill/>
          <a:ln/>
        </p:spPr>
        <p:txBody>
          <a:bodyPr wrap="square" lIns="0" tIns="0" rIns="0" bIns="0" rtlCol="0" anchor="t"/>
          <a:lstStyle/>
          <a:p>
            <a:pPr indent="0" marL="0">
              <a:buNone/>
            </a:pPr>
            <a:r>
              <a:rPr lang="en-US" sz="1300" dirty="0">
                <a:solidFill>
                  <a:schemeClr val="tx1"/>
                </a:solidFill>
              </a:rPr>
              <a:t>The traditional average rises and falls with every weekend</a:t>
            </a:r>
            <a:endParaRPr lang="en-US" sz="1300" dirty="0"/>
          </a:p>
        </p:txBody>
      </p:sp>
      <p:sp>
        <p:nvSpPr>
          <p:cNvPr id="7" name="forecast note 1"/>
          <p:cNvSpPr/>
          <p:nvPr/>
        </p:nvSpPr>
        <p:spPr>
          <a:xfrm>
            <a:off x="8321040" y="2880360"/>
            <a:ext cx="3291840" cy="1234440"/>
          </a:xfrm>
          <a:prstGeom prst="roundRect">
            <a:avLst>
              <a:gd name="adj" fmla="val 8889"/>
            </a:avLst>
          </a:prstGeom>
          <a:solidFill>
            <a:schemeClr val="bg2"/>
          </a:solidFill>
          <a:ln w="12700">
            <a:solidFill>
              <a:schemeClr val="bg2"/>
            </a:solidFill>
            <a:prstDash val="solid"/>
          </a:ln>
        </p:spPr>
      </p:sp>
      <p:sp>
        <p:nvSpPr>
          <p:cNvPr id="8" name="Text 5"/>
          <p:cNvSpPr txBox="1"/>
          <p:nvPr/>
        </p:nvSpPr>
        <p:spPr>
          <a:xfrm>
            <a:off x="8549640" y="2990088"/>
            <a:ext cx="2926080" cy="411480"/>
          </a:xfrm>
          <a:prstGeom prst="rect">
            <a:avLst/>
          </a:prstGeom>
          <a:noFill/>
          <a:ln/>
        </p:spPr>
        <p:txBody>
          <a:bodyPr wrap="square" lIns="0" tIns="0" rIns="0" bIns="0" rtlCol="0" anchor="ctr"/>
          <a:lstStyle/>
          <a:p>
            <a:pPr indent="0" marL="0">
              <a:buNone/>
            </a:pPr>
            <a:r>
              <a:rPr lang="en-US" sz="1700" b="1" dirty="0">
                <a:solidFill>
                  <a:srgbClr val="1BAF7A"/>
                </a:solidFill>
                <a:latin typeface="Cambria" pitchFamily="34" charset="0"/>
                <a:ea typeface="Cambria" pitchFamily="34" charset="-122"/>
                <a:cs typeface="Cambria" pitchFamily="34" charset="-120"/>
              </a:rPr>
              <a:t>Flat line</a:t>
            </a:r>
            <a:endParaRPr lang="en-US" sz="1700" dirty="0"/>
          </a:p>
        </p:txBody>
      </p:sp>
      <p:sp>
        <p:nvSpPr>
          <p:cNvPr id="9" name="Text 6"/>
          <p:cNvSpPr txBox="1"/>
          <p:nvPr/>
        </p:nvSpPr>
        <p:spPr>
          <a:xfrm>
            <a:off x="8549640" y="3429000"/>
            <a:ext cx="2926080" cy="640080"/>
          </a:xfrm>
          <a:prstGeom prst="rect">
            <a:avLst/>
          </a:prstGeom>
          <a:noFill/>
          <a:ln/>
        </p:spPr>
        <p:txBody>
          <a:bodyPr wrap="square" lIns="0" tIns="0" rIns="0" bIns="0" rtlCol="0" anchor="t"/>
          <a:lstStyle/>
          <a:p>
            <a:pPr indent="0" marL="0">
              <a:buNone/>
            </a:pPr>
            <a:r>
              <a:rPr lang="en-US" sz="1300" dirty="0">
                <a:solidFill>
                  <a:schemeClr val="tx1"/>
                </a:solidFill>
              </a:rPr>
              <a:t>AutoARIMA's product-by-product forecasts add up to a flat total</a:t>
            </a:r>
            <a:endParaRPr lang="en-US" sz="1300" dirty="0"/>
          </a:p>
        </p:txBody>
      </p:sp>
      <p:sp>
        <p:nvSpPr>
          <p:cNvPr id="10" name="forecast note 2"/>
          <p:cNvSpPr/>
          <p:nvPr/>
        </p:nvSpPr>
        <p:spPr>
          <a:xfrm>
            <a:off x="8321040" y="4297680"/>
            <a:ext cx="3291840" cy="1234440"/>
          </a:xfrm>
          <a:prstGeom prst="roundRect">
            <a:avLst>
              <a:gd name="adj" fmla="val 8889"/>
            </a:avLst>
          </a:prstGeom>
          <a:solidFill>
            <a:schemeClr val="bg2"/>
          </a:solidFill>
          <a:ln w="12700">
            <a:solidFill>
              <a:schemeClr val="bg2"/>
            </a:solidFill>
            <a:prstDash val="solid"/>
          </a:ln>
        </p:spPr>
      </p:sp>
      <p:sp>
        <p:nvSpPr>
          <p:cNvPr id="11" name="Text 8"/>
          <p:cNvSpPr txBox="1"/>
          <p:nvPr/>
        </p:nvSpPr>
        <p:spPr>
          <a:xfrm>
            <a:off x="8549640" y="4407408"/>
            <a:ext cx="2926080" cy="411480"/>
          </a:xfrm>
          <a:prstGeom prst="rect">
            <a:avLst/>
          </a:prstGeom>
          <a:noFill/>
          <a:ln/>
        </p:spPr>
        <p:txBody>
          <a:bodyPr wrap="square" lIns="0" tIns="0" rIns="0" bIns="0" rtlCol="0" anchor="ctr"/>
          <a:lstStyle/>
          <a:p>
            <a:pPr indent="0" marL="0">
              <a:buNone/>
            </a:pPr>
            <a:r>
              <a:rPr lang="en-US" sz="1700" b="1" dirty="0">
                <a:solidFill>
                  <a:srgbClr val="EB6834"/>
                </a:solidFill>
                <a:latin typeface="Cambria" pitchFamily="34" charset="0"/>
                <a:ea typeface="Cambria" pitchFamily="34" charset="-122"/>
                <a:cs typeface="Cambria" pitchFamily="34" charset="-120"/>
              </a:rPr>
              <a:t>Right shape, too low</a:t>
            </a:r>
            <a:endParaRPr lang="en-US" sz="1700" dirty="0"/>
          </a:p>
        </p:txBody>
      </p:sp>
      <p:sp>
        <p:nvSpPr>
          <p:cNvPr id="12" name="Text 9"/>
          <p:cNvSpPr txBox="1"/>
          <p:nvPr/>
        </p:nvSpPr>
        <p:spPr>
          <a:xfrm>
            <a:off x="8549640" y="4846320"/>
            <a:ext cx="2926080" cy="640080"/>
          </a:xfrm>
          <a:prstGeom prst="rect">
            <a:avLst/>
          </a:prstGeom>
          <a:noFill/>
          <a:ln/>
        </p:spPr>
        <p:txBody>
          <a:bodyPr wrap="square" lIns="0" tIns="0" rIns="0" bIns="0" rtlCol="0" anchor="t"/>
          <a:lstStyle/>
          <a:p>
            <a:pPr indent="0" marL="0">
              <a:buNone/>
            </a:pPr>
            <a:r>
              <a:rPr lang="en-US" sz="1300" dirty="0">
                <a:solidFill>
                  <a:schemeClr val="tx1"/>
                </a:solidFill>
              </a:rPr>
              <a:t>Chronos sees the weekly rhythm but forecasts about 11% low</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Hours; paid per request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to keep cost down: 100 random items + 12 totals,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Paid per request; slow at scale</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Our answer: not yet on accuracy, yes on speed</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sp>
      <p:pic>
        <p:nvPicPr>
          <p:cNvPr id="4" name="Traditional methods lead on accuracy icon" descr="preencoded.png">    </p:cNvPr>
          <p:cNvPicPr>
            <a:picLocks noChangeAspect="1"/>
          </p:cNvPicPr>
          <p:nvPr/>
        </p:nvPicPr>
        <p:blipFill>
          <a:blip r:embed="rId1"/>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indent="0" marL="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sp>
      <p:pic>
        <p:nvPicPr>
          <p:cNvPr id="8" name="Chronos wins on speed icon" descr="preencoded.png">    </p:cNvPr>
          <p:cNvPicPr>
            <a:picLocks noChangeAspect="1"/>
          </p:cNvPicPr>
          <p:nvPr/>
        </p:nvPicPr>
        <p:blipFill>
          <a:blip r:embed="rId2"/>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Chronos wins on speed</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indent="0" marL="0">
              <a:buNone/>
            </a:pPr>
            <a:r>
              <a:rPr lang="en-US" sz="1400" dirty="0">
                <a:solidFill>
                  <a:schemeClr val="bg2"/>
                </a:solidFill>
              </a:rPr>
              <a:t>10 s for all series, no training</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sp>
      <p:pic>
        <p:nvPicPr>
          <p:cNvPr id="12" name="Claude matched the best on totals icon" descr="preencoded.png">    </p:cNvPr>
          <p:cNvPicPr>
            <a:picLocks noChangeAspect="1"/>
          </p:cNvPicPr>
          <p:nvPr/>
        </p:nvPicPr>
        <p:blipFill>
          <a:blip r:embed="rId3"/>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Claude matched the best on totals</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indent="0" marL="0">
              <a:buNone/>
            </a:pPr>
            <a:r>
              <a:rPr lang="en-US" sz="1400" dirty="0">
                <a:solidFill>
                  <a:schemeClr val="bg2"/>
                </a:solidFill>
              </a:rPr>
              <a:t>Promising, but tested on 112 series only</a:t>
            </a:r>
            <a:endParaRPr lang="en-US" sz="1400" dirty="0"/>
          </a:p>
        </p:txBody>
      </p:sp>
      <p:sp>
        <p:nvSpPr>
          <p:cNvPr id="15" name="limitations card"/>
          <p:cNvSpPr/>
          <p:nvPr/>
        </p:nvSpPr>
        <p:spPr>
          <a:xfrm>
            <a:off x="6675120" y="1371600"/>
            <a:ext cx="4937760" cy="4572000"/>
          </a:xfrm>
          <a:prstGeom prst="roundRect">
            <a:avLst>
              <a:gd name="adj" fmla="val 2400"/>
            </a:avLst>
          </a:prstGeom>
          <a:solidFill>
            <a:srgbClr val="2A3B55"/>
          </a:solidFill>
          <a:ln w="12700">
            <a:solidFill>
              <a:srgbClr val="2A3B55"/>
            </a:solidFill>
            <a:prstDash val="solid"/>
          </a:ln>
        </p:spPr>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sp>
      <p:pic>
        <p:nvPicPr>
          <p:cNvPr id="17" name="limitations icon" descr="preencoded.png">    </p:cNvPr>
          <p:cNvPicPr>
            <a:picLocks noChangeAspect="1"/>
          </p:cNvPicPr>
          <p:nvPr/>
        </p:nvPicPr>
        <p:blipFill>
          <a:blip r:embed="rId4"/>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indent="0" marL="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 history="1" highlightClick="0" endSnd="0">
                  <a:extLst>
                    <a:ext uri="{A12FA001-AC4F-418D-AE19-62706E023703}">
                      <ahyp:hlinkClr xmlns:ahyp="http://schemas.microsoft.com/office/drawing/2018/hyperlinkcolor" val="tx"/>
                    </a:ext>
                  </a:extLst>
                </a:hlinkClick>
              </a:rPr>
              <a:t>shihan-2002.github.io/shelf-signal-dashboard</a:t>
            </a: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sp>
      <p:pic>
        <p:nvPicPr>
          <p:cNvPr id="7" name="Forecast explorer icon" descr="preencoded.png">    </p:cNvPr>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indent="0" marL="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indent="0" marL="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sp>
      <p:pic>
        <p:nvPicPr>
          <p:cNvPr id="11" name="AI lab icon" descr="preencoded.png">    </p:cNvPr>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indent="0" marL="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indent="0" marL="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sp>
      <p:pic>
        <p:nvPicPr>
          <p:cNvPr id="15" name="Order planner icon" descr="preencoded.png">    </p:cNvPr>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indent="0" marL="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indent="0" marL="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indent="0" marL="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2026-10-22T03:10:06Z</dcterms:created>
  <dcterms:modified xsi:type="dcterms:W3CDTF">2026-10-22T03:10:06Z</dcterms:modified>
</cp:coreProperties>
</file>